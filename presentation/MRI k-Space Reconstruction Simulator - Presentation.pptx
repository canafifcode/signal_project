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72" r:id="rId9"/>
    <p:sldId id="263" r:id="rId10"/>
    <p:sldId id="273" r:id="rId11"/>
    <p:sldId id="264" r:id="rId12"/>
    <p:sldId id="265" r:id="rId13"/>
    <p:sldId id="266" r:id="rId14"/>
    <p:sldId id="267" r:id="rId15"/>
    <p:sldId id="268" r:id="rId16"/>
    <p:sldId id="269" r:id="rId17"/>
    <p:sldId id="270" r:id="rId18"/>
    <p:sldId id="271"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339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picture: the same brain slice in two domains. Left is what a radiologist sees; right is what the scanner actually measures. The whole talk is about the relationship between those two pictures.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raw measurement is a frequency-domain signal. The centre of k-space is bright (low frequencies) and falls off quickly toward the edges. Everything later is an operation on the right-hand picture, judged on the left.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scan time is proportional to the number of k-space samples. So the engineering question is a signals question — how much of the Fourier transform can we skip, and where? State the research question slowly.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chain left to right, one click per stage. Step 2 matters: source images are magnitude-only, so a smooth phase map breaks Hermitian symmetry, as real physics does. Land the key sentence on the dark card: the wrong zero-fill guess is the artifact.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controlled experiment: same number of samples, only the location changes. Centre-only keeps average brightness because it keeps the DC term; its hard rim causes Gibbs ringing. Edges-only is nearly black until stretched — then it's an edge map. This is why every realistic mask protects the centre.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the three, same number of samples in all — what differs is the shape of the error. Cartesian ghosts are dangerous because a radiologist could mistake them for structure. Radial and random are incoherent — easier to see through, and later, easier to remove.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mask first, then noise, models a scanner that only ever measures the samples it takes. Rough guide: 40 dB is a clean clinical scan, 20 dB visibly grainy, 10 dB bad. The app's tab 3 separates noise from undersampling as independent effects.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Noise went in on the previous slide; this takes it back out. In a wavelet basis anatomy is a few large coefficients and white noise is many small ones, so soft thresholding removes the grain and keeps the edges. The denoiser is not told the noise level: it estimates it from the finest diagonal wavelet band (0.0208 here vs 0.0232 true). Point at the third card: the residual should be pure grain; the faint skull outline is real edge detail that was removed too. Live: tab 3, drag the strength slider to 2 and watch anatomy appear in the residual.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Jerk: rows before/after are each consistent, describing two sharp objects — one ghost. Drift: every row disagrees slightly with its neighbours, so the inconsistency spreads as blur. Breathing: a sinusoid is a pair of complex exponentials, so the image is convolved with two deltas — a regular ghost train.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sentence: motion only rotated the phase of each row, and the ramp has magnitude 1, so multiplying by the conjugate ramp undoes it exactly. The hard part is knowing the motion. Oracle = the true displacements, what a navigator echo or optical tracker provides. Autofocus = no extra information: try candidate motions of the known type and keep the sharpest result, scored by gradient entropy. Here it found 5.0 px x 4.0 cycles, exactly the truth. Be honest about limits: the motion type must be known, radial drift is ~1-3 px off, and very large fast breathing can be missed. Live: tab 6, press Run autofocus.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cleanly: one sentence on what Part One covered (the physics, the sampling trade-off, noise and denoising, motion and its correction), then set up what's coming — recovering signal with compressed sensing, scanning smarter with reduced FOV, and the live app.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thing that changed between the two images is the answer to 'what was not measured?'. The gain grows as undersampling becomes more aggressive. Live: tab 4, push the ratio to 16× and show the per-iteration PSNR curve.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100% column is omitted because every strategy gives 321.7 dB there — say it out loud as the correctness check. Random sampling beats structured sampling on PSNR even before compressed sensing enters the picture. Be precise about the 8× SSIM exception on the phantom: it's a reminder that one metric alone can mislead — exactly why the next slide checks a specific failure mode rather than trusting a single ranking.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intuitive but wrong answer: if k-space were local, deleting the corner 'aimed at' the target should blank that part of the image and leave the rest untouched. It doesn't — mean error is similar in all four image quadrants after deleting one k-space quadrant. Position lives in phase, not location. That's why the next slide's answer is sample spacing, not corner-cropping. Live: tab 7, quadrant deletion, right before reduced FOV.</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clinical question: we only care about the pituitary — can we scan just that? The wrong answer is to keep the matching corner of k-space (position lives in phase, not location). The right knob is sample spacing, which sets FOV, not extent, which sets resolution.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10,000 lines of commented Python, including the compressed-sensing lab page and the denoising and motion-correction modules. Stack: NumPy, SciPy, scikit-image, PyWavelets, Matplotlib, Streamlit, pandas. The centring invariant is what lets every mask reason simply about distance from the middle.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running order if time is short: tab 1 (ratio slider, switch strategies at 12.5%), tab 3 (denoise strength slider, watch the residual), tab 4 (16×), tab 6 (sudden jerk, then Run autofocus), tab 7 (quadrant deletion, then reduced FOV). Tabs 2 and 5 are the ones already walked through as full slides — Centre vs Edges and Sweep. Start the app before the talk so the cache is warm; press Run autofocus once beforehand so it answers instantly.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one-sentence answer to the research question, then the three takeaways. Leave this slide up during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B12"/>
        </a:solidFill>
        <a:effectLst/>
      </p:bgPr>
    </p:bg>
    <p:spTree>
      <p:nvGrpSpPr>
        <p:cNvPr id="1" name=""/>
        <p:cNvGrpSpPr/>
        <p:nvPr/>
      </p:nvGrpSpPr>
      <p:grpSpPr>
        <a:xfrm>
          <a:off x="0" y="0"/>
          <a:ext cx="0" cy="0"/>
          <a:chOff x="0" y="0"/>
          <a:chExt cx="0" cy="0"/>
        </a:xfrm>
      </p:grpSpPr>
      <p:pic>
        <p:nvPicPr>
          <p:cNvPr id="2" name="Image 0" descr="/home/claude/deck/assets/bg_title.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7244791" y="1289304"/>
            <a:ext cx="4416552" cy="4416552"/>
          </a:xfrm>
          <a:prstGeom prst="rect">
            <a:avLst/>
          </a:prstGeom>
          <a:solidFill>
            <a:srgbClr val="060810"/>
          </a:solidFill>
          <a:ln w="12700">
            <a:solidFill>
              <a:srgbClr val="263349"/>
            </a:solidFill>
            <a:prstDash val="solid"/>
          </a:ln>
        </p:spPr>
      </p:sp>
      <p:pic>
        <p:nvPicPr>
          <p:cNvPr id="4" name="Image 1" descr="/home/claude/deck/assets/image-1-2.png"/>
          <p:cNvPicPr>
            <a:picLocks noChangeAspect="1"/>
          </p:cNvPicPr>
          <p:nvPr/>
        </p:nvPicPr>
        <p:blipFill>
          <a:blip r:embed="rId4"/>
          <a:stretch>
            <a:fillRect/>
          </a:stretch>
        </p:blipFill>
        <p:spPr>
          <a:xfrm>
            <a:off x="7372807" y="1417320"/>
            <a:ext cx="4160520" cy="4160520"/>
          </a:xfrm>
          <a:prstGeom prst="rect">
            <a:avLst/>
          </a:prstGeom>
        </p:spPr>
      </p:pic>
      <p:sp>
        <p:nvSpPr>
          <p:cNvPr id="5" name="Text 1"/>
          <p:cNvSpPr txBox="1"/>
          <p:nvPr/>
        </p:nvSpPr>
        <p:spPr>
          <a:xfrm>
            <a:off x="7372807" y="5650992"/>
            <a:ext cx="4160520" cy="256032"/>
          </a:xfrm>
          <a:prstGeom prst="rect">
            <a:avLst/>
          </a:prstGeom>
          <a:noFill/>
          <a:ln/>
        </p:spPr>
        <p:txBody>
          <a:bodyPr wrap="square" lIns="0" tIns="0" rIns="0" bIns="0" rtlCol="0" anchor="ctr"/>
          <a:lstStyle/>
          <a:p>
            <a:pPr marL="0" indent="0" algn="ctr">
              <a:buNone/>
            </a:pPr>
            <a:r>
              <a:rPr lang="en-US" sz="1100" kern="0" spc="200" dirty="0">
                <a:solidFill>
                  <a:srgbClr val="62708A"/>
                </a:solidFill>
                <a:latin typeface="Calibri" pitchFamily="34" charset="0"/>
                <a:ea typeface="Calibri" pitchFamily="34" charset="-122"/>
                <a:cs typeface="Calibri" pitchFamily="34" charset="-120"/>
              </a:rPr>
              <a:t>K-SPACE  ·  log(1+|K|)</a:t>
            </a:r>
            <a:endParaRPr lang="en-US" sz="1100" dirty="0"/>
          </a:p>
        </p:txBody>
      </p:sp>
      <p:sp>
        <p:nvSpPr>
          <p:cNvPr id="6" name="Shape 2"/>
          <p:cNvSpPr/>
          <p:nvPr/>
        </p:nvSpPr>
        <p:spPr>
          <a:xfrm>
            <a:off x="6538417" y="582930"/>
            <a:ext cx="1527048" cy="1527048"/>
          </a:xfrm>
          <a:prstGeom prst="rect">
            <a:avLst/>
          </a:prstGeom>
          <a:solidFill>
            <a:srgbClr val="060810"/>
          </a:solidFill>
          <a:ln w="15875">
            <a:solidFill>
              <a:srgbClr val="4FE0D2"/>
            </a:solidFill>
            <a:prstDash val="solid"/>
          </a:ln>
        </p:spPr>
      </p:sp>
      <p:pic>
        <p:nvPicPr>
          <p:cNvPr id="7" name="Image 2" descr="/home/claude/deck/assets/image-1-1.png"/>
          <p:cNvPicPr>
            <a:picLocks noChangeAspect="1"/>
          </p:cNvPicPr>
          <p:nvPr/>
        </p:nvPicPr>
        <p:blipFill>
          <a:blip r:embed="rId5"/>
          <a:stretch>
            <a:fillRect/>
          </a:stretch>
        </p:blipFill>
        <p:spPr>
          <a:xfrm>
            <a:off x="6593281" y="637794"/>
            <a:ext cx="1417320" cy="1417320"/>
          </a:xfrm>
          <a:prstGeom prst="rect">
            <a:avLst/>
          </a:prstGeom>
        </p:spPr>
      </p:pic>
      <p:sp>
        <p:nvSpPr>
          <p:cNvPr id="8" name="Text 3"/>
          <p:cNvSpPr txBox="1"/>
          <p:nvPr/>
        </p:nvSpPr>
        <p:spPr>
          <a:xfrm>
            <a:off x="658368" y="1188720"/>
            <a:ext cx="6035040" cy="365760"/>
          </a:xfrm>
          <a:prstGeom prst="rect">
            <a:avLst/>
          </a:prstGeom>
          <a:noFill/>
          <a:ln/>
        </p:spPr>
        <p:txBody>
          <a:bodyPr wrap="square" lIns="0" tIns="0" rIns="0" bIns="0" rtlCol="0" anchor="ctr"/>
          <a:lstStyle/>
          <a:p>
            <a:pPr marL="0" indent="0">
              <a:buNone/>
            </a:pPr>
            <a:r>
              <a:rPr lang="en-US" sz="1400" b="1" kern="0" spc="300" dirty="0">
                <a:solidFill>
                  <a:srgbClr val="4FE0D2"/>
                </a:solidFill>
                <a:latin typeface="Calibri" pitchFamily="34" charset="0"/>
                <a:ea typeface="Calibri" pitchFamily="34" charset="-122"/>
                <a:cs typeface="Calibri" pitchFamily="34" charset="-120"/>
              </a:rPr>
              <a:t>CSE 220  ·  SIGNALS AND SYSTEMS  ·  </a:t>
            </a:r>
            <a:r>
              <a:rPr lang="en-US" sz="1400" b="1" kern="0" spc="300">
                <a:solidFill>
                  <a:srgbClr val="4FE0D2"/>
                </a:solidFill>
                <a:latin typeface="Calibri" pitchFamily="34" charset="0"/>
                <a:ea typeface="Calibri" pitchFamily="34" charset="-122"/>
                <a:cs typeface="Calibri" pitchFamily="34" charset="-120"/>
              </a:rPr>
              <a:t>TEAM NETWORK_ER_BAIRE</a:t>
            </a:r>
            <a:endParaRPr lang="en-US" sz="1400" dirty="0"/>
          </a:p>
        </p:txBody>
      </p:sp>
      <p:sp>
        <p:nvSpPr>
          <p:cNvPr id="9" name="Text 4"/>
          <p:cNvSpPr txBox="1"/>
          <p:nvPr/>
        </p:nvSpPr>
        <p:spPr>
          <a:xfrm>
            <a:off x="658368" y="1691640"/>
            <a:ext cx="6217920" cy="1874520"/>
          </a:xfrm>
          <a:prstGeom prst="rect">
            <a:avLst/>
          </a:prstGeom>
          <a:noFill/>
          <a:ln/>
        </p:spPr>
        <p:txBody>
          <a:bodyPr wrap="square" lIns="0" tIns="0" rIns="0" bIns="0" rtlCol="0" anchor="ctr"/>
          <a:lstStyle/>
          <a:p>
            <a:pPr marL="0" indent="0">
              <a:lnSpc>
                <a:spcPts val="5200"/>
              </a:lnSpc>
              <a:buNone/>
            </a:pPr>
            <a:r>
              <a:rPr lang="en-US" sz="4800" b="1" dirty="0">
                <a:solidFill>
                  <a:srgbClr val="F3F6FA"/>
                </a:solidFill>
                <a:latin typeface="Cambria" pitchFamily="34" charset="0"/>
                <a:ea typeface="Cambria" pitchFamily="34" charset="-122"/>
                <a:cs typeface="Cambria" pitchFamily="34" charset="-120"/>
              </a:rPr>
              <a:t>MRI k-Space</a:t>
            </a:r>
            <a:endParaRPr lang="en-US" sz="4800" dirty="0"/>
          </a:p>
          <a:p>
            <a:pPr marL="0" indent="0">
              <a:lnSpc>
                <a:spcPts val="5200"/>
              </a:lnSpc>
              <a:buNone/>
            </a:pPr>
            <a:r>
              <a:rPr lang="en-US" sz="4800" b="1" dirty="0">
                <a:solidFill>
                  <a:srgbClr val="F3F6FA"/>
                </a:solidFill>
                <a:latin typeface="Cambria" pitchFamily="34" charset="0"/>
                <a:ea typeface="Cambria" pitchFamily="34" charset="-122"/>
                <a:cs typeface="Cambria" pitchFamily="34" charset="-120"/>
              </a:rPr>
              <a:t>Reconstruction Simulator</a:t>
            </a:r>
            <a:endParaRPr lang="en-US" sz="4800" dirty="0"/>
          </a:p>
        </p:txBody>
      </p:sp>
      <p:sp>
        <p:nvSpPr>
          <p:cNvPr id="10" name="Text 5"/>
          <p:cNvSpPr txBox="1"/>
          <p:nvPr/>
        </p:nvSpPr>
        <p:spPr>
          <a:xfrm>
            <a:off x="658368" y="3703320"/>
            <a:ext cx="5943600" cy="1051560"/>
          </a:xfrm>
          <a:prstGeom prst="rect">
            <a:avLst/>
          </a:prstGeom>
          <a:noFill/>
          <a:ln/>
        </p:spPr>
        <p:txBody>
          <a:bodyPr wrap="square" lIns="0" tIns="0" rIns="0" bIns="0" rtlCol="0" anchor="ctr"/>
          <a:lstStyle/>
          <a:p>
            <a:pPr marL="0" indent="0">
              <a:lnSpc>
                <a:spcPts val="2200"/>
              </a:lnSpc>
              <a:buNone/>
            </a:pPr>
            <a:r>
              <a:rPr lang="en-US" sz="1650" i="1" dirty="0">
                <a:solidFill>
                  <a:srgbClr val="8C9AB2"/>
                </a:solidFill>
                <a:latin typeface="Calibri" pitchFamily="34" charset="0"/>
                <a:ea typeface="Calibri" pitchFamily="34" charset="-122"/>
                <a:cs typeface="Calibri" pitchFamily="34" charset="-120"/>
              </a:rPr>
              <a:t>A scanner never takes a photograph. This is what happens when you measure less of its Fourier transform — and how much of it you can win back.</a:t>
            </a:r>
            <a:endParaRPr lang="en-US" sz="1650" dirty="0"/>
          </a:p>
        </p:txBody>
      </p:sp>
      <p:sp>
        <p:nvSpPr>
          <p:cNvPr id="11" name="Shape 6"/>
          <p:cNvSpPr/>
          <p:nvPr/>
        </p:nvSpPr>
        <p:spPr>
          <a:xfrm>
            <a:off x="658368" y="5650992"/>
            <a:ext cx="2743200" cy="0"/>
          </a:xfrm>
          <a:prstGeom prst="line">
            <a:avLst/>
          </a:prstGeom>
          <a:noFill/>
          <a:ln w="12700">
            <a:solidFill>
              <a:srgbClr val="263349"/>
            </a:solidFill>
            <a:prstDash val="solid"/>
          </a:ln>
        </p:spPr>
      </p:sp>
      <p:sp>
        <p:nvSpPr>
          <p:cNvPr id="12" name="Text 7"/>
          <p:cNvSpPr txBox="1"/>
          <p:nvPr/>
        </p:nvSpPr>
        <p:spPr>
          <a:xfrm>
            <a:off x="658368" y="5760720"/>
            <a:ext cx="5943600" cy="292608"/>
          </a:xfrm>
          <a:prstGeom prst="rect">
            <a:avLst/>
          </a:prstGeom>
          <a:noFill/>
          <a:ln/>
        </p:spPr>
        <p:txBody>
          <a:bodyPr wrap="square" lIns="0" tIns="0" rIns="0" bIns="0" rtlCol="0" anchor="ctr"/>
          <a:lstStyle/>
          <a:p>
            <a:pPr marL="0" indent="0">
              <a:buNone/>
            </a:pPr>
            <a:r>
              <a:rPr lang="en-US" sz="1300" dirty="0">
                <a:solidFill>
                  <a:srgbClr val="62708A"/>
                </a:solidFill>
                <a:latin typeface="Calibri" pitchFamily="34" charset="0"/>
                <a:ea typeface="Calibri" pitchFamily="34" charset="-122"/>
                <a:cs typeface="Calibri" pitchFamily="34" charset="-120"/>
              </a:rPr>
              <a:t>Part One  ·  </a:t>
            </a:r>
            <a:r>
              <a:rPr lang="en-US" sz="1300" b="1" dirty="0">
                <a:solidFill>
                  <a:srgbClr val="F3F6FA"/>
                </a:solidFill>
                <a:latin typeface="Calibri" pitchFamily="34" charset="0"/>
                <a:ea typeface="Calibri" pitchFamily="34" charset="-122"/>
                <a:cs typeface="Calibri" pitchFamily="34" charset="-120"/>
              </a:rPr>
              <a:t>Afif Siddique · 2305123</a:t>
            </a:r>
            <a:endParaRPr lang="en-US" sz="1300" dirty="0"/>
          </a:p>
        </p:txBody>
      </p:sp>
      <p:sp>
        <p:nvSpPr>
          <p:cNvPr id="13" name="Text 8"/>
          <p:cNvSpPr txBox="1"/>
          <p:nvPr/>
        </p:nvSpPr>
        <p:spPr>
          <a:xfrm>
            <a:off x="658368" y="6071616"/>
            <a:ext cx="5943600" cy="292608"/>
          </a:xfrm>
          <a:prstGeom prst="rect">
            <a:avLst/>
          </a:prstGeom>
          <a:noFill/>
          <a:ln/>
        </p:spPr>
        <p:txBody>
          <a:bodyPr wrap="square" lIns="0" tIns="0" rIns="0" bIns="0" rtlCol="0" anchor="ctr"/>
          <a:lstStyle/>
          <a:p>
            <a:pPr marL="0" indent="0">
              <a:buNone/>
            </a:pPr>
            <a:r>
              <a:rPr lang="en-US" sz="1300" dirty="0">
                <a:solidFill>
                  <a:srgbClr val="62708A"/>
                </a:solidFill>
                <a:latin typeface="Calibri" pitchFamily="34" charset="0"/>
                <a:ea typeface="Calibri" pitchFamily="34" charset="-122"/>
                <a:cs typeface="Calibri" pitchFamily="34" charset="-120"/>
              </a:rPr>
              <a:t>Part Two  ·  </a:t>
            </a:r>
            <a:r>
              <a:rPr lang="en-US" sz="1300" b="1" dirty="0">
                <a:solidFill>
                  <a:srgbClr val="F3F6FA"/>
                </a:solidFill>
                <a:latin typeface="Calibri" pitchFamily="34" charset="0"/>
                <a:ea typeface="Calibri" pitchFamily="34" charset="-122"/>
                <a:cs typeface="Calibri" pitchFamily="34" charset="-120"/>
              </a:rPr>
              <a:t>Shafnan Wasif · 2305126</a:t>
            </a:r>
            <a:endParaRPr lang="en-US" sz="1300" dirty="0"/>
          </a:p>
        </p:txBody>
      </p:sp>
      <p:sp>
        <p:nvSpPr>
          <p:cNvPr id="14" name="Text 9"/>
          <p:cNvSpPr txBox="1"/>
          <p:nvPr/>
        </p:nvSpPr>
        <p:spPr>
          <a:xfrm>
            <a:off x="658368" y="6419088"/>
            <a:ext cx="6400800" cy="274320"/>
          </a:xfrm>
          <a:prstGeom prst="rect">
            <a:avLst/>
          </a:prstGeom>
          <a:noFill/>
          <a:ln/>
        </p:spPr>
        <p:txBody>
          <a:bodyPr wrap="square" lIns="0" tIns="0" rIns="0" bIns="0" rtlCol="0" anchor="ctr"/>
          <a:lstStyle/>
          <a:p>
            <a:pPr marL="0" indent="0">
              <a:buNone/>
            </a:pPr>
            <a:r>
              <a:rPr lang="en-US" sz="1100" dirty="0">
                <a:solidFill>
                  <a:srgbClr val="62708A"/>
                </a:solidFill>
                <a:latin typeface="Calibri" pitchFamily="34" charset="0"/>
                <a:ea typeface="Calibri" pitchFamily="34" charset="-122"/>
                <a:cs typeface="Calibri" pitchFamily="34" charset="-120"/>
              </a:rPr>
              <a:t>Dept. of CSE, BUET  ·  2026  ·  github.com/Rohan15035/Signal_Project</a:t>
            </a:r>
            <a:endParaRPr lang="en-US" sz="11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THE PREMISE</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AFIF SIDDIQUE · 2305123</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3248"/>
              </a:lnSpc>
              <a:buNone/>
            </a:pPr>
            <a:r>
              <a:rPr lang="en-US" sz="2900" b="1" dirty="0">
                <a:solidFill>
                  <a:srgbClr val="F3F6FA"/>
                </a:solidFill>
                <a:latin typeface="Cambria" pitchFamily="34" charset="0"/>
                <a:ea typeface="Cambria" pitchFamily="34" charset="-122"/>
                <a:cs typeface="Cambria" pitchFamily="34" charset="-120"/>
              </a:rPr>
              <a:t>A scanner never photographs you —</a:t>
            </a:r>
            <a:endParaRPr lang="en-US" sz="2900" dirty="0"/>
          </a:p>
          <a:p>
            <a:pPr marL="0" indent="0" algn="l">
              <a:lnSpc>
                <a:spcPts val="3248"/>
              </a:lnSpc>
              <a:buNone/>
            </a:pPr>
            <a:r>
              <a:rPr lang="en-US" sz="2900" b="1" dirty="0">
                <a:solidFill>
                  <a:srgbClr val="F3F6FA"/>
                </a:solidFill>
                <a:latin typeface="Cambria" pitchFamily="34" charset="0"/>
                <a:ea typeface="Cambria" pitchFamily="34" charset="-122"/>
                <a:cs typeface="Cambria" pitchFamily="34" charset="-120"/>
              </a:rPr>
              <a:t>it measures a Fourier transform, point by point.</a:t>
            </a:r>
            <a:endParaRPr lang="en-US" sz="29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02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Shape 5"/>
          <p:cNvSpPr/>
          <p:nvPr/>
        </p:nvSpPr>
        <p:spPr>
          <a:xfrm>
            <a:off x="2909164" y="2258568"/>
            <a:ext cx="2478024" cy="2770632"/>
          </a:xfrm>
          <a:prstGeom prst="roundRect">
            <a:avLst>
              <a:gd name="adj" fmla="val 3690"/>
            </a:avLst>
          </a:prstGeom>
          <a:solidFill>
            <a:srgbClr val="121A28"/>
          </a:solidFill>
          <a:ln w="12700">
            <a:solidFill>
              <a:srgbClr val="263349"/>
            </a:solidFill>
            <a:prstDash val="solid"/>
          </a:ln>
        </p:spPr>
      </p:sp>
      <p:pic>
        <p:nvPicPr>
          <p:cNvPr id="9" name="Image 1" descr="/home/claude/deck/assets/image-1-1.png"/>
          <p:cNvPicPr>
            <a:picLocks noChangeAspect="1"/>
          </p:cNvPicPr>
          <p:nvPr/>
        </p:nvPicPr>
        <p:blipFill>
          <a:blip r:embed="rId4"/>
          <a:stretch>
            <a:fillRect/>
          </a:stretch>
        </p:blipFill>
        <p:spPr>
          <a:xfrm>
            <a:off x="3073756" y="2423160"/>
            <a:ext cx="2148840" cy="2148840"/>
          </a:xfrm>
          <a:prstGeom prst="rect">
            <a:avLst/>
          </a:prstGeom>
        </p:spPr>
      </p:pic>
      <p:sp>
        <p:nvSpPr>
          <p:cNvPr id="10" name="Text 6"/>
          <p:cNvSpPr txBox="1"/>
          <p:nvPr/>
        </p:nvSpPr>
        <p:spPr>
          <a:xfrm>
            <a:off x="3073756" y="4645152"/>
            <a:ext cx="2148840" cy="274320"/>
          </a:xfrm>
          <a:prstGeom prst="rect">
            <a:avLst/>
          </a:prstGeom>
          <a:noFill/>
          <a:ln/>
        </p:spPr>
        <p:txBody>
          <a:bodyPr wrap="square" lIns="0" tIns="0" rIns="0" bIns="0" rtlCol="0" anchor="ctr"/>
          <a:lstStyle/>
          <a:p>
            <a:pPr marL="0" indent="0" algn="ctr">
              <a:buNone/>
            </a:pPr>
            <a:r>
              <a:rPr lang="en-US" sz="1100" b="1" kern="0" spc="100" dirty="0">
                <a:solidFill>
                  <a:srgbClr val="8C9AB2"/>
                </a:solidFill>
                <a:latin typeface="Calibri" pitchFamily="34" charset="0"/>
                <a:ea typeface="Calibri" pitchFamily="34" charset="-122"/>
                <a:cs typeface="Calibri" pitchFamily="34" charset="-120"/>
              </a:rPr>
              <a:t>IMAGE DOMAIN  ρ(x, y)</a:t>
            </a:r>
            <a:endParaRPr lang="en-US" sz="1100" dirty="0"/>
          </a:p>
        </p:txBody>
      </p:sp>
      <p:sp>
        <p:nvSpPr>
          <p:cNvPr id="11" name="Text 7"/>
          <p:cNvSpPr txBox="1"/>
          <p:nvPr/>
        </p:nvSpPr>
        <p:spPr>
          <a:xfrm>
            <a:off x="5428336" y="2862072"/>
            <a:ext cx="1005840" cy="320040"/>
          </a:xfrm>
          <a:prstGeom prst="rect">
            <a:avLst/>
          </a:prstGeom>
          <a:noFill/>
          <a:ln/>
        </p:spPr>
        <p:txBody>
          <a:bodyPr wrap="square" lIns="0" tIns="0" rIns="0" bIns="0" rtlCol="0" anchor="ctr"/>
          <a:lstStyle/>
          <a:p>
            <a:pPr marL="0" indent="0" algn="ctr">
              <a:buNone/>
            </a:pPr>
            <a:r>
              <a:rPr lang="en-US" sz="1500" b="1" dirty="0">
                <a:solidFill>
                  <a:srgbClr val="4FE0D2"/>
                </a:solidFill>
                <a:latin typeface="Calibri" pitchFamily="34" charset="0"/>
                <a:ea typeface="Calibri" pitchFamily="34" charset="-122"/>
                <a:cs typeface="Calibri" pitchFamily="34" charset="-120"/>
              </a:rPr>
              <a:t>FFT</a:t>
            </a:r>
            <a:endParaRPr lang="en-US" sz="1500" dirty="0"/>
          </a:p>
        </p:txBody>
      </p:sp>
      <p:sp>
        <p:nvSpPr>
          <p:cNvPr id="12" name="Shape 8"/>
          <p:cNvSpPr/>
          <p:nvPr/>
        </p:nvSpPr>
        <p:spPr>
          <a:xfrm>
            <a:off x="5547208" y="3172968"/>
            <a:ext cx="768096" cy="237744"/>
          </a:xfrm>
          <a:prstGeom prst="rightArrow">
            <a:avLst/>
          </a:prstGeom>
          <a:solidFill>
            <a:srgbClr val="4FE0D2"/>
          </a:solidFill>
          <a:ln/>
        </p:spPr>
      </p:sp>
      <p:sp>
        <p:nvSpPr>
          <p:cNvPr id="13" name="Shape 9"/>
          <p:cNvSpPr/>
          <p:nvPr/>
        </p:nvSpPr>
        <p:spPr>
          <a:xfrm>
            <a:off x="5547208" y="3557016"/>
            <a:ext cx="768096" cy="237744"/>
          </a:xfrm>
          <a:prstGeom prst="leftArrow">
            <a:avLst/>
          </a:prstGeom>
          <a:solidFill>
            <a:srgbClr val="62708A"/>
          </a:solidFill>
          <a:ln/>
        </p:spPr>
      </p:sp>
      <p:sp>
        <p:nvSpPr>
          <p:cNvPr id="14" name="Text 10"/>
          <p:cNvSpPr txBox="1"/>
          <p:nvPr/>
        </p:nvSpPr>
        <p:spPr>
          <a:xfrm>
            <a:off x="5428336" y="3849624"/>
            <a:ext cx="1005840" cy="320040"/>
          </a:xfrm>
          <a:prstGeom prst="rect">
            <a:avLst/>
          </a:prstGeom>
          <a:noFill/>
          <a:ln/>
        </p:spPr>
        <p:txBody>
          <a:bodyPr wrap="square" lIns="0" tIns="0" rIns="0" bIns="0" rtlCol="0" anchor="ctr"/>
          <a:lstStyle/>
          <a:p>
            <a:pPr marL="0" indent="0" algn="ctr">
              <a:buNone/>
            </a:pPr>
            <a:r>
              <a:rPr lang="en-US" sz="1500" b="1" dirty="0">
                <a:solidFill>
                  <a:srgbClr val="8C9AB2"/>
                </a:solidFill>
                <a:latin typeface="Calibri" pitchFamily="34" charset="0"/>
                <a:ea typeface="Calibri" pitchFamily="34" charset="-122"/>
                <a:cs typeface="Calibri" pitchFamily="34" charset="-120"/>
              </a:rPr>
              <a:t>IFFT</a:t>
            </a:r>
            <a:endParaRPr lang="en-US" sz="1500" dirty="0"/>
          </a:p>
        </p:txBody>
      </p:sp>
      <p:sp>
        <p:nvSpPr>
          <p:cNvPr id="15" name="Shape 11"/>
          <p:cNvSpPr/>
          <p:nvPr/>
        </p:nvSpPr>
        <p:spPr>
          <a:xfrm>
            <a:off x="6475324" y="2258568"/>
            <a:ext cx="2478024" cy="2770632"/>
          </a:xfrm>
          <a:prstGeom prst="roundRect">
            <a:avLst>
              <a:gd name="adj" fmla="val 3690"/>
            </a:avLst>
          </a:prstGeom>
          <a:solidFill>
            <a:srgbClr val="121A28"/>
          </a:solidFill>
          <a:ln w="12700">
            <a:solidFill>
              <a:srgbClr val="263349"/>
            </a:solidFill>
            <a:prstDash val="solid"/>
          </a:ln>
        </p:spPr>
      </p:sp>
      <p:pic>
        <p:nvPicPr>
          <p:cNvPr id="16" name="Image 2" descr="/home/claude/deck/assets/image-1-2.png"/>
          <p:cNvPicPr>
            <a:picLocks noChangeAspect="1"/>
          </p:cNvPicPr>
          <p:nvPr/>
        </p:nvPicPr>
        <p:blipFill>
          <a:blip r:embed="rId5"/>
          <a:stretch>
            <a:fillRect/>
          </a:stretch>
        </p:blipFill>
        <p:spPr>
          <a:xfrm>
            <a:off x="6639916" y="2423160"/>
            <a:ext cx="2148840" cy="2148840"/>
          </a:xfrm>
          <a:prstGeom prst="rect">
            <a:avLst/>
          </a:prstGeom>
        </p:spPr>
      </p:pic>
      <p:sp>
        <p:nvSpPr>
          <p:cNvPr id="17" name="Text 12"/>
          <p:cNvSpPr txBox="1"/>
          <p:nvPr/>
        </p:nvSpPr>
        <p:spPr>
          <a:xfrm>
            <a:off x="6639916" y="4645152"/>
            <a:ext cx="2148840" cy="274320"/>
          </a:xfrm>
          <a:prstGeom prst="rect">
            <a:avLst/>
          </a:prstGeom>
          <a:noFill/>
          <a:ln/>
        </p:spPr>
        <p:txBody>
          <a:bodyPr wrap="square" lIns="0" tIns="0" rIns="0" bIns="0" rtlCol="0" anchor="ctr"/>
          <a:lstStyle/>
          <a:p>
            <a:pPr marL="0" indent="0" algn="ctr">
              <a:buNone/>
            </a:pPr>
            <a:r>
              <a:rPr lang="en-US" sz="1100" b="1" kern="0" spc="100" dirty="0">
                <a:solidFill>
                  <a:srgbClr val="8C9AB2"/>
                </a:solidFill>
                <a:latin typeface="Calibri" pitchFamily="34" charset="0"/>
                <a:ea typeface="Calibri" pitchFamily="34" charset="-122"/>
                <a:cs typeface="Calibri" pitchFamily="34" charset="-120"/>
              </a:rPr>
              <a:t>FREQUENCY DOMAIN  S(kx, ky)</a:t>
            </a:r>
            <a:endParaRPr lang="en-US" sz="1100" dirty="0"/>
          </a:p>
        </p:txBody>
      </p:sp>
      <p:sp>
        <p:nvSpPr>
          <p:cNvPr id="18" name="Text 13"/>
          <p:cNvSpPr txBox="1"/>
          <p:nvPr/>
        </p:nvSpPr>
        <p:spPr>
          <a:xfrm>
            <a:off x="658368" y="5138928"/>
            <a:ext cx="10600639" cy="384048"/>
          </a:xfrm>
          <a:prstGeom prst="rect">
            <a:avLst/>
          </a:prstGeom>
          <a:noFill/>
          <a:ln/>
        </p:spPr>
        <p:txBody>
          <a:bodyPr wrap="square" lIns="0" tIns="0" rIns="0" bIns="0" rtlCol="0" anchor="ctr"/>
          <a:lstStyle/>
          <a:p>
            <a:pPr marL="0" indent="0">
              <a:buNone/>
            </a:pPr>
            <a:r>
              <a:rPr lang="en-US" sz="1850" i="1" dirty="0">
                <a:solidFill>
                  <a:srgbClr val="4FE0D2"/>
                </a:solidFill>
                <a:latin typeface="Cambria" pitchFamily="34" charset="0"/>
                <a:ea typeface="Cambria" pitchFamily="34" charset="-122"/>
                <a:cs typeface="Cambria" pitchFamily="34" charset="-120"/>
              </a:rPr>
              <a:t>S(kx, ky)  =  ∬ ρ(x, y) · exp(−j2π(kx·x + ky·y)) dx dy</a:t>
            </a:r>
            <a:endParaRPr lang="en-US" sz="1850" dirty="0"/>
          </a:p>
        </p:txBody>
      </p:sp>
      <p:sp>
        <p:nvSpPr>
          <p:cNvPr id="19" name="Text 14"/>
          <p:cNvSpPr txBox="1"/>
          <p:nvPr/>
        </p:nvSpPr>
        <p:spPr>
          <a:xfrm>
            <a:off x="658368" y="5614416"/>
            <a:ext cx="10600639" cy="548640"/>
          </a:xfrm>
          <a:prstGeom prst="rect">
            <a:avLst/>
          </a:prstGeom>
          <a:noFill/>
          <a:ln/>
        </p:spPr>
        <p:txBody>
          <a:bodyPr wrap="square" lIns="0" tIns="0" rIns="0" bIns="0" rtlCol="0" anchor="ctr"/>
          <a:lstStyle/>
          <a:p>
            <a:pPr marL="0" indent="0">
              <a:lnSpc>
                <a:spcPts val="1900"/>
              </a:lnSpc>
              <a:buNone/>
            </a:pPr>
            <a:r>
              <a:rPr lang="en-US" sz="1450" dirty="0">
                <a:solidFill>
                  <a:srgbClr val="8C9AB2"/>
                </a:solidFill>
                <a:latin typeface="Calibri" pitchFamily="34" charset="0"/>
                <a:ea typeface="Calibri" pitchFamily="34" charset="-122"/>
                <a:cs typeface="Calibri" pitchFamily="34" charset="-120"/>
              </a:rPr>
              <a:t>Magnetic field gradients map time to spatial frequency. The image on the radiologist's screen is recovered afterwards by an inverse FFT — a reconstruction, not a capture.</a:t>
            </a:r>
            <a:endParaRPr lang="en-US" sz="145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THE PROBLEM</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AFIF SIDDIQUE · 2305123</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3584"/>
              </a:lnSpc>
              <a:buNone/>
            </a:pPr>
            <a:r>
              <a:rPr lang="en-US" sz="3200" b="1" dirty="0">
                <a:solidFill>
                  <a:srgbClr val="F3F6FA"/>
                </a:solidFill>
                <a:latin typeface="Cambria" pitchFamily="34" charset="0"/>
                <a:ea typeface="Cambria" pitchFamily="34" charset="-122"/>
                <a:cs typeface="Cambria" pitchFamily="34" charset="-120"/>
              </a:rPr>
              <a:t>MRI is slow, and time is paid in samples.</a:t>
            </a:r>
            <a:endParaRPr lang="en-US" sz="32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03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Shape 5"/>
          <p:cNvSpPr/>
          <p:nvPr/>
        </p:nvSpPr>
        <p:spPr>
          <a:xfrm>
            <a:off x="658368" y="2514600"/>
            <a:ext cx="3411626" cy="1965960"/>
          </a:xfrm>
          <a:prstGeom prst="roundRect">
            <a:avLst>
              <a:gd name="adj" fmla="val 4651"/>
            </a:avLst>
          </a:prstGeom>
          <a:solidFill>
            <a:srgbClr val="121A28"/>
          </a:solidFill>
          <a:ln w="12700">
            <a:solidFill>
              <a:srgbClr val="263349"/>
            </a:solidFill>
            <a:prstDash val="solid"/>
          </a:ln>
        </p:spPr>
      </p:sp>
      <p:sp>
        <p:nvSpPr>
          <p:cNvPr id="9" name="Text 6"/>
          <p:cNvSpPr txBox="1"/>
          <p:nvPr/>
        </p:nvSpPr>
        <p:spPr>
          <a:xfrm>
            <a:off x="914400" y="2752344"/>
            <a:ext cx="2899562" cy="777240"/>
          </a:xfrm>
          <a:prstGeom prst="rect">
            <a:avLst/>
          </a:prstGeom>
          <a:noFill/>
          <a:ln/>
        </p:spPr>
        <p:txBody>
          <a:bodyPr wrap="square" lIns="0" tIns="0" rIns="0" bIns="0" rtlCol="0" anchor="ctr"/>
          <a:lstStyle/>
          <a:p>
            <a:pPr marL="0" indent="0">
              <a:buNone/>
            </a:pPr>
            <a:r>
              <a:rPr lang="en-US" sz="3600" b="1" dirty="0">
                <a:solidFill>
                  <a:srgbClr val="4FE0D2"/>
                </a:solidFill>
                <a:latin typeface="Cambria" pitchFamily="34" charset="0"/>
                <a:ea typeface="Cambria" pitchFamily="34" charset="-122"/>
                <a:cs typeface="Cambria" pitchFamily="34" charset="-120"/>
              </a:rPr>
              <a:t>1 row / TR</a:t>
            </a:r>
            <a:endParaRPr lang="en-US" sz="3600" dirty="0"/>
          </a:p>
        </p:txBody>
      </p:sp>
      <p:sp>
        <p:nvSpPr>
          <p:cNvPr id="10" name="Text 7"/>
          <p:cNvSpPr txBox="1"/>
          <p:nvPr/>
        </p:nvSpPr>
        <p:spPr>
          <a:xfrm>
            <a:off x="914400" y="3557016"/>
            <a:ext cx="2899562" cy="822960"/>
          </a:xfrm>
          <a:prstGeom prst="rect">
            <a:avLst/>
          </a:prstGeom>
          <a:noFill/>
          <a:ln/>
        </p:spPr>
        <p:txBody>
          <a:bodyPr wrap="square" lIns="0" tIns="0" rIns="0" bIns="0" rtlCol="0" anchor="ctr"/>
          <a:lstStyle/>
          <a:p>
            <a:pPr marL="0" indent="0">
              <a:lnSpc>
                <a:spcPts val="1750"/>
              </a:lnSpc>
              <a:buNone/>
            </a:pPr>
            <a:r>
              <a:rPr lang="en-US" sz="1350" dirty="0">
                <a:solidFill>
                  <a:srgbClr val="8C9AB2"/>
                </a:solidFill>
                <a:latin typeface="Calibri" pitchFamily="34" charset="0"/>
                <a:ea typeface="Calibri" pitchFamily="34" charset="-122"/>
                <a:cs typeface="Calibri" pitchFamily="34" charset="-120"/>
              </a:rPr>
              <a:t>A Cartesian scan fills one line of k-space per pulse repetition. Lines are time.</a:t>
            </a:r>
            <a:endParaRPr lang="en-US" sz="1350" dirty="0"/>
          </a:p>
        </p:txBody>
      </p:sp>
      <p:sp>
        <p:nvSpPr>
          <p:cNvPr id="11" name="Shape 8"/>
          <p:cNvSpPr/>
          <p:nvPr/>
        </p:nvSpPr>
        <p:spPr>
          <a:xfrm>
            <a:off x="4390034" y="2514600"/>
            <a:ext cx="3411626" cy="1965960"/>
          </a:xfrm>
          <a:prstGeom prst="roundRect">
            <a:avLst>
              <a:gd name="adj" fmla="val 4651"/>
            </a:avLst>
          </a:prstGeom>
          <a:solidFill>
            <a:srgbClr val="121A28"/>
          </a:solidFill>
          <a:ln w="12700">
            <a:solidFill>
              <a:srgbClr val="263349"/>
            </a:solidFill>
            <a:prstDash val="solid"/>
          </a:ln>
        </p:spPr>
      </p:sp>
      <p:sp>
        <p:nvSpPr>
          <p:cNvPr id="12" name="Text 9"/>
          <p:cNvSpPr txBox="1"/>
          <p:nvPr/>
        </p:nvSpPr>
        <p:spPr>
          <a:xfrm>
            <a:off x="4646066" y="2752344"/>
            <a:ext cx="2899562" cy="777240"/>
          </a:xfrm>
          <a:prstGeom prst="rect">
            <a:avLst/>
          </a:prstGeom>
          <a:noFill/>
          <a:ln/>
        </p:spPr>
        <p:txBody>
          <a:bodyPr wrap="square" lIns="0" tIns="0" rIns="0" bIns="0" rtlCol="0" anchor="ctr"/>
          <a:lstStyle/>
          <a:p>
            <a:pPr marL="0" indent="0">
              <a:buNone/>
            </a:pPr>
            <a:r>
              <a:rPr lang="en-US" sz="3600" b="1" dirty="0">
                <a:solidFill>
                  <a:srgbClr val="4FE0D2"/>
                </a:solidFill>
                <a:latin typeface="Cambria" pitchFamily="34" charset="0"/>
                <a:ea typeface="Cambria" pitchFamily="34" charset="-122"/>
                <a:cs typeface="Cambria" pitchFamily="34" charset="-120"/>
              </a:rPr>
              <a:t>25% → 4×</a:t>
            </a:r>
            <a:endParaRPr lang="en-US" sz="3600" dirty="0"/>
          </a:p>
        </p:txBody>
      </p:sp>
      <p:sp>
        <p:nvSpPr>
          <p:cNvPr id="13" name="Text 10"/>
          <p:cNvSpPr txBox="1"/>
          <p:nvPr/>
        </p:nvSpPr>
        <p:spPr>
          <a:xfrm>
            <a:off x="4646066" y="3557016"/>
            <a:ext cx="2899562" cy="822960"/>
          </a:xfrm>
          <a:prstGeom prst="rect">
            <a:avLst/>
          </a:prstGeom>
          <a:noFill/>
          <a:ln/>
        </p:spPr>
        <p:txBody>
          <a:bodyPr wrap="square" lIns="0" tIns="0" rIns="0" bIns="0" rtlCol="0" anchor="ctr"/>
          <a:lstStyle/>
          <a:p>
            <a:pPr marL="0" indent="0">
              <a:lnSpc>
                <a:spcPts val="1750"/>
              </a:lnSpc>
              <a:buNone/>
            </a:pPr>
            <a:r>
              <a:rPr lang="en-US" sz="1350" dirty="0">
                <a:solidFill>
                  <a:srgbClr val="8C9AB2"/>
                </a:solidFill>
                <a:latin typeface="Calibri" pitchFamily="34" charset="0"/>
                <a:ea typeface="Calibri" pitchFamily="34" charset="-122"/>
                <a:cs typeface="Calibri" pitchFamily="34" charset="-120"/>
              </a:rPr>
              <a:t>Acquire a quarter of k-space and the scan is four times faster. The saving is real.</a:t>
            </a:r>
            <a:endParaRPr lang="en-US" sz="1350" dirty="0"/>
          </a:p>
        </p:txBody>
      </p:sp>
      <p:sp>
        <p:nvSpPr>
          <p:cNvPr id="14" name="Shape 11"/>
          <p:cNvSpPr/>
          <p:nvPr/>
        </p:nvSpPr>
        <p:spPr>
          <a:xfrm>
            <a:off x="8121701" y="2514600"/>
            <a:ext cx="3411626" cy="1965960"/>
          </a:xfrm>
          <a:prstGeom prst="roundRect">
            <a:avLst>
              <a:gd name="adj" fmla="val 4651"/>
            </a:avLst>
          </a:prstGeom>
          <a:solidFill>
            <a:srgbClr val="121A28"/>
          </a:solidFill>
          <a:ln w="12700">
            <a:solidFill>
              <a:srgbClr val="263349"/>
            </a:solidFill>
            <a:prstDash val="solid"/>
          </a:ln>
        </p:spPr>
      </p:sp>
      <p:sp>
        <p:nvSpPr>
          <p:cNvPr id="15" name="Text 12"/>
          <p:cNvSpPr txBox="1"/>
          <p:nvPr/>
        </p:nvSpPr>
        <p:spPr>
          <a:xfrm>
            <a:off x="8377733" y="2752344"/>
            <a:ext cx="2899562" cy="777240"/>
          </a:xfrm>
          <a:prstGeom prst="rect">
            <a:avLst/>
          </a:prstGeom>
          <a:noFill/>
          <a:ln/>
        </p:spPr>
        <p:txBody>
          <a:bodyPr wrap="square" lIns="0" tIns="0" rIns="0" bIns="0" rtlCol="0" anchor="ctr"/>
          <a:lstStyle/>
          <a:p>
            <a:pPr marL="0" indent="0">
              <a:buNone/>
            </a:pPr>
            <a:r>
              <a:rPr lang="en-US" sz="3600" b="1" dirty="0">
                <a:solidFill>
                  <a:srgbClr val="4FE0D2"/>
                </a:solidFill>
                <a:latin typeface="Cambria" pitchFamily="34" charset="0"/>
                <a:ea typeface="Cambria" pitchFamily="34" charset="-122"/>
                <a:cs typeface="Cambria" pitchFamily="34" charset="-120"/>
              </a:rPr>
              <a:t>Minutes</a:t>
            </a:r>
            <a:endParaRPr lang="en-US" sz="3600" dirty="0"/>
          </a:p>
        </p:txBody>
      </p:sp>
      <p:sp>
        <p:nvSpPr>
          <p:cNvPr id="16" name="Text 13"/>
          <p:cNvSpPr txBox="1"/>
          <p:nvPr/>
        </p:nvSpPr>
        <p:spPr>
          <a:xfrm>
            <a:off x="8377733" y="3557016"/>
            <a:ext cx="2899562" cy="822960"/>
          </a:xfrm>
          <a:prstGeom prst="rect">
            <a:avLst/>
          </a:prstGeom>
          <a:noFill/>
          <a:ln/>
        </p:spPr>
        <p:txBody>
          <a:bodyPr wrap="square" lIns="0" tIns="0" rIns="0" bIns="0" rtlCol="0" anchor="ctr"/>
          <a:lstStyle/>
          <a:p>
            <a:pPr marL="0" indent="0">
              <a:lnSpc>
                <a:spcPts val="1750"/>
              </a:lnSpc>
              <a:buNone/>
            </a:pPr>
            <a:r>
              <a:rPr lang="en-US" sz="1350" dirty="0">
                <a:solidFill>
                  <a:srgbClr val="8C9AB2"/>
                </a:solidFill>
                <a:latin typeface="Calibri" pitchFamily="34" charset="0"/>
                <a:ea typeface="Calibri" pitchFamily="34" charset="-122"/>
                <a:cs typeface="Calibri" pitchFamily="34" charset="-120"/>
              </a:rPr>
              <a:t>per sequence — patients must lie still; young children are often sedated.</a:t>
            </a:r>
            <a:endParaRPr lang="en-US" sz="1350" dirty="0"/>
          </a:p>
        </p:txBody>
      </p:sp>
      <p:sp>
        <p:nvSpPr>
          <p:cNvPr id="17" name="Text 14"/>
          <p:cNvSpPr txBox="1"/>
          <p:nvPr/>
        </p:nvSpPr>
        <p:spPr>
          <a:xfrm>
            <a:off x="658368" y="4892040"/>
            <a:ext cx="10600639" cy="685800"/>
          </a:xfrm>
          <a:prstGeom prst="rect">
            <a:avLst/>
          </a:prstGeom>
          <a:noFill/>
          <a:ln/>
        </p:spPr>
        <p:txBody>
          <a:bodyPr wrap="square" lIns="0" tIns="0" rIns="0" bIns="0" rtlCol="0" anchor="ctr"/>
          <a:lstStyle/>
          <a:p>
            <a:pPr marL="0" indent="0">
              <a:lnSpc>
                <a:spcPts val="2600"/>
              </a:lnSpc>
              <a:buNone/>
            </a:pPr>
            <a:r>
              <a:rPr lang="en-US" sz="2050" i="1" dirty="0">
                <a:solidFill>
                  <a:srgbClr val="F3F6FA"/>
                </a:solidFill>
                <a:latin typeface="Cambria" pitchFamily="34" charset="0"/>
                <a:ea typeface="Cambria" pitchFamily="34" charset="-122"/>
                <a:cs typeface="Cambria" pitchFamily="34" charset="-120"/>
              </a:rPr>
              <a:t>If we acquire only a fraction of k-space, how bad is the image — and does it depend on which fraction we skip?</a:t>
            </a:r>
            <a:endParaRPr lang="en-US" sz="2050" dirty="0"/>
          </a:p>
        </p:txBody>
      </p:sp>
      <p:sp>
        <p:nvSpPr>
          <p:cNvPr id="18" name="Text 15"/>
          <p:cNvSpPr txBox="1"/>
          <p:nvPr/>
        </p:nvSpPr>
        <p:spPr>
          <a:xfrm>
            <a:off x="658368" y="5650992"/>
            <a:ext cx="10600639" cy="457200"/>
          </a:xfrm>
          <a:prstGeom prst="rect">
            <a:avLst/>
          </a:prstGeom>
          <a:noFill/>
          <a:ln/>
        </p:spPr>
        <p:txBody>
          <a:bodyPr wrap="square" lIns="0" tIns="0" rIns="0" bIns="0" rtlCol="0" anchor="ctr"/>
          <a:lstStyle/>
          <a:p>
            <a:pPr marL="0" indent="0">
              <a:lnSpc>
                <a:spcPts val="1800"/>
              </a:lnSpc>
              <a:buNone/>
            </a:pPr>
            <a:r>
              <a:rPr lang="en-US" sz="1400" dirty="0">
                <a:solidFill>
                  <a:srgbClr val="FFA85B"/>
                </a:solidFill>
                <a:latin typeface="Calibri" pitchFamily="34" charset="0"/>
                <a:ea typeface="Calibri" pitchFamily="34" charset="-122"/>
                <a:cs typeface="Calibri" pitchFamily="34" charset="-120"/>
              </a:rPr>
              <a:t>It depends enormously — the same 12.5% of k-space gives very different images depending on the sampling pattern.</a:t>
            </a:r>
            <a:endParaRPr lang="en-US" sz="14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METHOD</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AFIF SIDDIQUE · 2305123</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3248"/>
              </a:lnSpc>
              <a:buNone/>
            </a:pPr>
            <a:r>
              <a:rPr lang="en-US" sz="2900" b="1" dirty="0">
                <a:solidFill>
                  <a:srgbClr val="F3F6FA"/>
                </a:solidFill>
                <a:latin typeface="Cambria" pitchFamily="34" charset="0"/>
                <a:ea typeface="Cambria" pitchFamily="34" charset="-122"/>
                <a:cs typeface="Cambria" pitchFamily="34" charset="-120"/>
              </a:rPr>
              <a:t>One pipeline turns a clinical image into a verdict.</a:t>
            </a:r>
            <a:endParaRPr lang="en-US" sz="29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04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Shape 5"/>
          <p:cNvSpPr/>
          <p:nvPr/>
        </p:nvSpPr>
        <p:spPr>
          <a:xfrm>
            <a:off x="1069391" y="2560320"/>
            <a:ext cx="731520" cy="731520"/>
          </a:xfrm>
          <a:prstGeom prst="ellipse">
            <a:avLst/>
          </a:prstGeom>
          <a:solidFill>
            <a:srgbClr val="182234"/>
          </a:solidFill>
          <a:ln w="19050">
            <a:solidFill>
              <a:srgbClr val="4FE0D2"/>
            </a:solidFill>
            <a:prstDash val="solid"/>
          </a:ln>
        </p:spPr>
      </p:sp>
      <p:sp>
        <p:nvSpPr>
          <p:cNvPr id="9" name="Text 6"/>
          <p:cNvSpPr txBox="1"/>
          <p:nvPr/>
        </p:nvSpPr>
        <p:spPr>
          <a:xfrm>
            <a:off x="1069391" y="2560320"/>
            <a:ext cx="731520" cy="731520"/>
          </a:xfrm>
          <a:prstGeom prst="rect">
            <a:avLst/>
          </a:prstGeom>
          <a:noFill/>
          <a:ln/>
        </p:spPr>
        <p:txBody>
          <a:bodyPr wrap="square" lIns="0" tIns="0" rIns="0" bIns="0" rtlCol="0" anchor="ctr"/>
          <a:lstStyle/>
          <a:p>
            <a:pPr marL="0" indent="0" algn="ctr">
              <a:buNone/>
            </a:pPr>
            <a:r>
              <a:rPr lang="en-US" sz="1400" b="1" dirty="0">
                <a:solidFill>
                  <a:srgbClr val="4FE0D2"/>
                </a:solidFill>
                <a:latin typeface="Calibri" pitchFamily="34" charset="0"/>
                <a:ea typeface="Calibri" pitchFamily="34" charset="-122"/>
                <a:cs typeface="Calibri" pitchFamily="34" charset="-120"/>
              </a:rPr>
              <a:t>01</a:t>
            </a:r>
            <a:endParaRPr lang="en-US" sz="1400" dirty="0"/>
          </a:p>
        </p:txBody>
      </p:sp>
      <p:sp>
        <p:nvSpPr>
          <p:cNvPr id="10" name="Text 7"/>
          <p:cNvSpPr txBox="1"/>
          <p:nvPr/>
        </p:nvSpPr>
        <p:spPr>
          <a:xfrm>
            <a:off x="658368" y="3419856"/>
            <a:ext cx="1553566" cy="310896"/>
          </a:xfrm>
          <a:prstGeom prst="rect">
            <a:avLst/>
          </a:prstGeom>
          <a:noFill/>
          <a:ln/>
        </p:spPr>
        <p:txBody>
          <a:bodyPr wrap="square" lIns="0" tIns="0" rIns="0" bIns="0" rtlCol="0" anchor="ctr"/>
          <a:lstStyle/>
          <a:p>
            <a:pPr marL="0" indent="0" algn="ctr">
              <a:buNone/>
            </a:pPr>
            <a:r>
              <a:rPr lang="en-US" sz="1500" b="1" dirty="0">
                <a:solidFill>
                  <a:srgbClr val="F3F6FA"/>
                </a:solidFill>
                <a:latin typeface="Calibri" pitchFamily="34" charset="0"/>
                <a:ea typeface="Calibri" pitchFamily="34" charset="-122"/>
                <a:cs typeface="Calibri" pitchFamily="34" charset="-120"/>
              </a:rPr>
              <a:t>Image</a:t>
            </a:r>
            <a:endParaRPr lang="en-US" sz="1500" dirty="0"/>
          </a:p>
        </p:txBody>
      </p:sp>
      <p:sp>
        <p:nvSpPr>
          <p:cNvPr id="11" name="Text 8"/>
          <p:cNvSpPr txBox="1"/>
          <p:nvPr/>
        </p:nvSpPr>
        <p:spPr>
          <a:xfrm>
            <a:off x="704088" y="3749040"/>
            <a:ext cx="1462126" cy="502920"/>
          </a:xfrm>
          <a:prstGeom prst="rect">
            <a:avLst/>
          </a:prstGeom>
          <a:noFill/>
          <a:ln/>
        </p:spPr>
        <p:txBody>
          <a:bodyPr wrap="square" lIns="0" tIns="0" rIns="0" bIns="0" rtlCol="0" anchor="ctr"/>
          <a:lstStyle/>
          <a:p>
            <a:pPr marL="0" indent="0" algn="ctr">
              <a:lnSpc>
                <a:spcPts val="1300"/>
              </a:lnSpc>
              <a:buNone/>
            </a:pPr>
            <a:r>
              <a:rPr lang="en-US" sz="1050" dirty="0">
                <a:solidFill>
                  <a:srgbClr val="8C9AB2"/>
                </a:solidFill>
                <a:latin typeface="Calibri" pitchFamily="34" charset="0"/>
                <a:ea typeface="Calibri" pitchFamily="34" charset="-122"/>
                <a:cs typeface="Calibri" pitchFamily="34" charset="-120"/>
              </a:rPr>
              <a:t>ρ(x,y) in [0,1]</a:t>
            </a:r>
            <a:endParaRPr lang="en-US" sz="1050" dirty="0"/>
          </a:p>
        </p:txBody>
      </p:sp>
      <p:sp>
        <p:nvSpPr>
          <p:cNvPr id="12" name="Shape 9"/>
          <p:cNvSpPr/>
          <p:nvPr/>
        </p:nvSpPr>
        <p:spPr>
          <a:xfrm>
            <a:off x="1910639" y="2834640"/>
            <a:ext cx="602590" cy="182880"/>
          </a:xfrm>
          <a:prstGeom prst="chevron">
            <a:avLst/>
          </a:prstGeom>
          <a:solidFill>
            <a:srgbClr val="62708A"/>
          </a:solidFill>
          <a:ln/>
        </p:spPr>
      </p:sp>
      <p:sp>
        <p:nvSpPr>
          <p:cNvPr id="13" name="Shape 10"/>
          <p:cNvSpPr/>
          <p:nvPr/>
        </p:nvSpPr>
        <p:spPr>
          <a:xfrm>
            <a:off x="2622956" y="2560320"/>
            <a:ext cx="731520" cy="731520"/>
          </a:xfrm>
          <a:prstGeom prst="ellipse">
            <a:avLst/>
          </a:prstGeom>
          <a:solidFill>
            <a:srgbClr val="182234"/>
          </a:solidFill>
          <a:ln w="19050">
            <a:solidFill>
              <a:srgbClr val="4FE0D2"/>
            </a:solidFill>
            <a:prstDash val="solid"/>
          </a:ln>
        </p:spPr>
      </p:sp>
      <p:sp>
        <p:nvSpPr>
          <p:cNvPr id="14" name="Text 11"/>
          <p:cNvSpPr txBox="1"/>
          <p:nvPr/>
        </p:nvSpPr>
        <p:spPr>
          <a:xfrm>
            <a:off x="2622956" y="2560320"/>
            <a:ext cx="731520" cy="731520"/>
          </a:xfrm>
          <a:prstGeom prst="rect">
            <a:avLst/>
          </a:prstGeom>
          <a:noFill/>
          <a:ln/>
        </p:spPr>
        <p:txBody>
          <a:bodyPr wrap="square" lIns="0" tIns="0" rIns="0" bIns="0" rtlCol="0" anchor="ctr"/>
          <a:lstStyle/>
          <a:p>
            <a:pPr marL="0" indent="0" algn="ctr">
              <a:buNone/>
            </a:pPr>
            <a:r>
              <a:rPr lang="en-US" sz="1400" b="1" dirty="0">
                <a:solidFill>
                  <a:srgbClr val="4FE0D2"/>
                </a:solidFill>
                <a:latin typeface="Calibri" pitchFamily="34" charset="0"/>
                <a:ea typeface="Calibri" pitchFamily="34" charset="-122"/>
                <a:cs typeface="Calibri" pitchFamily="34" charset="-120"/>
              </a:rPr>
              <a:t>02</a:t>
            </a:r>
            <a:endParaRPr lang="en-US" sz="1400" dirty="0"/>
          </a:p>
        </p:txBody>
      </p:sp>
      <p:sp>
        <p:nvSpPr>
          <p:cNvPr id="15" name="Text 12"/>
          <p:cNvSpPr txBox="1"/>
          <p:nvPr/>
        </p:nvSpPr>
        <p:spPr>
          <a:xfrm>
            <a:off x="2211934" y="3419856"/>
            <a:ext cx="1553566" cy="310896"/>
          </a:xfrm>
          <a:prstGeom prst="rect">
            <a:avLst/>
          </a:prstGeom>
          <a:noFill/>
          <a:ln/>
        </p:spPr>
        <p:txBody>
          <a:bodyPr wrap="square" lIns="0" tIns="0" rIns="0" bIns="0" rtlCol="0" anchor="ctr"/>
          <a:lstStyle/>
          <a:p>
            <a:pPr marL="0" indent="0" algn="ctr">
              <a:buNone/>
            </a:pPr>
            <a:r>
              <a:rPr lang="en-US" sz="1500" b="1" dirty="0">
                <a:solidFill>
                  <a:srgbClr val="F3F6FA"/>
                </a:solidFill>
                <a:latin typeface="Calibri" pitchFamily="34" charset="0"/>
                <a:ea typeface="Calibri" pitchFamily="34" charset="-122"/>
                <a:cs typeface="Calibri" pitchFamily="34" charset="-120"/>
              </a:rPr>
              <a:t>Phase</a:t>
            </a:r>
            <a:endParaRPr lang="en-US" sz="1500" dirty="0"/>
          </a:p>
        </p:txBody>
      </p:sp>
      <p:sp>
        <p:nvSpPr>
          <p:cNvPr id="16" name="Text 13"/>
          <p:cNvSpPr txBox="1"/>
          <p:nvPr/>
        </p:nvSpPr>
        <p:spPr>
          <a:xfrm>
            <a:off x="2257654" y="3749040"/>
            <a:ext cx="1462126" cy="502920"/>
          </a:xfrm>
          <a:prstGeom prst="rect">
            <a:avLst/>
          </a:prstGeom>
          <a:noFill/>
          <a:ln/>
        </p:spPr>
        <p:txBody>
          <a:bodyPr wrap="square" lIns="0" tIns="0" rIns="0" bIns="0" rtlCol="0" anchor="ctr"/>
          <a:lstStyle/>
          <a:p>
            <a:pPr marL="0" indent="0" algn="ctr">
              <a:lnSpc>
                <a:spcPts val="1300"/>
              </a:lnSpc>
              <a:buNone/>
            </a:pPr>
            <a:r>
              <a:rPr lang="en-US" sz="1050" dirty="0">
                <a:solidFill>
                  <a:srgbClr val="8C9AB2"/>
                </a:solidFill>
                <a:latin typeface="Calibri" pitchFamily="34" charset="0"/>
                <a:ea typeface="Calibri" pitchFamily="34" charset="-122"/>
                <a:cs typeface="Calibri" pitchFamily="34" charset="-120"/>
              </a:rPr>
              <a:t>breaks symmetry</a:t>
            </a:r>
            <a:endParaRPr lang="en-US" sz="1050" dirty="0"/>
          </a:p>
        </p:txBody>
      </p:sp>
      <p:sp>
        <p:nvSpPr>
          <p:cNvPr id="17" name="Shape 14"/>
          <p:cNvSpPr/>
          <p:nvPr/>
        </p:nvSpPr>
        <p:spPr>
          <a:xfrm>
            <a:off x="3464204" y="2834640"/>
            <a:ext cx="602590" cy="182880"/>
          </a:xfrm>
          <a:prstGeom prst="chevron">
            <a:avLst/>
          </a:prstGeom>
          <a:solidFill>
            <a:srgbClr val="62708A"/>
          </a:solidFill>
          <a:ln/>
        </p:spPr>
      </p:sp>
      <p:sp>
        <p:nvSpPr>
          <p:cNvPr id="18" name="Shape 15"/>
          <p:cNvSpPr/>
          <p:nvPr/>
        </p:nvSpPr>
        <p:spPr>
          <a:xfrm>
            <a:off x="4176522" y="2560320"/>
            <a:ext cx="731520" cy="731520"/>
          </a:xfrm>
          <a:prstGeom prst="ellipse">
            <a:avLst/>
          </a:prstGeom>
          <a:solidFill>
            <a:srgbClr val="182234"/>
          </a:solidFill>
          <a:ln w="19050">
            <a:solidFill>
              <a:srgbClr val="4FE0D2"/>
            </a:solidFill>
            <a:prstDash val="solid"/>
          </a:ln>
        </p:spPr>
      </p:sp>
      <p:sp>
        <p:nvSpPr>
          <p:cNvPr id="19" name="Text 16"/>
          <p:cNvSpPr txBox="1"/>
          <p:nvPr/>
        </p:nvSpPr>
        <p:spPr>
          <a:xfrm>
            <a:off x="4176522" y="2560320"/>
            <a:ext cx="731520" cy="731520"/>
          </a:xfrm>
          <a:prstGeom prst="rect">
            <a:avLst/>
          </a:prstGeom>
          <a:noFill/>
          <a:ln/>
        </p:spPr>
        <p:txBody>
          <a:bodyPr wrap="square" lIns="0" tIns="0" rIns="0" bIns="0" rtlCol="0" anchor="ctr"/>
          <a:lstStyle/>
          <a:p>
            <a:pPr marL="0" indent="0" algn="ctr">
              <a:buNone/>
            </a:pPr>
            <a:r>
              <a:rPr lang="en-US" sz="1400" b="1" dirty="0">
                <a:solidFill>
                  <a:srgbClr val="4FE0D2"/>
                </a:solidFill>
                <a:latin typeface="Calibri" pitchFamily="34" charset="0"/>
                <a:ea typeface="Calibri" pitchFamily="34" charset="-122"/>
                <a:cs typeface="Calibri" pitchFamily="34" charset="-120"/>
              </a:rPr>
              <a:t>03</a:t>
            </a:r>
            <a:endParaRPr lang="en-US" sz="1400" dirty="0"/>
          </a:p>
        </p:txBody>
      </p:sp>
      <p:sp>
        <p:nvSpPr>
          <p:cNvPr id="20" name="Text 17"/>
          <p:cNvSpPr txBox="1"/>
          <p:nvPr/>
        </p:nvSpPr>
        <p:spPr>
          <a:xfrm>
            <a:off x="3765499" y="3419856"/>
            <a:ext cx="1553566" cy="310896"/>
          </a:xfrm>
          <a:prstGeom prst="rect">
            <a:avLst/>
          </a:prstGeom>
          <a:noFill/>
          <a:ln/>
        </p:spPr>
        <p:txBody>
          <a:bodyPr wrap="square" lIns="0" tIns="0" rIns="0" bIns="0" rtlCol="0" anchor="ctr"/>
          <a:lstStyle/>
          <a:p>
            <a:pPr marL="0" indent="0" algn="ctr">
              <a:buNone/>
            </a:pPr>
            <a:r>
              <a:rPr lang="en-US" sz="1500" b="1" dirty="0">
                <a:solidFill>
                  <a:srgbClr val="F3F6FA"/>
                </a:solidFill>
                <a:latin typeface="Calibri" pitchFamily="34" charset="0"/>
                <a:ea typeface="Calibri" pitchFamily="34" charset="-122"/>
                <a:cs typeface="Calibri" pitchFamily="34" charset="-120"/>
              </a:rPr>
              <a:t>FFT</a:t>
            </a:r>
            <a:endParaRPr lang="en-US" sz="1500" dirty="0"/>
          </a:p>
        </p:txBody>
      </p:sp>
      <p:sp>
        <p:nvSpPr>
          <p:cNvPr id="21" name="Text 18"/>
          <p:cNvSpPr txBox="1"/>
          <p:nvPr/>
        </p:nvSpPr>
        <p:spPr>
          <a:xfrm>
            <a:off x="3811219" y="3749040"/>
            <a:ext cx="1462126" cy="502920"/>
          </a:xfrm>
          <a:prstGeom prst="rect">
            <a:avLst/>
          </a:prstGeom>
          <a:noFill/>
          <a:ln/>
        </p:spPr>
        <p:txBody>
          <a:bodyPr wrap="square" lIns="0" tIns="0" rIns="0" bIns="0" rtlCol="0" anchor="ctr"/>
          <a:lstStyle/>
          <a:p>
            <a:pPr marL="0" indent="0" algn="ctr">
              <a:lnSpc>
                <a:spcPts val="1300"/>
              </a:lnSpc>
              <a:buNone/>
            </a:pPr>
            <a:r>
              <a:rPr lang="en-US" sz="1050" dirty="0">
                <a:solidFill>
                  <a:srgbClr val="8C9AB2"/>
                </a:solidFill>
                <a:latin typeface="Calibri" pitchFamily="34" charset="0"/>
                <a:ea typeface="Calibri" pitchFamily="34" charset="-122"/>
                <a:cs typeface="Calibri" pitchFamily="34" charset="-120"/>
              </a:rPr>
              <a:t>shifted, DC centred</a:t>
            </a:r>
            <a:endParaRPr lang="en-US" sz="1050" dirty="0"/>
          </a:p>
        </p:txBody>
      </p:sp>
      <p:sp>
        <p:nvSpPr>
          <p:cNvPr id="22" name="Shape 19"/>
          <p:cNvSpPr/>
          <p:nvPr/>
        </p:nvSpPr>
        <p:spPr>
          <a:xfrm>
            <a:off x="5017770" y="2834640"/>
            <a:ext cx="602590" cy="182880"/>
          </a:xfrm>
          <a:prstGeom prst="chevron">
            <a:avLst/>
          </a:prstGeom>
          <a:solidFill>
            <a:srgbClr val="62708A"/>
          </a:solidFill>
          <a:ln/>
        </p:spPr>
      </p:sp>
      <p:sp>
        <p:nvSpPr>
          <p:cNvPr id="23" name="Shape 20"/>
          <p:cNvSpPr/>
          <p:nvPr/>
        </p:nvSpPr>
        <p:spPr>
          <a:xfrm>
            <a:off x="5730088" y="2560320"/>
            <a:ext cx="731520" cy="731520"/>
          </a:xfrm>
          <a:prstGeom prst="ellipse">
            <a:avLst/>
          </a:prstGeom>
          <a:solidFill>
            <a:srgbClr val="182234"/>
          </a:solidFill>
          <a:ln w="19050">
            <a:solidFill>
              <a:srgbClr val="4FE0D2"/>
            </a:solidFill>
            <a:prstDash val="solid"/>
          </a:ln>
        </p:spPr>
      </p:sp>
      <p:sp>
        <p:nvSpPr>
          <p:cNvPr id="24" name="Text 21"/>
          <p:cNvSpPr txBox="1"/>
          <p:nvPr/>
        </p:nvSpPr>
        <p:spPr>
          <a:xfrm>
            <a:off x="5730088" y="2560320"/>
            <a:ext cx="731520" cy="731520"/>
          </a:xfrm>
          <a:prstGeom prst="rect">
            <a:avLst/>
          </a:prstGeom>
          <a:noFill/>
          <a:ln/>
        </p:spPr>
        <p:txBody>
          <a:bodyPr wrap="square" lIns="0" tIns="0" rIns="0" bIns="0" rtlCol="0" anchor="ctr"/>
          <a:lstStyle/>
          <a:p>
            <a:pPr marL="0" indent="0" algn="ctr">
              <a:buNone/>
            </a:pPr>
            <a:r>
              <a:rPr lang="en-US" sz="1400" b="1" dirty="0">
                <a:solidFill>
                  <a:srgbClr val="4FE0D2"/>
                </a:solidFill>
                <a:latin typeface="Calibri" pitchFamily="34" charset="0"/>
                <a:ea typeface="Calibri" pitchFamily="34" charset="-122"/>
                <a:cs typeface="Calibri" pitchFamily="34" charset="-120"/>
              </a:rPr>
              <a:t>04</a:t>
            </a:r>
            <a:endParaRPr lang="en-US" sz="1400" dirty="0"/>
          </a:p>
        </p:txBody>
      </p:sp>
      <p:sp>
        <p:nvSpPr>
          <p:cNvPr id="25" name="Text 22"/>
          <p:cNvSpPr txBox="1"/>
          <p:nvPr/>
        </p:nvSpPr>
        <p:spPr>
          <a:xfrm>
            <a:off x="5319065" y="3419856"/>
            <a:ext cx="1553566" cy="310896"/>
          </a:xfrm>
          <a:prstGeom prst="rect">
            <a:avLst/>
          </a:prstGeom>
          <a:noFill/>
          <a:ln/>
        </p:spPr>
        <p:txBody>
          <a:bodyPr wrap="square" lIns="0" tIns="0" rIns="0" bIns="0" rtlCol="0" anchor="ctr"/>
          <a:lstStyle/>
          <a:p>
            <a:pPr marL="0" indent="0" algn="ctr">
              <a:buNone/>
            </a:pPr>
            <a:r>
              <a:rPr lang="en-US" sz="1500" b="1" dirty="0">
                <a:solidFill>
                  <a:srgbClr val="F3F6FA"/>
                </a:solidFill>
                <a:latin typeface="Calibri" pitchFamily="34" charset="0"/>
                <a:ea typeface="Calibri" pitchFamily="34" charset="-122"/>
                <a:cs typeface="Calibri" pitchFamily="34" charset="-120"/>
              </a:rPr>
              <a:t>Mask</a:t>
            </a:r>
            <a:endParaRPr lang="en-US" sz="1500" dirty="0"/>
          </a:p>
        </p:txBody>
      </p:sp>
      <p:sp>
        <p:nvSpPr>
          <p:cNvPr id="26" name="Text 23"/>
          <p:cNvSpPr txBox="1"/>
          <p:nvPr/>
        </p:nvSpPr>
        <p:spPr>
          <a:xfrm>
            <a:off x="5364785" y="3749040"/>
            <a:ext cx="1462126" cy="502920"/>
          </a:xfrm>
          <a:prstGeom prst="rect">
            <a:avLst/>
          </a:prstGeom>
          <a:noFill/>
          <a:ln/>
        </p:spPr>
        <p:txBody>
          <a:bodyPr wrap="square" lIns="0" tIns="0" rIns="0" bIns="0" rtlCol="0" anchor="ctr"/>
          <a:lstStyle/>
          <a:p>
            <a:pPr marL="0" indent="0" algn="ctr">
              <a:lnSpc>
                <a:spcPts val="1300"/>
              </a:lnSpc>
              <a:buNone/>
            </a:pPr>
            <a:r>
              <a:rPr lang="en-US" sz="1050" dirty="0">
                <a:solidFill>
                  <a:srgbClr val="8C9AB2"/>
                </a:solidFill>
                <a:latin typeface="Calibri" pitchFamily="34" charset="0"/>
                <a:ea typeface="Calibri" pitchFamily="34" charset="-122"/>
                <a:cs typeface="Calibri" pitchFamily="34" charset="-120"/>
              </a:rPr>
              <a:t>Cartesian / radial / random</a:t>
            </a:r>
            <a:endParaRPr lang="en-US" sz="1050" dirty="0"/>
          </a:p>
        </p:txBody>
      </p:sp>
      <p:sp>
        <p:nvSpPr>
          <p:cNvPr id="27" name="Shape 24"/>
          <p:cNvSpPr/>
          <p:nvPr/>
        </p:nvSpPr>
        <p:spPr>
          <a:xfrm>
            <a:off x="6571336" y="2834640"/>
            <a:ext cx="602590" cy="182880"/>
          </a:xfrm>
          <a:prstGeom prst="chevron">
            <a:avLst/>
          </a:prstGeom>
          <a:solidFill>
            <a:srgbClr val="62708A"/>
          </a:solidFill>
          <a:ln/>
        </p:spPr>
      </p:sp>
      <p:sp>
        <p:nvSpPr>
          <p:cNvPr id="28" name="Shape 25"/>
          <p:cNvSpPr/>
          <p:nvPr/>
        </p:nvSpPr>
        <p:spPr>
          <a:xfrm>
            <a:off x="7283653" y="2560320"/>
            <a:ext cx="731520" cy="731520"/>
          </a:xfrm>
          <a:prstGeom prst="ellipse">
            <a:avLst/>
          </a:prstGeom>
          <a:solidFill>
            <a:srgbClr val="182234"/>
          </a:solidFill>
          <a:ln w="19050">
            <a:solidFill>
              <a:srgbClr val="4FE0D2"/>
            </a:solidFill>
            <a:prstDash val="solid"/>
          </a:ln>
        </p:spPr>
      </p:sp>
      <p:sp>
        <p:nvSpPr>
          <p:cNvPr id="29" name="Text 26"/>
          <p:cNvSpPr txBox="1"/>
          <p:nvPr/>
        </p:nvSpPr>
        <p:spPr>
          <a:xfrm>
            <a:off x="7283653" y="2560320"/>
            <a:ext cx="731520" cy="731520"/>
          </a:xfrm>
          <a:prstGeom prst="rect">
            <a:avLst/>
          </a:prstGeom>
          <a:noFill/>
          <a:ln/>
        </p:spPr>
        <p:txBody>
          <a:bodyPr wrap="square" lIns="0" tIns="0" rIns="0" bIns="0" rtlCol="0" anchor="ctr"/>
          <a:lstStyle/>
          <a:p>
            <a:pPr marL="0" indent="0" algn="ctr">
              <a:buNone/>
            </a:pPr>
            <a:r>
              <a:rPr lang="en-US" sz="1400" b="1" dirty="0">
                <a:solidFill>
                  <a:srgbClr val="4FE0D2"/>
                </a:solidFill>
                <a:latin typeface="Calibri" pitchFamily="34" charset="0"/>
                <a:ea typeface="Calibri" pitchFamily="34" charset="-122"/>
                <a:cs typeface="Calibri" pitchFamily="34" charset="-120"/>
              </a:rPr>
              <a:t>05</a:t>
            </a:r>
            <a:endParaRPr lang="en-US" sz="1400" dirty="0"/>
          </a:p>
        </p:txBody>
      </p:sp>
      <p:sp>
        <p:nvSpPr>
          <p:cNvPr id="30" name="Text 27"/>
          <p:cNvSpPr txBox="1"/>
          <p:nvPr/>
        </p:nvSpPr>
        <p:spPr>
          <a:xfrm>
            <a:off x="6872630" y="3419856"/>
            <a:ext cx="1553566" cy="310896"/>
          </a:xfrm>
          <a:prstGeom prst="rect">
            <a:avLst/>
          </a:prstGeom>
          <a:noFill/>
          <a:ln/>
        </p:spPr>
        <p:txBody>
          <a:bodyPr wrap="square" lIns="0" tIns="0" rIns="0" bIns="0" rtlCol="0" anchor="ctr"/>
          <a:lstStyle/>
          <a:p>
            <a:pPr marL="0" indent="0" algn="ctr">
              <a:buNone/>
            </a:pPr>
            <a:r>
              <a:rPr lang="en-US" sz="1500" b="1" dirty="0">
                <a:solidFill>
                  <a:srgbClr val="F3F6FA"/>
                </a:solidFill>
                <a:latin typeface="Calibri" pitchFamily="34" charset="0"/>
                <a:ea typeface="Calibri" pitchFamily="34" charset="-122"/>
                <a:cs typeface="Calibri" pitchFamily="34" charset="-120"/>
              </a:rPr>
              <a:t>Noise</a:t>
            </a:r>
            <a:endParaRPr lang="en-US" sz="1500" dirty="0"/>
          </a:p>
        </p:txBody>
      </p:sp>
      <p:sp>
        <p:nvSpPr>
          <p:cNvPr id="31" name="Text 28"/>
          <p:cNvSpPr txBox="1"/>
          <p:nvPr/>
        </p:nvSpPr>
        <p:spPr>
          <a:xfrm>
            <a:off x="6918350" y="3749040"/>
            <a:ext cx="1462126" cy="502920"/>
          </a:xfrm>
          <a:prstGeom prst="rect">
            <a:avLst/>
          </a:prstGeom>
          <a:noFill/>
          <a:ln/>
        </p:spPr>
        <p:txBody>
          <a:bodyPr wrap="square" lIns="0" tIns="0" rIns="0" bIns="0" rtlCol="0" anchor="ctr"/>
          <a:lstStyle/>
          <a:p>
            <a:pPr marL="0" indent="0" algn="ctr">
              <a:lnSpc>
                <a:spcPts val="1300"/>
              </a:lnSpc>
              <a:buNone/>
            </a:pPr>
            <a:r>
              <a:rPr lang="en-US" sz="1050" dirty="0">
                <a:solidFill>
                  <a:srgbClr val="8C9AB2"/>
                </a:solidFill>
                <a:latin typeface="Calibri" pitchFamily="34" charset="0"/>
                <a:ea typeface="Calibri" pitchFamily="34" charset="-122"/>
                <a:cs typeface="Calibri" pitchFamily="34" charset="-120"/>
              </a:rPr>
              <a:t>complex Gaussian, target SNR</a:t>
            </a:r>
            <a:endParaRPr lang="en-US" sz="1050" dirty="0"/>
          </a:p>
        </p:txBody>
      </p:sp>
      <p:sp>
        <p:nvSpPr>
          <p:cNvPr id="32" name="Shape 29"/>
          <p:cNvSpPr/>
          <p:nvPr/>
        </p:nvSpPr>
        <p:spPr>
          <a:xfrm>
            <a:off x="8124901" y="2834640"/>
            <a:ext cx="602590" cy="182880"/>
          </a:xfrm>
          <a:prstGeom prst="chevron">
            <a:avLst/>
          </a:prstGeom>
          <a:solidFill>
            <a:srgbClr val="62708A"/>
          </a:solidFill>
          <a:ln/>
        </p:spPr>
      </p:sp>
      <p:sp>
        <p:nvSpPr>
          <p:cNvPr id="33" name="Shape 30"/>
          <p:cNvSpPr/>
          <p:nvPr/>
        </p:nvSpPr>
        <p:spPr>
          <a:xfrm>
            <a:off x="8837219" y="2560320"/>
            <a:ext cx="731520" cy="731520"/>
          </a:xfrm>
          <a:prstGeom prst="ellipse">
            <a:avLst/>
          </a:prstGeom>
          <a:solidFill>
            <a:srgbClr val="182234"/>
          </a:solidFill>
          <a:ln w="19050">
            <a:solidFill>
              <a:srgbClr val="4FE0D2"/>
            </a:solidFill>
            <a:prstDash val="solid"/>
          </a:ln>
        </p:spPr>
      </p:sp>
      <p:sp>
        <p:nvSpPr>
          <p:cNvPr id="34" name="Text 31"/>
          <p:cNvSpPr txBox="1"/>
          <p:nvPr/>
        </p:nvSpPr>
        <p:spPr>
          <a:xfrm>
            <a:off x="8837219" y="2560320"/>
            <a:ext cx="731520" cy="731520"/>
          </a:xfrm>
          <a:prstGeom prst="rect">
            <a:avLst/>
          </a:prstGeom>
          <a:noFill/>
          <a:ln/>
        </p:spPr>
        <p:txBody>
          <a:bodyPr wrap="square" lIns="0" tIns="0" rIns="0" bIns="0" rtlCol="0" anchor="ctr"/>
          <a:lstStyle/>
          <a:p>
            <a:pPr marL="0" indent="0" algn="ctr">
              <a:buNone/>
            </a:pPr>
            <a:r>
              <a:rPr lang="en-US" sz="1400" b="1" dirty="0">
                <a:solidFill>
                  <a:srgbClr val="4FE0D2"/>
                </a:solidFill>
                <a:latin typeface="Calibri" pitchFamily="34" charset="0"/>
                <a:ea typeface="Calibri" pitchFamily="34" charset="-122"/>
                <a:cs typeface="Calibri" pitchFamily="34" charset="-120"/>
              </a:rPr>
              <a:t>06</a:t>
            </a:r>
            <a:endParaRPr lang="en-US" sz="1400" dirty="0"/>
          </a:p>
        </p:txBody>
      </p:sp>
      <p:sp>
        <p:nvSpPr>
          <p:cNvPr id="35" name="Text 32"/>
          <p:cNvSpPr txBox="1"/>
          <p:nvPr/>
        </p:nvSpPr>
        <p:spPr>
          <a:xfrm>
            <a:off x="8426196" y="3419856"/>
            <a:ext cx="1553566" cy="310896"/>
          </a:xfrm>
          <a:prstGeom prst="rect">
            <a:avLst/>
          </a:prstGeom>
          <a:noFill/>
          <a:ln/>
        </p:spPr>
        <p:txBody>
          <a:bodyPr wrap="square" lIns="0" tIns="0" rIns="0" bIns="0" rtlCol="0" anchor="ctr"/>
          <a:lstStyle/>
          <a:p>
            <a:pPr marL="0" indent="0" algn="ctr">
              <a:buNone/>
            </a:pPr>
            <a:r>
              <a:rPr lang="en-US" sz="1500" b="1" dirty="0">
                <a:solidFill>
                  <a:srgbClr val="F3F6FA"/>
                </a:solidFill>
                <a:latin typeface="Calibri" pitchFamily="34" charset="0"/>
                <a:ea typeface="Calibri" pitchFamily="34" charset="-122"/>
                <a:cs typeface="Calibri" pitchFamily="34" charset="-120"/>
              </a:rPr>
              <a:t>Invert</a:t>
            </a:r>
            <a:endParaRPr lang="en-US" sz="1500" dirty="0"/>
          </a:p>
        </p:txBody>
      </p:sp>
      <p:sp>
        <p:nvSpPr>
          <p:cNvPr id="36" name="Text 33"/>
          <p:cNvSpPr txBox="1"/>
          <p:nvPr/>
        </p:nvSpPr>
        <p:spPr>
          <a:xfrm>
            <a:off x="8471916" y="3749040"/>
            <a:ext cx="1462126" cy="502920"/>
          </a:xfrm>
          <a:prstGeom prst="rect">
            <a:avLst/>
          </a:prstGeom>
          <a:noFill/>
          <a:ln/>
        </p:spPr>
        <p:txBody>
          <a:bodyPr wrap="square" lIns="0" tIns="0" rIns="0" bIns="0" rtlCol="0" anchor="ctr"/>
          <a:lstStyle/>
          <a:p>
            <a:pPr marL="0" indent="0" algn="ctr">
              <a:lnSpc>
                <a:spcPts val="1300"/>
              </a:lnSpc>
              <a:buNone/>
            </a:pPr>
            <a:r>
              <a:rPr lang="en-US" sz="1050" dirty="0">
                <a:solidFill>
                  <a:srgbClr val="8C9AB2"/>
                </a:solidFill>
                <a:latin typeface="Calibri" pitchFamily="34" charset="0"/>
                <a:ea typeface="Calibri" pitchFamily="34" charset="-122"/>
                <a:cs typeface="Calibri" pitchFamily="34" charset="-120"/>
              </a:rPr>
              <a:t>zero-fill or FISTA</a:t>
            </a:r>
            <a:endParaRPr lang="en-US" sz="1050" dirty="0"/>
          </a:p>
        </p:txBody>
      </p:sp>
      <p:sp>
        <p:nvSpPr>
          <p:cNvPr id="37" name="Shape 34"/>
          <p:cNvSpPr/>
          <p:nvPr/>
        </p:nvSpPr>
        <p:spPr>
          <a:xfrm>
            <a:off x="9678467" y="2834640"/>
            <a:ext cx="602590" cy="182880"/>
          </a:xfrm>
          <a:prstGeom prst="chevron">
            <a:avLst/>
          </a:prstGeom>
          <a:solidFill>
            <a:srgbClr val="62708A"/>
          </a:solidFill>
          <a:ln/>
        </p:spPr>
      </p:sp>
      <p:sp>
        <p:nvSpPr>
          <p:cNvPr id="38" name="Shape 35"/>
          <p:cNvSpPr/>
          <p:nvPr/>
        </p:nvSpPr>
        <p:spPr>
          <a:xfrm>
            <a:off x="10390784" y="2560320"/>
            <a:ext cx="731520" cy="731520"/>
          </a:xfrm>
          <a:prstGeom prst="ellipse">
            <a:avLst/>
          </a:prstGeom>
          <a:solidFill>
            <a:srgbClr val="182234"/>
          </a:solidFill>
          <a:ln w="19050">
            <a:solidFill>
              <a:srgbClr val="4FE0D2"/>
            </a:solidFill>
            <a:prstDash val="solid"/>
          </a:ln>
        </p:spPr>
      </p:sp>
      <p:sp>
        <p:nvSpPr>
          <p:cNvPr id="39" name="Text 36"/>
          <p:cNvSpPr txBox="1"/>
          <p:nvPr/>
        </p:nvSpPr>
        <p:spPr>
          <a:xfrm>
            <a:off x="10390784" y="2560320"/>
            <a:ext cx="731520" cy="731520"/>
          </a:xfrm>
          <a:prstGeom prst="rect">
            <a:avLst/>
          </a:prstGeom>
          <a:noFill/>
          <a:ln/>
        </p:spPr>
        <p:txBody>
          <a:bodyPr wrap="square" lIns="0" tIns="0" rIns="0" bIns="0" rtlCol="0" anchor="ctr"/>
          <a:lstStyle/>
          <a:p>
            <a:pPr marL="0" indent="0" algn="ctr">
              <a:buNone/>
            </a:pPr>
            <a:r>
              <a:rPr lang="en-US" sz="1400" b="1" dirty="0">
                <a:solidFill>
                  <a:srgbClr val="4FE0D2"/>
                </a:solidFill>
                <a:latin typeface="Calibri" pitchFamily="34" charset="0"/>
                <a:ea typeface="Calibri" pitchFamily="34" charset="-122"/>
                <a:cs typeface="Calibri" pitchFamily="34" charset="-120"/>
              </a:rPr>
              <a:t>07</a:t>
            </a:r>
            <a:endParaRPr lang="en-US" sz="1400" dirty="0"/>
          </a:p>
        </p:txBody>
      </p:sp>
      <p:sp>
        <p:nvSpPr>
          <p:cNvPr id="40" name="Text 37"/>
          <p:cNvSpPr txBox="1"/>
          <p:nvPr/>
        </p:nvSpPr>
        <p:spPr>
          <a:xfrm>
            <a:off x="9979762" y="3419856"/>
            <a:ext cx="1553566" cy="310896"/>
          </a:xfrm>
          <a:prstGeom prst="rect">
            <a:avLst/>
          </a:prstGeom>
          <a:noFill/>
          <a:ln/>
        </p:spPr>
        <p:txBody>
          <a:bodyPr wrap="square" lIns="0" tIns="0" rIns="0" bIns="0" rtlCol="0" anchor="ctr"/>
          <a:lstStyle/>
          <a:p>
            <a:pPr marL="0" indent="0" algn="ctr">
              <a:buNone/>
            </a:pPr>
            <a:r>
              <a:rPr lang="en-US" sz="1500" b="1" dirty="0">
                <a:solidFill>
                  <a:srgbClr val="F3F6FA"/>
                </a:solidFill>
                <a:latin typeface="Calibri" pitchFamily="34" charset="0"/>
                <a:ea typeface="Calibri" pitchFamily="34" charset="-122"/>
                <a:cs typeface="Calibri" pitchFamily="34" charset="-120"/>
              </a:rPr>
              <a:t>Score</a:t>
            </a:r>
            <a:endParaRPr lang="en-US" sz="1500" dirty="0"/>
          </a:p>
        </p:txBody>
      </p:sp>
      <p:sp>
        <p:nvSpPr>
          <p:cNvPr id="41" name="Text 38"/>
          <p:cNvSpPr txBox="1"/>
          <p:nvPr/>
        </p:nvSpPr>
        <p:spPr>
          <a:xfrm>
            <a:off x="10025482" y="3749040"/>
            <a:ext cx="1462126" cy="502920"/>
          </a:xfrm>
          <a:prstGeom prst="rect">
            <a:avLst/>
          </a:prstGeom>
          <a:noFill/>
          <a:ln/>
        </p:spPr>
        <p:txBody>
          <a:bodyPr wrap="square" lIns="0" tIns="0" rIns="0" bIns="0" rtlCol="0" anchor="ctr"/>
          <a:lstStyle/>
          <a:p>
            <a:pPr marL="0" indent="0" algn="ctr">
              <a:lnSpc>
                <a:spcPts val="1300"/>
              </a:lnSpc>
              <a:buNone/>
            </a:pPr>
            <a:r>
              <a:rPr lang="en-US" sz="1050" dirty="0">
                <a:solidFill>
                  <a:srgbClr val="8C9AB2"/>
                </a:solidFill>
                <a:latin typeface="Calibri" pitchFamily="34" charset="0"/>
                <a:ea typeface="Calibri" pitchFamily="34" charset="-122"/>
                <a:cs typeface="Calibri" pitchFamily="34" charset="-120"/>
              </a:rPr>
              <a:t>PSNR &amp; SSIM vs truth</a:t>
            </a:r>
            <a:endParaRPr lang="en-US" sz="1050" dirty="0"/>
          </a:p>
        </p:txBody>
      </p:sp>
      <p:sp>
        <p:nvSpPr>
          <p:cNvPr id="42" name="Shape 39"/>
          <p:cNvSpPr/>
          <p:nvPr/>
        </p:nvSpPr>
        <p:spPr>
          <a:xfrm>
            <a:off x="658368" y="4846320"/>
            <a:ext cx="10874959" cy="1234440"/>
          </a:xfrm>
          <a:prstGeom prst="roundRect">
            <a:avLst>
              <a:gd name="adj" fmla="val 7407"/>
            </a:avLst>
          </a:prstGeom>
          <a:solidFill>
            <a:srgbClr val="121A28"/>
          </a:solidFill>
          <a:ln w="12700">
            <a:solidFill>
              <a:srgbClr val="263349"/>
            </a:solidFill>
            <a:prstDash val="solid"/>
          </a:ln>
        </p:spPr>
      </p:sp>
      <p:sp>
        <p:nvSpPr>
          <p:cNvPr id="43" name="Text 40"/>
          <p:cNvSpPr txBox="1"/>
          <p:nvPr/>
        </p:nvSpPr>
        <p:spPr>
          <a:xfrm>
            <a:off x="932688" y="5010912"/>
            <a:ext cx="10326319" cy="274320"/>
          </a:xfrm>
          <a:prstGeom prst="rect">
            <a:avLst/>
          </a:prstGeom>
          <a:noFill/>
          <a:ln/>
        </p:spPr>
        <p:txBody>
          <a:bodyPr wrap="square" lIns="0" tIns="0" rIns="0" bIns="0" rtlCol="0" anchor="ctr"/>
          <a:lstStyle/>
          <a:p>
            <a:pPr marL="0" indent="0">
              <a:buNone/>
            </a:pPr>
            <a:r>
              <a:rPr lang="en-US" sz="1450" b="1" dirty="0">
                <a:solidFill>
                  <a:srgbClr val="4FE0D2"/>
                </a:solidFill>
                <a:latin typeface="Calibri" pitchFamily="34" charset="0"/>
                <a:ea typeface="Calibri" pitchFamily="34" charset="-122"/>
                <a:cs typeface="Calibri" pitchFamily="34" charset="-120"/>
              </a:rPr>
              <a:t>Why start from an image?</a:t>
            </a:r>
            <a:endParaRPr lang="en-US" sz="1450" dirty="0"/>
          </a:p>
        </p:txBody>
      </p:sp>
      <p:sp>
        <p:nvSpPr>
          <p:cNvPr id="44" name="Text 41"/>
          <p:cNvSpPr txBox="1"/>
          <p:nvPr/>
        </p:nvSpPr>
        <p:spPr>
          <a:xfrm>
            <a:off x="932688" y="5294376"/>
            <a:ext cx="10326319" cy="731520"/>
          </a:xfrm>
          <a:prstGeom prst="rect">
            <a:avLst/>
          </a:prstGeom>
          <a:noFill/>
          <a:ln/>
        </p:spPr>
        <p:txBody>
          <a:bodyPr wrap="square" lIns="0" tIns="0" rIns="0" bIns="0" rtlCol="0" anchor="ctr"/>
          <a:lstStyle/>
          <a:p>
            <a:pPr marL="0" indent="0">
              <a:lnSpc>
                <a:spcPts val="1700"/>
              </a:lnSpc>
              <a:buNone/>
            </a:pPr>
            <a:r>
              <a:rPr lang="en-US" sz="1300" dirty="0">
                <a:solidFill>
                  <a:srgbClr val="8C9AB2"/>
                </a:solidFill>
                <a:latin typeface="Calibri" pitchFamily="34" charset="0"/>
                <a:ea typeface="Calibri" pitchFamily="34" charset="-122"/>
                <a:cs typeface="Calibri" pitchFamily="34" charset="-120"/>
              </a:rPr>
              <a:t>Raw scanner k-space is rarely public. We forward-FFT real clinical slices; from that point on, masking, noise and reconstruction are exactly what a scanner faces. The inverse FFT assumes every unmeasured sample is zero — that wrong guess is the artifact.</a:t>
            </a:r>
            <a:endParaRPr lang="en-US" sz="1300" dirty="0"/>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set>
                                      <p:cBhvr>
                                        <p:cTn id="7" dur="1" fill="hold">
                                          <p:stCondLst>
                                            <p:cond delay="0"/>
                                          </p:stCondLst>
                                        </p:cTn>
                                        <p:tgtEl>
                                          <p:spTgt spid="9"/>
                                        </p:tgtEl>
                                        <p:attrNameLst>
                                          <p:attrName>style.visibility</p:attrName>
                                        </p:attrNameLst>
                                      </p:cBhvr>
                                      <p:to>
                                        <p:strVal val="visible"/>
                                      </p:to>
                                    </p:set>
                                    <p:set>
                                      <p:cBhvr>
                                        <p:cTn id="8" dur="1" fill="hold">
                                          <p:stCondLst>
                                            <p:cond delay="0"/>
                                          </p:stCondLst>
                                        </p:cTn>
                                        <p:tgtEl>
                                          <p:spTgt spid="10"/>
                                        </p:tgtEl>
                                        <p:attrNameLst>
                                          <p:attrName>style.visibility</p:attrName>
                                        </p:attrNameLst>
                                      </p:cBhvr>
                                      <p:to>
                                        <p:strVal val="visible"/>
                                      </p:to>
                                    </p:set>
                                    <p:set>
                                      <p:cBhvr>
                                        <p:cTn id="9" dur="1" fill="hold">
                                          <p:stCondLst>
                                            <p:cond delay="0"/>
                                          </p:stCondLst>
                                        </p:cTn>
                                        <p:tgtEl>
                                          <p:spTgt spid="1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set>
                                      <p:cBhvr>
                                        <p:cTn id="14" dur="1" fill="hold">
                                          <p:stCondLst>
                                            <p:cond delay="0"/>
                                          </p:stCondLst>
                                        </p:cTn>
                                        <p:tgtEl>
                                          <p:spTgt spid="13"/>
                                        </p:tgtEl>
                                        <p:attrNameLst>
                                          <p:attrName>style.visibility</p:attrName>
                                        </p:attrNameLst>
                                      </p:cBhvr>
                                      <p:to>
                                        <p:strVal val="visible"/>
                                      </p:to>
                                    </p:set>
                                    <p:set>
                                      <p:cBhvr>
                                        <p:cTn id="15" dur="1" fill="hold">
                                          <p:stCondLst>
                                            <p:cond delay="0"/>
                                          </p:stCondLst>
                                        </p:cTn>
                                        <p:tgtEl>
                                          <p:spTgt spid="14"/>
                                        </p:tgtEl>
                                        <p:attrNameLst>
                                          <p:attrName>style.visibility</p:attrName>
                                        </p:attrNameLst>
                                      </p:cBhvr>
                                      <p:to>
                                        <p:strVal val="visible"/>
                                      </p:to>
                                    </p:set>
                                    <p:set>
                                      <p:cBhvr>
                                        <p:cTn id="16" dur="1" fill="hold">
                                          <p:stCondLst>
                                            <p:cond delay="0"/>
                                          </p:stCondLst>
                                        </p:cTn>
                                        <p:tgtEl>
                                          <p:spTgt spid="15"/>
                                        </p:tgtEl>
                                        <p:attrNameLst>
                                          <p:attrName>style.visibility</p:attrName>
                                        </p:attrNameLst>
                                      </p:cBhvr>
                                      <p:to>
                                        <p:strVal val="visible"/>
                                      </p:to>
                                    </p:set>
                                    <p:set>
                                      <p:cBhvr>
                                        <p:cTn id="17" dur="1" fill="hold">
                                          <p:stCondLst>
                                            <p:cond delay="0"/>
                                          </p:stCondLst>
                                        </p:cTn>
                                        <p:tgtEl>
                                          <p:spTgt spid="1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set>
                                      <p:cBhvr>
                                        <p:cTn id="22" dur="1" fill="hold">
                                          <p:stCondLst>
                                            <p:cond delay="0"/>
                                          </p:stCondLst>
                                        </p:cTn>
                                        <p:tgtEl>
                                          <p:spTgt spid="18"/>
                                        </p:tgtEl>
                                        <p:attrNameLst>
                                          <p:attrName>style.visibility</p:attrName>
                                        </p:attrNameLst>
                                      </p:cBhvr>
                                      <p:to>
                                        <p:strVal val="visible"/>
                                      </p:to>
                                    </p:set>
                                    <p:set>
                                      <p:cBhvr>
                                        <p:cTn id="23" dur="1" fill="hold">
                                          <p:stCondLst>
                                            <p:cond delay="0"/>
                                          </p:stCondLst>
                                        </p:cTn>
                                        <p:tgtEl>
                                          <p:spTgt spid="19"/>
                                        </p:tgtEl>
                                        <p:attrNameLst>
                                          <p:attrName>style.visibility</p:attrName>
                                        </p:attrNameLst>
                                      </p:cBhvr>
                                      <p:to>
                                        <p:strVal val="visible"/>
                                      </p:to>
                                    </p:set>
                                    <p:set>
                                      <p:cBhvr>
                                        <p:cTn id="24" dur="1" fill="hold">
                                          <p:stCondLst>
                                            <p:cond delay="0"/>
                                          </p:stCondLst>
                                        </p:cTn>
                                        <p:tgtEl>
                                          <p:spTgt spid="20"/>
                                        </p:tgtEl>
                                        <p:attrNameLst>
                                          <p:attrName>style.visibility</p:attrName>
                                        </p:attrNameLst>
                                      </p:cBhvr>
                                      <p:to>
                                        <p:strVal val="visible"/>
                                      </p:to>
                                    </p:set>
                                    <p:set>
                                      <p:cBhvr>
                                        <p:cTn id="25" dur="1" fill="hold">
                                          <p:stCondLst>
                                            <p:cond delay="0"/>
                                          </p:stCondLst>
                                        </p:cTn>
                                        <p:tgtEl>
                                          <p:spTgt spid="2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set>
                                      <p:cBhvr>
                                        <p:cTn id="30" dur="1" fill="hold">
                                          <p:stCondLst>
                                            <p:cond delay="0"/>
                                          </p:stCondLst>
                                        </p:cTn>
                                        <p:tgtEl>
                                          <p:spTgt spid="23"/>
                                        </p:tgtEl>
                                        <p:attrNameLst>
                                          <p:attrName>style.visibility</p:attrName>
                                        </p:attrNameLst>
                                      </p:cBhvr>
                                      <p:to>
                                        <p:strVal val="visible"/>
                                      </p:to>
                                    </p:set>
                                    <p:set>
                                      <p:cBhvr>
                                        <p:cTn id="31" dur="1" fill="hold">
                                          <p:stCondLst>
                                            <p:cond delay="0"/>
                                          </p:stCondLst>
                                        </p:cTn>
                                        <p:tgtEl>
                                          <p:spTgt spid="24"/>
                                        </p:tgtEl>
                                        <p:attrNameLst>
                                          <p:attrName>style.visibility</p:attrName>
                                        </p:attrNameLst>
                                      </p:cBhvr>
                                      <p:to>
                                        <p:strVal val="visible"/>
                                      </p:to>
                                    </p:set>
                                    <p:set>
                                      <p:cBhvr>
                                        <p:cTn id="32" dur="1" fill="hold">
                                          <p:stCondLst>
                                            <p:cond delay="0"/>
                                          </p:stCondLst>
                                        </p:cTn>
                                        <p:tgtEl>
                                          <p:spTgt spid="25"/>
                                        </p:tgtEl>
                                        <p:attrNameLst>
                                          <p:attrName>style.visibility</p:attrName>
                                        </p:attrNameLst>
                                      </p:cBhvr>
                                      <p:to>
                                        <p:strVal val="visible"/>
                                      </p:to>
                                    </p:set>
                                    <p:set>
                                      <p:cBhvr>
                                        <p:cTn id="33" dur="1" fill="hold">
                                          <p:stCondLst>
                                            <p:cond delay="0"/>
                                          </p:stCondLst>
                                        </p:cTn>
                                        <p:tgtEl>
                                          <p:spTgt spid="2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7"/>
                                        </p:tgtEl>
                                        <p:attrNameLst>
                                          <p:attrName>style.visibility</p:attrName>
                                        </p:attrNameLst>
                                      </p:cBhvr>
                                      <p:to>
                                        <p:strVal val="visible"/>
                                      </p:to>
                                    </p:set>
                                    <p:set>
                                      <p:cBhvr>
                                        <p:cTn id="38" dur="1" fill="hold">
                                          <p:stCondLst>
                                            <p:cond delay="0"/>
                                          </p:stCondLst>
                                        </p:cTn>
                                        <p:tgtEl>
                                          <p:spTgt spid="28"/>
                                        </p:tgtEl>
                                        <p:attrNameLst>
                                          <p:attrName>style.visibility</p:attrName>
                                        </p:attrNameLst>
                                      </p:cBhvr>
                                      <p:to>
                                        <p:strVal val="visible"/>
                                      </p:to>
                                    </p:set>
                                    <p:set>
                                      <p:cBhvr>
                                        <p:cTn id="39" dur="1" fill="hold">
                                          <p:stCondLst>
                                            <p:cond delay="0"/>
                                          </p:stCondLst>
                                        </p:cTn>
                                        <p:tgtEl>
                                          <p:spTgt spid="29"/>
                                        </p:tgtEl>
                                        <p:attrNameLst>
                                          <p:attrName>style.visibility</p:attrName>
                                        </p:attrNameLst>
                                      </p:cBhvr>
                                      <p:to>
                                        <p:strVal val="visible"/>
                                      </p:to>
                                    </p:set>
                                    <p:set>
                                      <p:cBhvr>
                                        <p:cTn id="40" dur="1" fill="hold">
                                          <p:stCondLst>
                                            <p:cond delay="0"/>
                                          </p:stCondLst>
                                        </p:cTn>
                                        <p:tgtEl>
                                          <p:spTgt spid="30"/>
                                        </p:tgtEl>
                                        <p:attrNameLst>
                                          <p:attrName>style.visibility</p:attrName>
                                        </p:attrNameLst>
                                      </p:cBhvr>
                                      <p:to>
                                        <p:strVal val="visible"/>
                                      </p:to>
                                    </p:set>
                                    <p:set>
                                      <p:cBhvr>
                                        <p:cTn id="41" dur="1" fill="hold">
                                          <p:stCondLst>
                                            <p:cond delay="0"/>
                                          </p:stCondLst>
                                        </p:cTn>
                                        <p:tgtEl>
                                          <p:spTgt spid="3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2"/>
                                        </p:tgtEl>
                                        <p:attrNameLst>
                                          <p:attrName>style.visibility</p:attrName>
                                        </p:attrNameLst>
                                      </p:cBhvr>
                                      <p:to>
                                        <p:strVal val="visible"/>
                                      </p:to>
                                    </p:set>
                                    <p:set>
                                      <p:cBhvr>
                                        <p:cTn id="46" dur="1" fill="hold">
                                          <p:stCondLst>
                                            <p:cond delay="0"/>
                                          </p:stCondLst>
                                        </p:cTn>
                                        <p:tgtEl>
                                          <p:spTgt spid="33"/>
                                        </p:tgtEl>
                                        <p:attrNameLst>
                                          <p:attrName>style.visibility</p:attrName>
                                        </p:attrNameLst>
                                      </p:cBhvr>
                                      <p:to>
                                        <p:strVal val="visible"/>
                                      </p:to>
                                    </p:set>
                                    <p:set>
                                      <p:cBhvr>
                                        <p:cTn id="47" dur="1" fill="hold">
                                          <p:stCondLst>
                                            <p:cond delay="0"/>
                                          </p:stCondLst>
                                        </p:cTn>
                                        <p:tgtEl>
                                          <p:spTgt spid="34"/>
                                        </p:tgtEl>
                                        <p:attrNameLst>
                                          <p:attrName>style.visibility</p:attrName>
                                        </p:attrNameLst>
                                      </p:cBhvr>
                                      <p:to>
                                        <p:strVal val="visible"/>
                                      </p:to>
                                    </p:set>
                                    <p:set>
                                      <p:cBhvr>
                                        <p:cTn id="48" dur="1" fill="hold">
                                          <p:stCondLst>
                                            <p:cond delay="0"/>
                                          </p:stCondLst>
                                        </p:cTn>
                                        <p:tgtEl>
                                          <p:spTgt spid="35"/>
                                        </p:tgtEl>
                                        <p:attrNameLst>
                                          <p:attrName>style.visibility</p:attrName>
                                        </p:attrNameLst>
                                      </p:cBhvr>
                                      <p:to>
                                        <p:strVal val="visible"/>
                                      </p:to>
                                    </p:set>
                                    <p:set>
                                      <p:cBhvr>
                                        <p:cTn id="49" dur="1" fill="hold">
                                          <p:stCondLst>
                                            <p:cond delay="0"/>
                                          </p:stCondLst>
                                        </p:cTn>
                                        <p:tgtEl>
                                          <p:spTgt spid="3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37"/>
                                        </p:tgtEl>
                                        <p:attrNameLst>
                                          <p:attrName>style.visibility</p:attrName>
                                        </p:attrNameLst>
                                      </p:cBhvr>
                                      <p:to>
                                        <p:strVal val="visible"/>
                                      </p:to>
                                    </p:set>
                                    <p:set>
                                      <p:cBhvr>
                                        <p:cTn id="54" dur="1" fill="hold">
                                          <p:stCondLst>
                                            <p:cond delay="0"/>
                                          </p:stCondLst>
                                        </p:cTn>
                                        <p:tgtEl>
                                          <p:spTgt spid="38"/>
                                        </p:tgtEl>
                                        <p:attrNameLst>
                                          <p:attrName>style.visibility</p:attrName>
                                        </p:attrNameLst>
                                      </p:cBhvr>
                                      <p:to>
                                        <p:strVal val="visible"/>
                                      </p:to>
                                    </p:set>
                                    <p:set>
                                      <p:cBhvr>
                                        <p:cTn id="55" dur="1" fill="hold">
                                          <p:stCondLst>
                                            <p:cond delay="0"/>
                                          </p:stCondLst>
                                        </p:cTn>
                                        <p:tgtEl>
                                          <p:spTgt spid="39"/>
                                        </p:tgtEl>
                                        <p:attrNameLst>
                                          <p:attrName>style.visibility</p:attrName>
                                        </p:attrNameLst>
                                      </p:cBhvr>
                                      <p:to>
                                        <p:strVal val="visible"/>
                                      </p:to>
                                    </p:set>
                                    <p:set>
                                      <p:cBhvr>
                                        <p:cTn id="56" dur="1" fill="hold">
                                          <p:stCondLst>
                                            <p:cond delay="0"/>
                                          </p:stCondLst>
                                        </p:cTn>
                                        <p:tgtEl>
                                          <p:spTgt spid="40"/>
                                        </p:tgtEl>
                                        <p:attrNameLst>
                                          <p:attrName>style.visibility</p:attrName>
                                        </p:attrNameLst>
                                      </p:cBhvr>
                                      <p:to>
                                        <p:strVal val="visible"/>
                                      </p:to>
                                    </p:set>
                                    <p:set>
                                      <p:cBhvr>
                                        <p:cTn id="57" dur="1" fill="hold">
                                          <p:stCondLst>
                                            <p:cond delay="0"/>
                                          </p:stCondLst>
                                        </p:cTn>
                                        <p:tgtEl>
                                          <p:spTgt spid="41"/>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42"/>
                                        </p:tgtEl>
                                        <p:attrNameLst>
                                          <p:attrName>style.visibility</p:attrName>
                                        </p:attrNameLst>
                                      </p:cBhvr>
                                      <p:to>
                                        <p:strVal val="visible"/>
                                      </p:to>
                                    </p:set>
                                    <p:set>
                                      <p:cBhvr>
                                        <p:cTn id="62" dur="1" fill="hold">
                                          <p:stCondLst>
                                            <p:cond delay="0"/>
                                          </p:stCondLst>
                                        </p:cTn>
                                        <p:tgtEl>
                                          <p:spTgt spid="43"/>
                                        </p:tgtEl>
                                        <p:attrNameLst>
                                          <p:attrName>style.visibility</p:attrName>
                                        </p:attrNameLst>
                                      </p:cBhvr>
                                      <p:to>
                                        <p:strVal val="visible"/>
                                      </p:to>
                                    </p:set>
                                    <p:set>
                                      <p:cBhvr>
                                        <p:cTn id="63"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WHAT K-SPACE HOLDS</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AFIF SIDDIQUE · 2305123</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3136"/>
              </a:lnSpc>
              <a:buNone/>
            </a:pPr>
            <a:r>
              <a:rPr lang="en-US" sz="2800" b="1" dirty="0">
                <a:solidFill>
                  <a:srgbClr val="F3F6FA"/>
                </a:solidFill>
                <a:latin typeface="Cambria" pitchFamily="34" charset="0"/>
                <a:ea typeface="Cambria" pitchFamily="34" charset="-122"/>
                <a:cs typeface="Cambria" pitchFamily="34" charset="-120"/>
              </a:rPr>
              <a:t>The centre carries contrast. The edges carry detail.</a:t>
            </a:r>
            <a:endParaRPr lang="en-US" sz="28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05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Text 5"/>
          <p:cNvSpPr txBox="1"/>
          <p:nvPr/>
        </p:nvSpPr>
        <p:spPr>
          <a:xfrm>
            <a:off x="658368" y="2331720"/>
            <a:ext cx="3931920" cy="1188720"/>
          </a:xfrm>
          <a:prstGeom prst="rect">
            <a:avLst/>
          </a:prstGeom>
          <a:noFill/>
          <a:ln/>
        </p:spPr>
        <p:txBody>
          <a:bodyPr wrap="square" lIns="0" tIns="0" rIns="0" bIns="0" rtlCol="0" anchor="ctr"/>
          <a:lstStyle/>
          <a:p>
            <a:pPr marL="0" indent="0">
              <a:buNone/>
            </a:pPr>
            <a:r>
              <a:rPr lang="en-US" sz="7600" b="1" dirty="0">
                <a:solidFill>
                  <a:srgbClr val="4FE0D2"/>
                </a:solidFill>
                <a:latin typeface="Cambria" pitchFamily="34" charset="0"/>
                <a:ea typeface="Cambria" pitchFamily="34" charset="-122"/>
                <a:cs typeface="Cambria" pitchFamily="34" charset="-120"/>
              </a:rPr>
              <a:t>92.6%</a:t>
            </a:r>
            <a:endParaRPr lang="en-US" sz="7600" dirty="0"/>
          </a:p>
        </p:txBody>
      </p:sp>
      <p:sp>
        <p:nvSpPr>
          <p:cNvPr id="9" name="Text 6"/>
          <p:cNvSpPr txBox="1"/>
          <p:nvPr/>
        </p:nvSpPr>
        <p:spPr>
          <a:xfrm>
            <a:off x="658368" y="3566160"/>
            <a:ext cx="3977640" cy="1051560"/>
          </a:xfrm>
          <a:prstGeom prst="rect">
            <a:avLst/>
          </a:prstGeom>
          <a:noFill/>
          <a:ln/>
        </p:spPr>
        <p:txBody>
          <a:bodyPr wrap="square" lIns="0" tIns="0" rIns="0" bIns="0" rtlCol="0" anchor="ctr"/>
          <a:lstStyle/>
          <a:p>
            <a:pPr marL="0" indent="0">
              <a:lnSpc>
                <a:spcPts val="1900"/>
              </a:lnSpc>
              <a:buNone/>
            </a:pPr>
            <a:r>
              <a:rPr lang="en-US" sz="1450" dirty="0">
                <a:solidFill>
                  <a:srgbClr val="8C9AB2"/>
                </a:solidFill>
                <a:latin typeface="Calibri" pitchFamily="34" charset="0"/>
                <a:ea typeface="Calibri" pitchFamily="34" charset="-122"/>
                <a:cs typeface="Calibri" pitchFamily="34" charset="-120"/>
              </a:rPr>
              <a:t>of k-space energy lies inside the central 10% radius — about 1% of the samples. Mean of 40 clinical scans; range 73.6–98.9%.</a:t>
            </a:r>
            <a:endParaRPr lang="en-US" sz="1450" dirty="0"/>
          </a:p>
        </p:txBody>
      </p:sp>
      <p:sp>
        <p:nvSpPr>
          <p:cNvPr id="10" name="Shape 7"/>
          <p:cNvSpPr/>
          <p:nvPr/>
        </p:nvSpPr>
        <p:spPr>
          <a:xfrm>
            <a:off x="658368" y="4709160"/>
            <a:ext cx="3977640" cy="1234440"/>
          </a:xfrm>
          <a:prstGeom prst="roundRect">
            <a:avLst>
              <a:gd name="adj" fmla="val 7407"/>
            </a:avLst>
          </a:prstGeom>
          <a:solidFill>
            <a:srgbClr val="121A28"/>
          </a:solidFill>
          <a:ln w="12700">
            <a:solidFill>
              <a:srgbClr val="263349"/>
            </a:solidFill>
            <a:prstDash val="solid"/>
          </a:ln>
        </p:spPr>
      </p:sp>
      <p:sp>
        <p:nvSpPr>
          <p:cNvPr id="11" name="Text 8"/>
          <p:cNvSpPr txBox="1"/>
          <p:nvPr/>
        </p:nvSpPr>
        <p:spPr>
          <a:xfrm>
            <a:off x="886968" y="4846320"/>
            <a:ext cx="1828800" cy="457200"/>
          </a:xfrm>
          <a:prstGeom prst="rect">
            <a:avLst/>
          </a:prstGeom>
          <a:noFill/>
          <a:ln/>
        </p:spPr>
        <p:txBody>
          <a:bodyPr wrap="square" lIns="0" tIns="0" rIns="0" bIns="0" rtlCol="0" anchor="ctr"/>
          <a:lstStyle/>
          <a:p>
            <a:pPr marL="0" indent="0">
              <a:buNone/>
            </a:pPr>
            <a:r>
              <a:rPr lang="en-US" sz="2500" b="1" dirty="0">
                <a:solidFill>
                  <a:srgbClr val="FFA85B"/>
                </a:solidFill>
                <a:latin typeface="Cambria" pitchFamily="34" charset="0"/>
                <a:ea typeface="Cambria" pitchFamily="34" charset="-122"/>
                <a:cs typeface="Cambria" pitchFamily="34" charset="-120"/>
              </a:rPr>
              <a:t>73 dB</a:t>
            </a:r>
            <a:endParaRPr lang="en-US" sz="2500" dirty="0"/>
          </a:p>
        </p:txBody>
      </p:sp>
      <p:sp>
        <p:nvSpPr>
          <p:cNvPr id="12" name="Text 9"/>
          <p:cNvSpPr txBox="1"/>
          <p:nvPr/>
        </p:nvSpPr>
        <p:spPr>
          <a:xfrm>
            <a:off x="886968" y="5321808"/>
            <a:ext cx="3566160" cy="548640"/>
          </a:xfrm>
          <a:prstGeom prst="rect">
            <a:avLst/>
          </a:prstGeom>
          <a:noFill/>
          <a:ln/>
        </p:spPr>
        <p:txBody>
          <a:bodyPr wrap="square" lIns="0" tIns="0" rIns="0" bIns="0" rtlCol="0" anchor="ctr"/>
          <a:lstStyle/>
          <a:p>
            <a:pPr marL="0" indent="0">
              <a:lnSpc>
                <a:spcPts val="1500"/>
              </a:lnSpc>
              <a:buNone/>
            </a:pPr>
            <a:r>
              <a:rPr lang="en-US" sz="1250" dirty="0">
                <a:solidFill>
                  <a:srgbClr val="8C9AB2"/>
                </a:solidFill>
                <a:latin typeface="Calibri" pitchFamily="34" charset="0"/>
                <a:ea typeface="Calibri" pitchFamily="34" charset="-122"/>
                <a:cs typeface="Calibri" pitchFamily="34" charset="-120"/>
              </a:rPr>
              <a:t>mean peak-to-median dynamic range (62–85 dB) — why k-space is always shown as log(1+|K|).</a:t>
            </a:r>
            <a:endParaRPr lang="en-US" sz="1250" dirty="0"/>
          </a:p>
        </p:txBody>
      </p:sp>
      <p:sp>
        <p:nvSpPr>
          <p:cNvPr id="13" name="Shape 10"/>
          <p:cNvSpPr/>
          <p:nvPr/>
        </p:nvSpPr>
        <p:spPr>
          <a:xfrm>
            <a:off x="5111496" y="2276856"/>
            <a:ext cx="2441448" cy="2441448"/>
          </a:xfrm>
          <a:prstGeom prst="roundRect">
            <a:avLst>
              <a:gd name="adj" fmla="val 3745"/>
            </a:avLst>
          </a:prstGeom>
          <a:solidFill>
            <a:srgbClr val="121A28"/>
          </a:solidFill>
          <a:ln w="12700">
            <a:solidFill>
              <a:srgbClr val="263349"/>
            </a:solidFill>
            <a:prstDash val="solid"/>
          </a:ln>
        </p:spPr>
      </p:sp>
      <p:pic>
        <p:nvPicPr>
          <p:cNvPr id="14" name="Image 1" descr="/home/claude/deck/assets/image-6-1.png"/>
          <p:cNvPicPr>
            <a:picLocks noChangeAspect="1"/>
          </p:cNvPicPr>
          <p:nvPr/>
        </p:nvPicPr>
        <p:blipFill>
          <a:blip r:embed="rId4"/>
          <a:stretch>
            <a:fillRect/>
          </a:stretch>
        </p:blipFill>
        <p:spPr>
          <a:xfrm>
            <a:off x="5257800" y="2423160"/>
            <a:ext cx="2148840" cy="2148840"/>
          </a:xfrm>
          <a:prstGeom prst="rect">
            <a:avLst/>
          </a:prstGeom>
        </p:spPr>
      </p:pic>
      <p:sp>
        <p:nvSpPr>
          <p:cNvPr id="15" name="Text 11"/>
          <p:cNvSpPr txBox="1"/>
          <p:nvPr/>
        </p:nvSpPr>
        <p:spPr>
          <a:xfrm>
            <a:off x="5257800" y="4773168"/>
            <a:ext cx="2148840" cy="256032"/>
          </a:xfrm>
          <a:prstGeom prst="rect">
            <a:avLst/>
          </a:prstGeom>
          <a:noFill/>
          <a:ln/>
        </p:spPr>
        <p:txBody>
          <a:bodyPr wrap="square" lIns="0" tIns="0" rIns="0" bIns="0" rtlCol="0" anchor="ctr"/>
          <a:lstStyle/>
          <a:p>
            <a:pPr marL="0" indent="0">
              <a:buNone/>
            </a:pPr>
            <a:r>
              <a:rPr lang="en-US" sz="1150" b="1" kern="0" spc="100" dirty="0">
                <a:solidFill>
                  <a:srgbClr val="F3F6FA"/>
                </a:solidFill>
                <a:latin typeface="Calibri" pitchFamily="34" charset="0"/>
                <a:ea typeface="Calibri" pitchFamily="34" charset="-122"/>
                <a:cs typeface="Calibri" pitchFamily="34" charset="-120"/>
              </a:rPr>
              <a:t>CENTRE ONLY  ·  low-pass</a:t>
            </a:r>
            <a:endParaRPr lang="en-US" sz="1150" dirty="0"/>
          </a:p>
        </p:txBody>
      </p:sp>
      <p:sp>
        <p:nvSpPr>
          <p:cNvPr id="16" name="Text 12"/>
          <p:cNvSpPr txBox="1"/>
          <p:nvPr/>
        </p:nvSpPr>
        <p:spPr>
          <a:xfrm>
            <a:off x="5257800" y="5029200"/>
            <a:ext cx="2148840" cy="502920"/>
          </a:xfrm>
          <a:prstGeom prst="rect">
            <a:avLst/>
          </a:prstGeom>
          <a:noFill/>
          <a:ln/>
        </p:spPr>
        <p:txBody>
          <a:bodyPr wrap="square" lIns="0" tIns="0" rIns="0" bIns="0" rtlCol="0" anchor="ctr"/>
          <a:lstStyle/>
          <a:p>
            <a:pPr marL="0" indent="0">
              <a:lnSpc>
                <a:spcPts val="1400"/>
              </a:lnSpc>
              <a:buNone/>
            </a:pPr>
            <a:r>
              <a:rPr lang="en-US" sz="1150" dirty="0">
                <a:solidFill>
                  <a:srgbClr val="8C9AB2"/>
                </a:solidFill>
                <a:latin typeface="Calibri" pitchFamily="34" charset="0"/>
                <a:ea typeface="Calibri" pitchFamily="34" charset="-122"/>
                <a:cs typeface="Calibri" pitchFamily="34" charset="-120"/>
              </a:rPr>
              <a:t>Mean 0.231 vs truth 0.229.</a:t>
            </a:r>
            <a:endParaRPr lang="en-US" sz="1150" dirty="0"/>
          </a:p>
          <a:p>
            <a:pPr marL="0" indent="0">
              <a:lnSpc>
                <a:spcPts val="1400"/>
              </a:lnSpc>
              <a:buNone/>
            </a:pPr>
            <a:r>
              <a:rPr lang="en-US" sz="1150" dirty="0">
                <a:solidFill>
                  <a:srgbClr val="8C9AB2"/>
                </a:solidFill>
                <a:latin typeface="Calibri" pitchFamily="34" charset="0"/>
                <a:ea typeface="Calibri" pitchFamily="34" charset="-122"/>
                <a:cs typeface="Calibri" pitchFamily="34" charset="-120"/>
              </a:rPr>
              <a:t>Blur plus Gibbs ringing.</a:t>
            </a:r>
            <a:endParaRPr lang="en-US" sz="1150" dirty="0"/>
          </a:p>
        </p:txBody>
      </p:sp>
      <p:sp>
        <p:nvSpPr>
          <p:cNvPr id="17" name="Shape 13"/>
          <p:cNvSpPr/>
          <p:nvPr/>
        </p:nvSpPr>
        <p:spPr>
          <a:xfrm>
            <a:off x="7717536" y="2276856"/>
            <a:ext cx="2441448" cy="2441448"/>
          </a:xfrm>
          <a:prstGeom prst="roundRect">
            <a:avLst>
              <a:gd name="adj" fmla="val 3745"/>
            </a:avLst>
          </a:prstGeom>
          <a:solidFill>
            <a:srgbClr val="121A28"/>
          </a:solidFill>
          <a:ln w="12700">
            <a:solidFill>
              <a:srgbClr val="263349"/>
            </a:solidFill>
            <a:prstDash val="solid"/>
          </a:ln>
        </p:spPr>
      </p:sp>
      <p:pic>
        <p:nvPicPr>
          <p:cNvPr id="18" name="Image 2" descr="/home/claude/deck/assets/image-6-2.png"/>
          <p:cNvPicPr>
            <a:picLocks noChangeAspect="1"/>
          </p:cNvPicPr>
          <p:nvPr/>
        </p:nvPicPr>
        <p:blipFill>
          <a:blip r:embed="rId5"/>
          <a:stretch>
            <a:fillRect/>
          </a:stretch>
        </p:blipFill>
        <p:spPr>
          <a:xfrm>
            <a:off x="7863840" y="2423160"/>
            <a:ext cx="2148840" cy="2148840"/>
          </a:xfrm>
          <a:prstGeom prst="rect">
            <a:avLst/>
          </a:prstGeom>
        </p:spPr>
      </p:pic>
      <p:sp>
        <p:nvSpPr>
          <p:cNvPr id="19" name="Text 14"/>
          <p:cNvSpPr txBox="1"/>
          <p:nvPr/>
        </p:nvSpPr>
        <p:spPr>
          <a:xfrm>
            <a:off x="7863840" y="4773168"/>
            <a:ext cx="2148840" cy="256032"/>
          </a:xfrm>
          <a:prstGeom prst="rect">
            <a:avLst/>
          </a:prstGeom>
          <a:noFill/>
          <a:ln/>
        </p:spPr>
        <p:txBody>
          <a:bodyPr wrap="square" lIns="0" tIns="0" rIns="0" bIns="0" rtlCol="0" anchor="ctr"/>
          <a:lstStyle/>
          <a:p>
            <a:pPr marL="0" indent="0">
              <a:buNone/>
            </a:pPr>
            <a:r>
              <a:rPr lang="en-US" sz="1150" b="1" kern="0" spc="100" dirty="0">
                <a:solidFill>
                  <a:srgbClr val="F3F6FA"/>
                </a:solidFill>
                <a:latin typeface="Calibri" pitchFamily="34" charset="0"/>
                <a:ea typeface="Calibri" pitchFamily="34" charset="-122"/>
                <a:cs typeface="Calibri" pitchFamily="34" charset="-120"/>
              </a:rPr>
              <a:t>EDGES ONLY  ·  high-pass</a:t>
            </a:r>
            <a:endParaRPr lang="en-US" sz="1150" dirty="0"/>
          </a:p>
        </p:txBody>
      </p:sp>
      <p:sp>
        <p:nvSpPr>
          <p:cNvPr id="20" name="Text 15"/>
          <p:cNvSpPr txBox="1"/>
          <p:nvPr/>
        </p:nvSpPr>
        <p:spPr>
          <a:xfrm>
            <a:off x="7863840" y="5029200"/>
            <a:ext cx="2148840" cy="502920"/>
          </a:xfrm>
          <a:prstGeom prst="rect">
            <a:avLst/>
          </a:prstGeom>
          <a:noFill/>
          <a:ln/>
        </p:spPr>
        <p:txBody>
          <a:bodyPr wrap="square" lIns="0" tIns="0" rIns="0" bIns="0" rtlCol="0" anchor="ctr"/>
          <a:lstStyle/>
          <a:p>
            <a:pPr marL="0" indent="0">
              <a:lnSpc>
                <a:spcPts val="1400"/>
              </a:lnSpc>
              <a:buNone/>
            </a:pPr>
            <a:r>
              <a:rPr lang="en-US" sz="1150" dirty="0">
                <a:solidFill>
                  <a:srgbClr val="8C9AB2"/>
                </a:solidFill>
                <a:latin typeface="Calibri" pitchFamily="34" charset="0"/>
                <a:ea typeface="Calibri" pitchFamily="34" charset="-122"/>
                <a:cs typeface="Calibri" pitchFamily="34" charset="-120"/>
              </a:rPr>
              <a:t>Mean 0.0002 — the DC term</a:t>
            </a:r>
            <a:endParaRPr lang="en-US" sz="1150" dirty="0"/>
          </a:p>
          <a:p>
            <a:pPr marL="0" indent="0">
              <a:lnSpc>
                <a:spcPts val="1400"/>
              </a:lnSpc>
              <a:buNone/>
            </a:pPr>
            <a:r>
              <a:rPr lang="en-US" sz="1150" dirty="0">
                <a:solidFill>
                  <a:srgbClr val="8C9AB2"/>
                </a:solidFill>
                <a:latin typeface="Calibri" pitchFamily="34" charset="0"/>
                <a:ea typeface="Calibri" pitchFamily="34" charset="-122"/>
                <a:cs typeface="Calibri" pitchFamily="34" charset="-120"/>
              </a:rPr>
              <a:t>is gone. Contrast-stretched.</a:t>
            </a:r>
            <a:endParaRPr lang="en-US" sz="1150" dirty="0"/>
          </a:p>
        </p:txBody>
      </p:sp>
      <p:sp>
        <p:nvSpPr>
          <p:cNvPr id="21" name="Text 16"/>
          <p:cNvSpPr txBox="1"/>
          <p:nvPr/>
        </p:nvSpPr>
        <p:spPr>
          <a:xfrm>
            <a:off x="5257800" y="6053328"/>
            <a:ext cx="4754880" cy="274320"/>
          </a:xfrm>
          <a:prstGeom prst="rect">
            <a:avLst/>
          </a:prstGeom>
          <a:noFill/>
          <a:ln/>
        </p:spPr>
        <p:txBody>
          <a:bodyPr wrap="square" lIns="0" tIns="0" rIns="0" bIns="0" rtlCol="0" anchor="ctr"/>
          <a:lstStyle/>
          <a:p>
            <a:pPr marL="0" indent="0">
              <a:buNone/>
            </a:pPr>
            <a:r>
              <a:rPr lang="en-US" sz="1100" i="1" dirty="0">
                <a:solidFill>
                  <a:srgbClr val="62708A"/>
                </a:solidFill>
                <a:latin typeface="Calibri" pitchFamily="34" charset="0"/>
                <a:ea typeface="Calibri" pitchFamily="34" charset="-122"/>
                <a:cs typeface="Calibri" pitchFamily="34" charset="-120"/>
              </a:rPr>
              <a:t>Both images use the same 5% sample budget  ·  brain-glioma-778</a:t>
            </a:r>
            <a:endParaRPr lang="en-US" sz="11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SAMPLING STRATEGIES · 12.5% OF K-SPACE, 8× FASTER</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AFIF SIDDIQUE · 2305123</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3472"/>
              </a:lnSpc>
              <a:buNone/>
            </a:pPr>
            <a:r>
              <a:rPr lang="en-US" sz="3100" b="1" dirty="0">
                <a:solidFill>
                  <a:srgbClr val="F3F6FA"/>
                </a:solidFill>
                <a:latin typeface="Cambria" pitchFamily="34" charset="0"/>
                <a:ea typeface="Cambria" pitchFamily="34" charset="-122"/>
                <a:cs typeface="Cambria" pitchFamily="34" charset="-120"/>
              </a:rPr>
              <a:t>Same budget, three different artifacts.</a:t>
            </a:r>
            <a:endParaRPr lang="en-US" sz="31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06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Shape 5"/>
          <p:cNvSpPr/>
          <p:nvPr/>
        </p:nvSpPr>
        <p:spPr>
          <a:xfrm>
            <a:off x="530352" y="2157984"/>
            <a:ext cx="3685946" cy="4178808"/>
          </a:xfrm>
          <a:prstGeom prst="roundRect">
            <a:avLst>
              <a:gd name="adj" fmla="val 2977"/>
            </a:avLst>
          </a:prstGeom>
          <a:solidFill>
            <a:srgbClr val="121A28"/>
          </a:solidFill>
          <a:ln w="12700">
            <a:solidFill>
              <a:srgbClr val="263349"/>
            </a:solidFill>
            <a:prstDash val="solid"/>
          </a:ln>
        </p:spPr>
      </p:sp>
      <p:sp>
        <p:nvSpPr>
          <p:cNvPr id="9" name="Shape 6"/>
          <p:cNvSpPr/>
          <p:nvPr/>
        </p:nvSpPr>
        <p:spPr>
          <a:xfrm>
            <a:off x="530352" y="2157984"/>
            <a:ext cx="3685946" cy="4178808"/>
          </a:xfrm>
          <a:prstGeom prst="roundRect">
            <a:avLst>
              <a:gd name="adj" fmla="val 2977"/>
            </a:avLst>
          </a:prstGeom>
          <a:solidFill>
            <a:srgbClr val="0E1F1C"/>
          </a:solidFill>
          <a:ln w="12700">
            <a:solidFill>
              <a:srgbClr val="4FE0D2"/>
            </a:solidFill>
            <a:prstDash val="solid"/>
          </a:ln>
        </p:spPr>
      </p:sp>
      <p:pic>
        <p:nvPicPr>
          <p:cNvPr id="10" name="Image 1" descr="/home/claude/deck/assets/image-7-2.png"/>
          <p:cNvPicPr>
            <a:picLocks noChangeAspect="1"/>
          </p:cNvPicPr>
          <p:nvPr/>
        </p:nvPicPr>
        <p:blipFill>
          <a:blip r:embed="rId4"/>
          <a:stretch>
            <a:fillRect/>
          </a:stretch>
        </p:blipFill>
        <p:spPr>
          <a:xfrm>
            <a:off x="1129741" y="2286000"/>
            <a:ext cx="2487168" cy="2487168"/>
          </a:xfrm>
          <a:prstGeom prst="rect">
            <a:avLst/>
          </a:prstGeom>
        </p:spPr>
      </p:pic>
      <p:sp>
        <p:nvSpPr>
          <p:cNvPr id="11" name="Shape 7"/>
          <p:cNvSpPr/>
          <p:nvPr/>
        </p:nvSpPr>
        <p:spPr>
          <a:xfrm>
            <a:off x="1111453" y="2267712"/>
            <a:ext cx="882213" cy="882213"/>
          </a:xfrm>
          <a:prstGeom prst="rect">
            <a:avLst/>
          </a:prstGeom>
          <a:solidFill>
            <a:srgbClr val="05070C"/>
          </a:solidFill>
          <a:ln w="12700">
            <a:solidFill>
              <a:srgbClr val="263349"/>
            </a:solidFill>
            <a:prstDash val="solid"/>
          </a:ln>
        </p:spPr>
      </p:sp>
      <p:pic>
        <p:nvPicPr>
          <p:cNvPr id="12" name="Image 2" descr="/home/claude/deck/assets/image-7-1.png"/>
          <p:cNvPicPr>
            <a:picLocks noChangeAspect="1"/>
          </p:cNvPicPr>
          <p:nvPr/>
        </p:nvPicPr>
        <p:blipFill>
          <a:blip r:embed="rId5"/>
          <a:stretch>
            <a:fillRect/>
          </a:stretch>
        </p:blipFill>
        <p:spPr>
          <a:xfrm>
            <a:off x="1129741" y="2286000"/>
            <a:ext cx="845637" cy="845637"/>
          </a:xfrm>
          <a:prstGeom prst="rect">
            <a:avLst/>
          </a:prstGeom>
        </p:spPr>
      </p:pic>
      <p:sp>
        <p:nvSpPr>
          <p:cNvPr id="13" name="Text 8"/>
          <p:cNvSpPr txBox="1"/>
          <p:nvPr/>
        </p:nvSpPr>
        <p:spPr>
          <a:xfrm>
            <a:off x="658368" y="4956048"/>
            <a:ext cx="3429914" cy="292608"/>
          </a:xfrm>
          <a:prstGeom prst="rect">
            <a:avLst/>
          </a:prstGeom>
          <a:noFill/>
          <a:ln/>
        </p:spPr>
        <p:txBody>
          <a:bodyPr wrap="square" lIns="0" tIns="0" rIns="0" bIns="0" rtlCol="0" anchor="ctr"/>
          <a:lstStyle/>
          <a:p>
            <a:pPr marL="0" indent="0">
              <a:buNone/>
            </a:pPr>
            <a:r>
              <a:rPr lang="en-US" sz="1450" b="1" kern="0" spc="100" dirty="0">
                <a:solidFill>
                  <a:srgbClr val="F3F6FA"/>
                </a:solidFill>
                <a:latin typeface="Calibri" pitchFamily="34" charset="0"/>
                <a:ea typeface="Calibri" pitchFamily="34" charset="-122"/>
                <a:cs typeface="Calibri" pitchFamily="34" charset="-120"/>
              </a:rPr>
              <a:t>CARTESIAN</a:t>
            </a:r>
            <a:endParaRPr lang="en-US" sz="1450" dirty="0"/>
          </a:p>
        </p:txBody>
      </p:sp>
      <p:sp>
        <p:nvSpPr>
          <p:cNvPr id="14" name="Text 9"/>
          <p:cNvSpPr txBox="1"/>
          <p:nvPr/>
        </p:nvSpPr>
        <p:spPr>
          <a:xfrm>
            <a:off x="658368" y="5257800"/>
            <a:ext cx="3429914" cy="256032"/>
          </a:xfrm>
          <a:prstGeom prst="rect">
            <a:avLst/>
          </a:prstGeom>
          <a:noFill/>
          <a:ln/>
        </p:spPr>
        <p:txBody>
          <a:bodyPr wrap="square" lIns="0" tIns="0" rIns="0" bIns="0" rtlCol="0" anchor="ctr"/>
          <a:lstStyle/>
          <a:p>
            <a:pPr marL="0" indent="0">
              <a:buNone/>
            </a:pPr>
            <a:r>
              <a:rPr lang="en-US" sz="1300" b="1" dirty="0">
                <a:solidFill>
                  <a:srgbClr val="8C9AB2"/>
                </a:solidFill>
                <a:latin typeface="Calibri" pitchFamily="34" charset="0"/>
                <a:ea typeface="Calibri" pitchFamily="34" charset="-122"/>
                <a:cs typeface="Calibri" pitchFamily="34" charset="-120"/>
              </a:rPr>
              <a:t>20.37 dB · SSIM 0.604</a:t>
            </a:r>
            <a:endParaRPr lang="en-US" sz="1300" dirty="0"/>
          </a:p>
        </p:txBody>
      </p:sp>
      <p:sp>
        <p:nvSpPr>
          <p:cNvPr id="15" name="Text 10"/>
          <p:cNvSpPr txBox="1"/>
          <p:nvPr/>
        </p:nvSpPr>
        <p:spPr>
          <a:xfrm>
            <a:off x="658368" y="5550408"/>
            <a:ext cx="3429914" cy="685800"/>
          </a:xfrm>
          <a:prstGeom prst="rect">
            <a:avLst/>
          </a:prstGeom>
          <a:noFill/>
          <a:ln/>
        </p:spPr>
        <p:txBody>
          <a:bodyPr wrap="square" lIns="0" tIns="0" rIns="0" bIns="0" rtlCol="0" anchor="ctr"/>
          <a:lstStyle/>
          <a:p>
            <a:pPr marL="0" indent="0">
              <a:lnSpc>
                <a:spcPts val="1450"/>
              </a:lnSpc>
              <a:buNone/>
            </a:pPr>
            <a:r>
              <a:rPr lang="en-US" sz="1150" dirty="0">
                <a:solidFill>
                  <a:srgbClr val="8C9AB2"/>
                </a:solidFill>
                <a:latin typeface="Calibri" pitchFamily="34" charset="0"/>
                <a:ea typeface="Calibri" pitchFamily="34" charset="-122"/>
                <a:cs typeface="Calibri" pitchFamily="34" charset="-120"/>
              </a:rPr>
              <a:t>Coherent ghosts — shifted copies that look like real anatomy. The hardest to remove.</a:t>
            </a:r>
            <a:endParaRPr lang="en-US" sz="1150" dirty="0"/>
          </a:p>
        </p:txBody>
      </p:sp>
      <p:sp>
        <p:nvSpPr>
          <p:cNvPr id="16" name="Shape 11"/>
          <p:cNvSpPr/>
          <p:nvPr/>
        </p:nvSpPr>
        <p:spPr>
          <a:xfrm>
            <a:off x="4252874" y="2157984"/>
            <a:ext cx="3685946" cy="4178808"/>
          </a:xfrm>
          <a:prstGeom prst="roundRect">
            <a:avLst>
              <a:gd name="adj" fmla="val 2977"/>
            </a:avLst>
          </a:prstGeom>
          <a:solidFill>
            <a:srgbClr val="121A28"/>
          </a:solidFill>
          <a:ln w="12700">
            <a:solidFill>
              <a:srgbClr val="263349"/>
            </a:solidFill>
            <a:prstDash val="solid"/>
          </a:ln>
        </p:spPr>
      </p:sp>
      <p:sp>
        <p:nvSpPr>
          <p:cNvPr id="17" name="Shape 12"/>
          <p:cNvSpPr/>
          <p:nvPr/>
        </p:nvSpPr>
        <p:spPr>
          <a:xfrm>
            <a:off x="4252874" y="2157984"/>
            <a:ext cx="3685946" cy="4178808"/>
          </a:xfrm>
          <a:prstGeom prst="roundRect">
            <a:avLst>
              <a:gd name="adj" fmla="val 2977"/>
            </a:avLst>
          </a:prstGeom>
          <a:solidFill>
            <a:srgbClr val="0E1F1C"/>
          </a:solidFill>
          <a:ln w="12700">
            <a:solidFill>
              <a:srgbClr val="4FE0D2"/>
            </a:solidFill>
            <a:prstDash val="solid"/>
          </a:ln>
        </p:spPr>
      </p:sp>
      <p:pic>
        <p:nvPicPr>
          <p:cNvPr id="18" name="Image 3" descr="/home/claude/deck/assets/image-7-4.png"/>
          <p:cNvPicPr>
            <a:picLocks noChangeAspect="1"/>
          </p:cNvPicPr>
          <p:nvPr/>
        </p:nvPicPr>
        <p:blipFill>
          <a:blip r:embed="rId6"/>
          <a:stretch>
            <a:fillRect/>
          </a:stretch>
        </p:blipFill>
        <p:spPr>
          <a:xfrm>
            <a:off x="4852264" y="2286000"/>
            <a:ext cx="2487168" cy="2487168"/>
          </a:xfrm>
          <a:prstGeom prst="rect">
            <a:avLst/>
          </a:prstGeom>
        </p:spPr>
      </p:pic>
      <p:sp>
        <p:nvSpPr>
          <p:cNvPr id="19" name="Shape 13"/>
          <p:cNvSpPr/>
          <p:nvPr/>
        </p:nvSpPr>
        <p:spPr>
          <a:xfrm>
            <a:off x="4833976" y="2267712"/>
            <a:ext cx="882213" cy="882213"/>
          </a:xfrm>
          <a:prstGeom prst="rect">
            <a:avLst/>
          </a:prstGeom>
          <a:solidFill>
            <a:srgbClr val="05070C"/>
          </a:solidFill>
          <a:ln w="12700">
            <a:solidFill>
              <a:srgbClr val="263349"/>
            </a:solidFill>
            <a:prstDash val="solid"/>
          </a:ln>
        </p:spPr>
      </p:sp>
      <p:pic>
        <p:nvPicPr>
          <p:cNvPr id="20" name="Image 4" descr="/home/claude/deck/assets/image-7-3.png"/>
          <p:cNvPicPr>
            <a:picLocks noChangeAspect="1"/>
          </p:cNvPicPr>
          <p:nvPr/>
        </p:nvPicPr>
        <p:blipFill>
          <a:blip r:embed="rId7"/>
          <a:stretch>
            <a:fillRect/>
          </a:stretch>
        </p:blipFill>
        <p:spPr>
          <a:xfrm>
            <a:off x="4852264" y="2286000"/>
            <a:ext cx="845637" cy="845637"/>
          </a:xfrm>
          <a:prstGeom prst="rect">
            <a:avLst/>
          </a:prstGeom>
        </p:spPr>
      </p:pic>
      <p:sp>
        <p:nvSpPr>
          <p:cNvPr id="21" name="Text 14"/>
          <p:cNvSpPr txBox="1"/>
          <p:nvPr/>
        </p:nvSpPr>
        <p:spPr>
          <a:xfrm>
            <a:off x="4380890" y="4956048"/>
            <a:ext cx="3429914" cy="292608"/>
          </a:xfrm>
          <a:prstGeom prst="rect">
            <a:avLst/>
          </a:prstGeom>
          <a:noFill/>
          <a:ln/>
        </p:spPr>
        <p:txBody>
          <a:bodyPr wrap="square" lIns="0" tIns="0" rIns="0" bIns="0" rtlCol="0" anchor="ctr"/>
          <a:lstStyle/>
          <a:p>
            <a:pPr marL="0" indent="0">
              <a:buNone/>
            </a:pPr>
            <a:r>
              <a:rPr lang="en-US" sz="1450" b="1" kern="0" spc="100" dirty="0">
                <a:solidFill>
                  <a:srgbClr val="F3F6FA"/>
                </a:solidFill>
                <a:latin typeface="Calibri" pitchFamily="34" charset="0"/>
                <a:ea typeface="Calibri" pitchFamily="34" charset="-122"/>
                <a:cs typeface="Calibri" pitchFamily="34" charset="-120"/>
              </a:rPr>
              <a:t>RADIAL</a:t>
            </a:r>
            <a:endParaRPr lang="en-US" sz="1450" dirty="0"/>
          </a:p>
        </p:txBody>
      </p:sp>
      <p:sp>
        <p:nvSpPr>
          <p:cNvPr id="22" name="Text 15"/>
          <p:cNvSpPr txBox="1"/>
          <p:nvPr/>
        </p:nvSpPr>
        <p:spPr>
          <a:xfrm>
            <a:off x="4380890" y="5257800"/>
            <a:ext cx="3429914" cy="256032"/>
          </a:xfrm>
          <a:prstGeom prst="rect">
            <a:avLst/>
          </a:prstGeom>
          <a:noFill/>
          <a:ln/>
        </p:spPr>
        <p:txBody>
          <a:bodyPr wrap="square" lIns="0" tIns="0" rIns="0" bIns="0" rtlCol="0" anchor="ctr"/>
          <a:lstStyle/>
          <a:p>
            <a:pPr marL="0" indent="0">
              <a:buNone/>
            </a:pPr>
            <a:r>
              <a:rPr lang="en-US" sz="1300" b="1" dirty="0">
                <a:solidFill>
                  <a:srgbClr val="8C9AB2"/>
                </a:solidFill>
                <a:latin typeface="Calibri" pitchFamily="34" charset="0"/>
                <a:ea typeface="Calibri" pitchFamily="34" charset="-122"/>
                <a:cs typeface="Calibri" pitchFamily="34" charset="-120"/>
              </a:rPr>
              <a:t>22.84 dB · SSIM 0.489</a:t>
            </a:r>
            <a:endParaRPr lang="en-US" sz="1300" dirty="0"/>
          </a:p>
        </p:txBody>
      </p:sp>
      <p:sp>
        <p:nvSpPr>
          <p:cNvPr id="23" name="Text 16"/>
          <p:cNvSpPr txBox="1"/>
          <p:nvPr/>
        </p:nvSpPr>
        <p:spPr>
          <a:xfrm>
            <a:off x="4380890" y="5550408"/>
            <a:ext cx="3429914" cy="685800"/>
          </a:xfrm>
          <a:prstGeom prst="rect">
            <a:avLst/>
          </a:prstGeom>
          <a:noFill/>
          <a:ln/>
        </p:spPr>
        <p:txBody>
          <a:bodyPr wrap="square" lIns="0" tIns="0" rIns="0" bIns="0" rtlCol="0" anchor="ctr"/>
          <a:lstStyle/>
          <a:p>
            <a:pPr marL="0" indent="0">
              <a:lnSpc>
                <a:spcPts val="1450"/>
              </a:lnSpc>
              <a:buNone/>
            </a:pPr>
            <a:r>
              <a:rPr lang="en-US" sz="1150" dirty="0">
                <a:solidFill>
                  <a:srgbClr val="8C9AB2"/>
                </a:solidFill>
                <a:latin typeface="Calibri" pitchFamily="34" charset="0"/>
                <a:ea typeface="Calibri" pitchFamily="34" charset="-122"/>
                <a:cs typeface="Calibri" pitchFamily="34" charset="-120"/>
              </a:rPr>
              <a:t>Streaks that radiate from bright edges, because spoke gaps widen with radius.</a:t>
            </a:r>
            <a:endParaRPr lang="en-US" sz="1150" dirty="0"/>
          </a:p>
        </p:txBody>
      </p:sp>
      <p:sp>
        <p:nvSpPr>
          <p:cNvPr id="24" name="Shape 17"/>
          <p:cNvSpPr/>
          <p:nvPr/>
        </p:nvSpPr>
        <p:spPr>
          <a:xfrm>
            <a:off x="7975397" y="2157984"/>
            <a:ext cx="3685946" cy="4178808"/>
          </a:xfrm>
          <a:prstGeom prst="roundRect">
            <a:avLst>
              <a:gd name="adj" fmla="val 2977"/>
            </a:avLst>
          </a:prstGeom>
          <a:solidFill>
            <a:srgbClr val="121A28"/>
          </a:solidFill>
          <a:ln w="12700">
            <a:solidFill>
              <a:srgbClr val="263349"/>
            </a:solidFill>
            <a:prstDash val="solid"/>
          </a:ln>
        </p:spPr>
      </p:sp>
      <p:sp>
        <p:nvSpPr>
          <p:cNvPr id="25" name="Shape 18"/>
          <p:cNvSpPr/>
          <p:nvPr/>
        </p:nvSpPr>
        <p:spPr>
          <a:xfrm>
            <a:off x="7975397" y="2157984"/>
            <a:ext cx="3685946" cy="4178808"/>
          </a:xfrm>
          <a:prstGeom prst="roundRect">
            <a:avLst>
              <a:gd name="adj" fmla="val 2977"/>
            </a:avLst>
          </a:prstGeom>
          <a:solidFill>
            <a:srgbClr val="0E1F1C"/>
          </a:solidFill>
          <a:ln w="12700">
            <a:solidFill>
              <a:srgbClr val="4FE0D2"/>
            </a:solidFill>
            <a:prstDash val="solid"/>
          </a:ln>
        </p:spPr>
      </p:sp>
      <p:pic>
        <p:nvPicPr>
          <p:cNvPr id="26" name="Image 5" descr="/home/claude/deck/assets/image-7-6.png"/>
          <p:cNvPicPr>
            <a:picLocks noChangeAspect="1"/>
          </p:cNvPicPr>
          <p:nvPr/>
        </p:nvPicPr>
        <p:blipFill>
          <a:blip r:embed="rId8"/>
          <a:stretch>
            <a:fillRect/>
          </a:stretch>
        </p:blipFill>
        <p:spPr>
          <a:xfrm>
            <a:off x="8574786" y="2286000"/>
            <a:ext cx="2487168" cy="2487168"/>
          </a:xfrm>
          <a:prstGeom prst="rect">
            <a:avLst/>
          </a:prstGeom>
        </p:spPr>
      </p:pic>
      <p:sp>
        <p:nvSpPr>
          <p:cNvPr id="27" name="Shape 19"/>
          <p:cNvSpPr/>
          <p:nvPr/>
        </p:nvSpPr>
        <p:spPr>
          <a:xfrm>
            <a:off x="8556498" y="2267712"/>
            <a:ext cx="882213" cy="882213"/>
          </a:xfrm>
          <a:prstGeom prst="rect">
            <a:avLst/>
          </a:prstGeom>
          <a:solidFill>
            <a:srgbClr val="05070C"/>
          </a:solidFill>
          <a:ln w="12700">
            <a:solidFill>
              <a:srgbClr val="263349"/>
            </a:solidFill>
            <a:prstDash val="solid"/>
          </a:ln>
        </p:spPr>
      </p:sp>
      <p:pic>
        <p:nvPicPr>
          <p:cNvPr id="28" name="Image 6" descr="/home/claude/deck/assets/image-7-5.png"/>
          <p:cNvPicPr>
            <a:picLocks noChangeAspect="1"/>
          </p:cNvPicPr>
          <p:nvPr/>
        </p:nvPicPr>
        <p:blipFill>
          <a:blip r:embed="rId9"/>
          <a:stretch>
            <a:fillRect/>
          </a:stretch>
        </p:blipFill>
        <p:spPr>
          <a:xfrm>
            <a:off x="8574786" y="2286000"/>
            <a:ext cx="845637" cy="845637"/>
          </a:xfrm>
          <a:prstGeom prst="rect">
            <a:avLst/>
          </a:prstGeom>
        </p:spPr>
      </p:pic>
      <p:sp>
        <p:nvSpPr>
          <p:cNvPr id="29" name="Text 20"/>
          <p:cNvSpPr txBox="1"/>
          <p:nvPr/>
        </p:nvSpPr>
        <p:spPr>
          <a:xfrm>
            <a:off x="8103413" y="4956048"/>
            <a:ext cx="3429914" cy="292608"/>
          </a:xfrm>
          <a:prstGeom prst="rect">
            <a:avLst/>
          </a:prstGeom>
          <a:noFill/>
          <a:ln/>
        </p:spPr>
        <p:txBody>
          <a:bodyPr wrap="square" lIns="0" tIns="0" rIns="0" bIns="0" rtlCol="0" anchor="ctr"/>
          <a:lstStyle/>
          <a:p>
            <a:pPr marL="0" indent="0">
              <a:buNone/>
            </a:pPr>
            <a:r>
              <a:rPr lang="en-US" sz="1450" b="1" kern="0" spc="100" dirty="0">
                <a:solidFill>
                  <a:srgbClr val="F3F6FA"/>
                </a:solidFill>
                <a:latin typeface="Calibri" pitchFamily="34" charset="0"/>
                <a:ea typeface="Calibri" pitchFamily="34" charset="-122"/>
                <a:cs typeface="Calibri" pitchFamily="34" charset="-120"/>
              </a:rPr>
              <a:t>VARIABLE DENSITY</a:t>
            </a:r>
            <a:endParaRPr lang="en-US" sz="1450" dirty="0"/>
          </a:p>
        </p:txBody>
      </p:sp>
      <p:sp>
        <p:nvSpPr>
          <p:cNvPr id="30" name="Text 21"/>
          <p:cNvSpPr txBox="1"/>
          <p:nvPr/>
        </p:nvSpPr>
        <p:spPr>
          <a:xfrm>
            <a:off x="8103413" y="5257800"/>
            <a:ext cx="3429914" cy="256032"/>
          </a:xfrm>
          <a:prstGeom prst="rect">
            <a:avLst/>
          </a:prstGeom>
          <a:noFill/>
          <a:ln/>
        </p:spPr>
        <p:txBody>
          <a:bodyPr wrap="square" lIns="0" tIns="0" rIns="0" bIns="0" rtlCol="0" anchor="ctr"/>
          <a:lstStyle/>
          <a:p>
            <a:pPr marL="0" indent="0">
              <a:buNone/>
            </a:pPr>
            <a:r>
              <a:rPr lang="en-US" sz="1300" b="1" dirty="0">
                <a:solidFill>
                  <a:srgbClr val="8C9AB2"/>
                </a:solidFill>
                <a:latin typeface="Calibri" pitchFamily="34" charset="0"/>
                <a:ea typeface="Calibri" pitchFamily="34" charset="-122"/>
                <a:cs typeface="Calibri" pitchFamily="34" charset="-120"/>
              </a:rPr>
              <a:t>30.37 dB · SSIM 0.807</a:t>
            </a:r>
            <a:endParaRPr lang="en-US" sz="1300" dirty="0"/>
          </a:p>
        </p:txBody>
      </p:sp>
      <p:sp>
        <p:nvSpPr>
          <p:cNvPr id="31" name="Text 22"/>
          <p:cNvSpPr txBox="1"/>
          <p:nvPr/>
        </p:nvSpPr>
        <p:spPr>
          <a:xfrm>
            <a:off x="8103413" y="5550408"/>
            <a:ext cx="3429914" cy="685800"/>
          </a:xfrm>
          <a:prstGeom prst="rect">
            <a:avLst/>
          </a:prstGeom>
          <a:noFill/>
          <a:ln/>
        </p:spPr>
        <p:txBody>
          <a:bodyPr wrap="square" lIns="0" tIns="0" rIns="0" bIns="0" rtlCol="0" anchor="ctr"/>
          <a:lstStyle/>
          <a:p>
            <a:pPr marL="0" indent="0">
              <a:lnSpc>
                <a:spcPts val="1450"/>
              </a:lnSpc>
              <a:buNone/>
            </a:pPr>
            <a:r>
              <a:rPr lang="en-US" sz="1150" dirty="0">
                <a:solidFill>
                  <a:srgbClr val="8C9AB2"/>
                </a:solidFill>
                <a:latin typeface="Calibri" pitchFamily="34" charset="0"/>
                <a:ea typeface="Calibri" pitchFamily="34" charset="-122"/>
                <a:cs typeface="Calibri" pitchFamily="34" charset="-120"/>
              </a:rPr>
              <a:t>Incoherent grain instead of structure — exactly what compressed sensing needs.</a:t>
            </a:r>
            <a:endParaRPr lang="en-US" sz="1150" dirty="0"/>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set>
                                      <p:cBhvr>
                                        <p:cTn id="7" dur="1" fill="hold">
                                          <p:stCondLst>
                                            <p:cond delay="0"/>
                                          </p:stCondLst>
                                        </p:cTn>
                                        <p:tgtEl>
                                          <p:spTgt spid="9"/>
                                        </p:tgtEl>
                                        <p:attrNameLst>
                                          <p:attrName>style.visibility</p:attrName>
                                        </p:attrNameLst>
                                      </p:cBhvr>
                                      <p:to>
                                        <p:strVal val="visible"/>
                                      </p:to>
                                    </p:set>
                                    <p:set>
                                      <p:cBhvr>
                                        <p:cTn id="8" dur="1" fill="hold">
                                          <p:stCondLst>
                                            <p:cond delay="0"/>
                                          </p:stCondLst>
                                        </p:cTn>
                                        <p:tgtEl>
                                          <p:spTgt spid="10"/>
                                        </p:tgtEl>
                                        <p:attrNameLst>
                                          <p:attrName>style.visibility</p:attrName>
                                        </p:attrNameLst>
                                      </p:cBhvr>
                                      <p:to>
                                        <p:strVal val="visible"/>
                                      </p:to>
                                    </p:set>
                                    <p:set>
                                      <p:cBhvr>
                                        <p:cTn id="9" dur="1" fill="hold">
                                          <p:stCondLst>
                                            <p:cond delay="0"/>
                                          </p:stCondLst>
                                        </p:cTn>
                                        <p:tgtEl>
                                          <p:spTgt spid="11"/>
                                        </p:tgtEl>
                                        <p:attrNameLst>
                                          <p:attrName>style.visibility</p:attrName>
                                        </p:attrNameLst>
                                      </p:cBhvr>
                                      <p:to>
                                        <p:strVal val="visible"/>
                                      </p:to>
                                    </p:set>
                                    <p:set>
                                      <p:cBhvr>
                                        <p:cTn id="10" dur="1" fill="hold">
                                          <p:stCondLst>
                                            <p:cond delay="0"/>
                                          </p:stCondLst>
                                        </p:cTn>
                                        <p:tgtEl>
                                          <p:spTgt spid="12"/>
                                        </p:tgtEl>
                                        <p:attrNameLst>
                                          <p:attrName>style.visibility</p:attrName>
                                        </p:attrNameLst>
                                      </p:cBhvr>
                                      <p:to>
                                        <p:strVal val="visible"/>
                                      </p:to>
                                    </p:set>
                                    <p:set>
                                      <p:cBhvr>
                                        <p:cTn id="11" dur="1" fill="hold">
                                          <p:stCondLst>
                                            <p:cond delay="0"/>
                                          </p:stCondLst>
                                        </p:cTn>
                                        <p:tgtEl>
                                          <p:spTgt spid="13"/>
                                        </p:tgtEl>
                                        <p:attrNameLst>
                                          <p:attrName>style.visibility</p:attrName>
                                        </p:attrNameLst>
                                      </p:cBhvr>
                                      <p:to>
                                        <p:strVal val="visible"/>
                                      </p:to>
                                    </p:set>
                                    <p:set>
                                      <p:cBhvr>
                                        <p:cTn id="12" dur="1" fill="hold">
                                          <p:stCondLst>
                                            <p:cond delay="0"/>
                                          </p:stCondLst>
                                        </p:cTn>
                                        <p:tgtEl>
                                          <p:spTgt spid="14"/>
                                        </p:tgtEl>
                                        <p:attrNameLst>
                                          <p:attrName>style.visibility</p:attrName>
                                        </p:attrNameLst>
                                      </p:cBhvr>
                                      <p:to>
                                        <p:strVal val="visible"/>
                                      </p:to>
                                    </p:set>
                                    <p:set>
                                      <p:cBhvr>
                                        <p:cTn id="13" dur="1" fill="hold">
                                          <p:stCondLst>
                                            <p:cond delay="0"/>
                                          </p:stCondLst>
                                        </p:cTn>
                                        <p:tgtEl>
                                          <p:spTgt spid="1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set>
                                      <p:cBhvr>
                                        <p:cTn id="18" dur="1" fill="hold">
                                          <p:stCondLst>
                                            <p:cond delay="0"/>
                                          </p:stCondLst>
                                        </p:cTn>
                                        <p:tgtEl>
                                          <p:spTgt spid="17"/>
                                        </p:tgtEl>
                                        <p:attrNameLst>
                                          <p:attrName>style.visibility</p:attrName>
                                        </p:attrNameLst>
                                      </p:cBhvr>
                                      <p:to>
                                        <p:strVal val="visible"/>
                                      </p:to>
                                    </p:set>
                                    <p:set>
                                      <p:cBhvr>
                                        <p:cTn id="19" dur="1" fill="hold">
                                          <p:stCondLst>
                                            <p:cond delay="0"/>
                                          </p:stCondLst>
                                        </p:cTn>
                                        <p:tgtEl>
                                          <p:spTgt spid="18"/>
                                        </p:tgtEl>
                                        <p:attrNameLst>
                                          <p:attrName>style.visibility</p:attrName>
                                        </p:attrNameLst>
                                      </p:cBhvr>
                                      <p:to>
                                        <p:strVal val="visible"/>
                                      </p:to>
                                    </p:set>
                                    <p:set>
                                      <p:cBhvr>
                                        <p:cTn id="20" dur="1" fill="hold">
                                          <p:stCondLst>
                                            <p:cond delay="0"/>
                                          </p:stCondLst>
                                        </p:cTn>
                                        <p:tgtEl>
                                          <p:spTgt spid="19"/>
                                        </p:tgtEl>
                                        <p:attrNameLst>
                                          <p:attrName>style.visibility</p:attrName>
                                        </p:attrNameLst>
                                      </p:cBhvr>
                                      <p:to>
                                        <p:strVal val="visible"/>
                                      </p:to>
                                    </p:set>
                                    <p:set>
                                      <p:cBhvr>
                                        <p:cTn id="21" dur="1" fill="hold">
                                          <p:stCondLst>
                                            <p:cond delay="0"/>
                                          </p:stCondLst>
                                        </p:cTn>
                                        <p:tgtEl>
                                          <p:spTgt spid="20"/>
                                        </p:tgtEl>
                                        <p:attrNameLst>
                                          <p:attrName>style.visibility</p:attrName>
                                        </p:attrNameLst>
                                      </p:cBhvr>
                                      <p:to>
                                        <p:strVal val="visible"/>
                                      </p:to>
                                    </p:set>
                                    <p:set>
                                      <p:cBhvr>
                                        <p:cTn id="22" dur="1" fill="hold">
                                          <p:stCondLst>
                                            <p:cond delay="0"/>
                                          </p:stCondLst>
                                        </p:cTn>
                                        <p:tgtEl>
                                          <p:spTgt spid="21"/>
                                        </p:tgtEl>
                                        <p:attrNameLst>
                                          <p:attrName>style.visibility</p:attrName>
                                        </p:attrNameLst>
                                      </p:cBhvr>
                                      <p:to>
                                        <p:strVal val="visible"/>
                                      </p:to>
                                    </p:set>
                                    <p:set>
                                      <p:cBhvr>
                                        <p:cTn id="23" dur="1" fill="hold">
                                          <p:stCondLst>
                                            <p:cond delay="0"/>
                                          </p:stCondLst>
                                        </p:cTn>
                                        <p:tgtEl>
                                          <p:spTgt spid="22"/>
                                        </p:tgtEl>
                                        <p:attrNameLst>
                                          <p:attrName>style.visibility</p:attrName>
                                        </p:attrNameLst>
                                      </p:cBhvr>
                                      <p:to>
                                        <p:strVal val="visible"/>
                                      </p:to>
                                    </p:set>
                                    <p:set>
                                      <p:cBhvr>
                                        <p:cTn id="24" dur="1" fill="hold">
                                          <p:stCondLst>
                                            <p:cond delay="0"/>
                                          </p:stCondLst>
                                        </p:cTn>
                                        <p:tgtEl>
                                          <p:spTgt spid="23"/>
                                        </p:tgtEl>
                                        <p:attrNameLst>
                                          <p:attrName>style.visibility</p:attrName>
                                        </p:attrNameLst>
                                      </p:cBhvr>
                                      <p:to>
                                        <p:strVal val="visible"/>
                                      </p:to>
                                    </p:set>
                                    <p:set>
                                      <p:cBhvr>
                                        <p:cTn id="25" dur="1" fill="hold">
                                          <p:stCondLst>
                                            <p:cond delay="0"/>
                                          </p:stCondLst>
                                        </p:cTn>
                                        <p:tgtEl>
                                          <p:spTgt spid="9"/>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4"/>
                                        </p:tgtEl>
                                        <p:attrNameLst>
                                          <p:attrName>style.visibility</p:attrName>
                                        </p:attrNameLst>
                                      </p:cBhvr>
                                      <p:to>
                                        <p:strVal val="visible"/>
                                      </p:to>
                                    </p:set>
                                    <p:set>
                                      <p:cBhvr>
                                        <p:cTn id="30" dur="1" fill="hold">
                                          <p:stCondLst>
                                            <p:cond delay="0"/>
                                          </p:stCondLst>
                                        </p:cTn>
                                        <p:tgtEl>
                                          <p:spTgt spid="25"/>
                                        </p:tgtEl>
                                        <p:attrNameLst>
                                          <p:attrName>style.visibility</p:attrName>
                                        </p:attrNameLst>
                                      </p:cBhvr>
                                      <p:to>
                                        <p:strVal val="visible"/>
                                      </p:to>
                                    </p:set>
                                    <p:set>
                                      <p:cBhvr>
                                        <p:cTn id="31" dur="1" fill="hold">
                                          <p:stCondLst>
                                            <p:cond delay="0"/>
                                          </p:stCondLst>
                                        </p:cTn>
                                        <p:tgtEl>
                                          <p:spTgt spid="26"/>
                                        </p:tgtEl>
                                        <p:attrNameLst>
                                          <p:attrName>style.visibility</p:attrName>
                                        </p:attrNameLst>
                                      </p:cBhvr>
                                      <p:to>
                                        <p:strVal val="visible"/>
                                      </p:to>
                                    </p:set>
                                    <p:set>
                                      <p:cBhvr>
                                        <p:cTn id="32" dur="1" fill="hold">
                                          <p:stCondLst>
                                            <p:cond delay="0"/>
                                          </p:stCondLst>
                                        </p:cTn>
                                        <p:tgtEl>
                                          <p:spTgt spid="27"/>
                                        </p:tgtEl>
                                        <p:attrNameLst>
                                          <p:attrName>style.visibility</p:attrName>
                                        </p:attrNameLst>
                                      </p:cBhvr>
                                      <p:to>
                                        <p:strVal val="visible"/>
                                      </p:to>
                                    </p:set>
                                    <p:set>
                                      <p:cBhvr>
                                        <p:cTn id="33" dur="1" fill="hold">
                                          <p:stCondLst>
                                            <p:cond delay="0"/>
                                          </p:stCondLst>
                                        </p:cTn>
                                        <p:tgtEl>
                                          <p:spTgt spid="28"/>
                                        </p:tgtEl>
                                        <p:attrNameLst>
                                          <p:attrName>style.visibility</p:attrName>
                                        </p:attrNameLst>
                                      </p:cBhvr>
                                      <p:to>
                                        <p:strVal val="visible"/>
                                      </p:to>
                                    </p:set>
                                    <p:set>
                                      <p:cBhvr>
                                        <p:cTn id="34" dur="1" fill="hold">
                                          <p:stCondLst>
                                            <p:cond delay="0"/>
                                          </p:stCondLst>
                                        </p:cTn>
                                        <p:tgtEl>
                                          <p:spTgt spid="29"/>
                                        </p:tgtEl>
                                        <p:attrNameLst>
                                          <p:attrName>style.visibility</p:attrName>
                                        </p:attrNameLst>
                                      </p:cBhvr>
                                      <p:to>
                                        <p:strVal val="visible"/>
                                      </p:to>
                                    </p:set>
                                    <p:set>
                                      <p:cBhvr>
                                        <p:cTn id="35" dur="1" fill="hold">
                                          <p:stCondLst>
                                            <p:cond delay="0"/>
                                          </p:stCondLst>
                                        </p:cTn>
                                        <p:tgtEl>
                                          <p:spTgt spid="30"/>
                                        </p:tgtEl>
                                        <p:attrNameLst>
                                          <p:attrName>style.visibility</p:attrName>
                                        </p:attrNameLst>
                                      </p:cBhvr>
                                      <p:to>
                                        <p:strVal val="visible"/>
                                      </p:to>
                                    </p:set>
                                    <p:set>
                                      <p:cBhvr>
                                        <p:cTn id="36" dur="1" fill="hold">
                                          <p:stCondLst>
                                            <p:cond delay="0"/>
                                          </p:stCondLst>
                                        </p:cTn>
                                        <p:tgtEl>
                                          <p:spTgt spid="31"/>
                                        </p:tgtEl>
                                        <p:attrNameLst>
                                          <p:attrName>style.visibility</p:attrName>
                                        </p:attrNameLst>
                                      </p:cBhvr>
                                      <p:to>
                                        <p:strVal val="visible"/>
                                      </p:to>
                                    </p:set>
                                    <p:set>
                                      <p:cBhvr>
                                        <p:cTn id="37"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STAGE 2 · NOISE.PY</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AFIF SIDDIQUE · 2305123</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3024"/>
              </a:lnSpc>
              <a:buNone/>
            </a:pPr>
            <a:r>
              <a:rPr lang="en-US" sz="2700" b="1" dirty="0">
                <a:solidFill>
                  <a:srgbClr val="F3F6FA"/>
                </a:solidFill>
                <a:latin typeface="Cambria" pitchFamily="34" charset="0"/>
                <a:ea typeface="Cambria" pitchFamily="34" charset="-122"/>
                <a:cs typeface="Cambria" pitchFamily="34" charset="-120"/>
              </a:rPr>
              <a:t>Scanner noise belongs in k-space, not the image.</a:t>
            </a:r>
            <a:endParaRPr lang="en-US" sz="27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07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Shape 5"/>
          <p:cNvSpPr/>
          <p:nvPr/>
        </p:nvSpPr>
        <p:spPr>
          <a:xfrm>
            <a:off x="8780983" y="2185416"/>
            <a:ext cx="2898648" cy="3172968"/>
          </a:xfrm>
          <a:prstGeom prst="roundRect">
            <a:avLst>
              <a:gd name="adj" fmla="val 3155"/>
            </a:avLst>
          </a:prstGeom>
          <a:solidFill>
            <a:srgbClr val="121A28"/>
          </a:solidFill>
          <a:ln w="12700">
            <a:solidFill>
              <a:srgbClr val="263349"/>
            </a:solidFill>
            <a:prstDash val="solid"/>
          </a:ln>
        </p:spPr>
      </p:sp>
      <p:pic>
        <p:nvPicPr>
          <p:cNvPr id="9" name="Image 1" descr="/home/claude/deck/assets/image-11-1.png"/>
          <p:cNvPicPr>
            <a:picLocks noChangeAspect="1"/>
          </p:cNvPicPr>
          <p:nvPr/>
        </p:nvPicPr>
        <p:blipFill>
          <a:blip r:embed="rId4"/>
          <a:stretch>
            <a:fillRect/>
          </a:stretch>
        </p:blipFill>
        <p:spPr>
          <a:xfrm>
            <a:off x="8927287" y="2331720"/>
            <a:ext cx="2606040" cy="2606040"/>
          </a:xfrm>
          <a:prstGeom prst="rect">
            <a:avLst/>
          </a:prstGeom>
        </p:spPr>
      </p:pic>
      <p:sp>
        <p:nvSpPr>
          <p:cNvPr id="10" name="Text 6"/>
          <p:cNvSpPr txBox="1"/>
          <p:nvPr/>
        </p:nvSpPr>
        <p:spPr>
          <a:xfrm>
            <a:off x="8927287" y="5029200"/>
            <a:ext cx="2606040" cy="274320"/>
          </a:xfrm>
          <a:prstGeom prst="rect">
            <a:avLst/>
          </a:prstGeom>
          <a:noFill/>
          <a:ln/>
        </p:spPr>
        <p:txBody>
          <a:bodyPr wrap="square" lIns="0" tIns="0" rIns="0" bIns="0" rtlCol="0" anchor="ctr"/>
          <a:lstStyle/>
          <a:p>
            <a:pPr marL="0" indent="0" algn="ctr">
              <a:buNone/>
            </a:pPr>
            <a:r>
              <a:rPr lang="en-US" sz="1150" b="1" dirty="0">
                <a:solidFill>
                  <a:srgbClr val="F3F6FA"/>
                </a:solidFill>
                <a:latin typeface="Calibri" pitchFamily="34" charset="0"/>
                <a:ea typeface="Calibri" pitchFamily="34" charset="-122"/>
                <a:cs typeface="Calibri" pitchFamily="34" charset="-120"/>
              </a:rPr>
              <a:t>20 dB k-space SNR, full sampling</a:t>
            </a:r>
            <a:endParaRPr lang="en-US" sz="1150" dirty="0"/>
          </a:p>
        </p:txBody>
      </p:sp>
      <p:sp>
        <p:nvSpPr>
          <p:cNvPr id="11" name="Text 7"/>
          <p:cNvSpPr txBox="1"/>
          <p:nvPr/>
        </p:nvSpPr>
        <p:spPr>
          <a:xfrm>
            <a:off x="8927287" y="5285232"/>
            <a:ext cx="2606040" cy="274320"/>
          </a:xfrm>
          <a:prstGeom prst="rect">
            <a:avLst/>
          </a:prstGeom>
          <a:noFill/>
          <a:ln/>
        </p:spPr>
        <p:txBody>
          <a:bodyPr wrap="square" lIns="0" tIns="0" rIns="0" bIns="0" rtlCol="0" anchor="ctr"/>
          <a:lstStyle/>
          <a:p>
            <a:pPr marL="0" indent="0" algn="ctr">
              <a:buNone/>
            </a:pPr>
            <a:r>
              <a:rPr lang="en-US" sz="1100" dirty="0">
                <a:solidFill>
                  <a:srgbClr val="8C9AB2"/>
                </a:solidFill>
                <a:latin typeface="Calibri" pitchFamily="34" charset="0"/>
                <a:ea typeface="Calibri" pitchFamily="34" charset="-122"/>
                <a:cs typeface="Calibri" pitchFamily="34" charset="-120"/>
              </a:rPr>
              <a:t>Rician background haze, not black</a:t>
            </a:r>
            <a:endParaRPr lang="en-US" sz="1100" dirty="0"/>
          </a:p>
        </p:txBody>
      </p:sp>
      <p:sp>
        <p:nvSpPr>
          <p:cNvPr id="12" name="Text 8"/>
          <p:cNvSpPr txBox="1"/>
          <p:nvPr/>
        </p:nvSpPr>
        <p:spPr>
          <a:xfrm>
            <a:off x="658368" y="2331720"/>
            <a:ext cx="7811719" cy="685800"/>
          </a:xfrm>
          <a:prstGeom prst="rect">
            <a:avLst/>
          </a:prstGeom>
          <a:noFill/>
          <a:ln/>
        </p:spPr>
        <p:txBody>
          <a:bodyPr wrap="square" lIns="0" tIns="0" rIns="0" bIns="0" rtlCol="0" anchor="ctr"/>
          <a:lstStyle/>
          <a:p>
            <a:pPr marL="0" indent="0">
              <a:buNone/>
            </a:pPr>
            <a:r>
              <a:rPr lang="en-US" sz="4200" b="1" dirty="0">
                <a:solidFill>
                  <a:srgbClr val="4FE0D2"/>
                </a:solidFill>
                <a:latin typeface="Cambria" pitchFamily="34" charset="0"/>
                <a:ea typeface="Cambria" pitchFamily="34" charset="-122"/>
                <a:cs typeface="Cambria" pitchFamily="34" charset="-120"/>
              </a:rPr>
              <a:t>32.01 dB</a:t>
            </a:r>
            <a:endParaRPr lang="en-US" sz="4200" dirty="0"/>
          </a:p>
        </p:txBody>
      </p:sp>
      <p:sp>
        <p:nvSpPr>
          <p:cNvPr id="13" name="Text 9"/>
          <p:cNvSpPr txBox="1"/>
          <p:nvPr/>
        </p:nvSpPr>
        <p:spPr>
          <a:xfrm>
            <a:off x="658368" y="3063240"/>
            <a:ext cx="7811719" cy="594360"/>
          </a:xfrm>
          <a:prstGeom prst="rect">
            <a:avLst/>
          </a:prstGeom>
          <a:noFill/>
          <a:ln/>
        </p:spPr>
        <p:txBody>
          <a:bodyPr wrap="square" lIns="0" tIns="0" rIns="0" bIns="0" rtlCol="0" anchor="ctr"/>
          <a:lstStyle/>
          <a:p>
            <a:pPr marL="0" indent="0">
              <a:lnSpc>
                <a:spcPts val="1700"/>
              </a:lnSpc>
              <a:buNone/>
            </a:pPr>
            <a:r>
              <a:rPr lang="en-US" sz="1350" dirty="0">
                <a:solidFill>
                  <a:srgbClr val="8C9AB2"/>
                </a:solidFill>
                <a:latin typeface="Calibri" pitchFamily="34" charset="0"/>
                <a:ea typeface="Calibri" pitchFamily="34" charset="-122"/>
                <a:cs typeface="Calibri" pitchFamily="34" charset="-120"/>
              </a:rPr>
              <a:t>PSNR at 20 dB k-space SNR, full sampling · SSIM 0.716 — the app reads the SNR back to verify it.</a:t>
            </a:r>
            <a:endParaRPr lang="en-US" sz="1350" dirty="0"/>
          </a:p>
        </p:txBody>
      </p:sp>
      <p:sp>
        <p:nvSpPr>
          <p:cNvPr id="14" name="Text 10"/>
          <p:cNvSpPr txBox="1"/>
          <p:nvPr/>
        </p:nvSpPr>
        <p:spPr>
          <a:xfrm>
            <a:off x="658368" y="3867912"/>
            <a:ext cx="7811719" cy="502920"/>
          </a:xfrm>
          <a:prstGeom prst="rect">
            <a:avLst/>
          </a:prstGeom>
          <a:noFill/>
          <a:ln/>
        </p:spPr>
        <p:txBody>
          <a:bodyPr wrap="square" lIns="0" tIns="0" rIns="0" bIns="0" rtlCol="0" anchor="ctr"/>
          <a:lstStyle/>
          <a:p>
            <a:pPr marL="0" indent="0">
              <a:lnSpc>
                <a:spcPts val="1600"/>
              </a:lnSpc>
              <a:buNone/>
            </a:pPr>
            <a:r>
              <a:rPr lang="en-US" sz="1250" b="1" dirty="0">
                <a:solidFill>
                  <a:srgbClr val="F3F6FA"/>
                </a:solidFill>
                <a:latin typeface="Calibri" pitchFamily="34" charset="0"/>
                <a:ea typeface="Calibri" pitchFamily="34" charset="-122"/>
                <a:cs typeface="Calibri" pitchFamily="34" charset="-120"/>
              </a:rPr>
              <a:t>Complex.  </a:t>
            </a:r>
            <a:r>
              <a:rPr lang="en-US" sz="1250" dirty="0">
                <a:solidFill>
                  <a:srgbClr val="8C9AB2"/>
                </a:solidFill>
                <a:latin typeface="Calibri" pitchFamily="34" charset="0"/>
                <a:ea typeface="Calibri" pitchFamily="34" charset="-122"/>
                <a:cs typeface="Calibri" pitchFamily="34" charset="-120"/>
              </a:rPr>
              <a:t>The receiver has independent I and Q channels.</a:t>
            </a:r>
            <a:endParaRPr lang="en-US" sz="1250" dirty="0"/>
          </a:p>
        </p:txBody>
      </p:sp>
      <p:sp>
        <p:nvSpPr>
          <p:cNvPr id="15" name="Text 11"/>
          <p:cNvSpPr txBox="1"/>
          <p:nvPr/>
        </p:nvSpPr>
        <p:spPr>
          <a:xfrm>
            <a:off x="658368" y="4379976"/>
            <a:ext cx="7811719" cy="502920"/>
          </a:xfrm>
          <a:prstGeom prst="rect">
            <a:avLst/>
          </a:prstGeom>
          <a:noFill/>
          <a:ln/>
        </p:spPr>
        <p:txBody>
          <a:bodyPr wrap="square" lIns="0" tIns="0" rIns="0" bIns="0" rtlCol="0" anchor="ctr"/>
          <a:lstStyle/>
          <a:p>
            <a:pPr marL="0" indent="0">
              <a:lnSpc>
                <a:spcPts val="1600"/>
              </a:lnSpc>
              <a:buNone/>
            </a:pPr>
            <a:r>
              <a:rPr lang="en-US" sz="1250" b="1" dirty="0">
                <a:solidFill>
                  <a:srgbClr val="F3F6FA"/>
                </a:solidFill>
                <a:latin typeface="Calibri" pitchFamily="34" charset="0"/>
                <a:ea typeface="Calibri" pitchFamily="34" charset="-122"/>
                <a:cs typeface="Calibri" pitchFamily="34" charset="-120"/>
              </a:rPr>
              <a:t>White in k-space.  </a:t>
            </a:r>
            <a:r>
              <a:rPr lang="en-US" sz="1250" dirty="0">
                <a:solidFill>
                  <a:srgbClr val="8C9AB2"/>
                </a:solidFill>
                <a:latin typeface="Calibri" pitchFamily="34" charset="0"/>
                <a:ea typeface="Calibri" pitchFamily="34" charset="-122"/>
                <a:cs typeface="Calibri" pitchFamily="34" charset="-120"/>
              </a:rPr>
              <a:t>The same σ swamps tiny outer samples but barely touches DC — detail fades before contrast.</a:t>
            </a:r>
            <a:endParaRPr lang="en-US" sz="1250" dirty="0"/>
          </a:p>
        </p:txBody>
      </p:sp>
      <p:sp>
        <p:nvSpPr>
          <p:cNvPr id="16" name="Text 12"/>
          <p:cNvSpPr txBox="1"/>
          <p:nvPr/>
        </p:nvSpPr>
        <p:spPr>
          <a:xfrm>
            <a:off x="658368" y="4892040"/>
            <a:ext cx="7811719" cy="502920"/>
          </a:xfrm>
          <a:prstGeom prst="rect">
            <a:avLst/>
          </a:prstGeom>
          <a:noFill/>
          <a:ln/>
        </p:spPr>
        <p:txBody>
          <a:bodyPr wrap="square" lIns="0" tIns="0" rIns="0" bIns="0" rtlCol="0" anchor="ctr"/>
          <a:lstStyle/>
          <a:p>
            <a:pPr marL="0" indent="0">
              <a:lnSpc>
                <a:spcPts val="1600"/>
              </a:lnSpc>
              <a:buNone/>
            </a:pPr>
            <a:r>
              <a:rPr lang="en-US" sz="1250" b="1" dirty="0">
                <a:solidFill>
                  <a:srgbClr val="F3F6FA"/>
                </a:solidFill>
                <a:latin typeface="Calibri" pitchFamily="34" charset="0"/>
                <a:ea typeface="Calibri" pitchFamily="34" charset="-122"/>
                <a:cs typeface="Calibri" pitchFamily="34" charset="-120"/>
              </a:rPr>
              <a:t>Mask first, then noise.  </a:t>
            </a:r>
            <a:r>
              <a:rPr lang="en-US" sz="1250" dirty="0">
                <a:solidFill>
                  <a:srgbClr val="8C9AB2"/>
                </a:solidFill>
                <a:latin typeface="Calibri" pitchFamily="34" charset="0"/>
                <a:ea typeface="Calibri" pitchFamily="34" charset="-122"/>
                <a:cs typeface="Calibri" pitchFamily="34" charset="-120"/>
              </a:rPr>
              <a:t>A 25% scan admits about 25% of the noise energy, as SNR ∝ √N predicts.</a:t>
            </a:r>
            <a:endParaRPr lang="en-US" sz="1250" dirty="0"/>
          </a:p>
        </p:txBody>
      </p:sp>
      <p:sp>
        <p:nvSpPr>
          <p:cNvPr id="17" name="Text 13"/>
          <p:cNvSpPr txBox="1"/>
          <p:nvPr/>
        </p:nvSpPr>
        <p:spPr>
          <a:xfrm>
            <a:off x="658368" y="5449824"/>
            <a:ext cx="7811719" cy="365760"/>
          </a:xfrm>
          <a:prstGeom prst="rect">
            <a:avLst/>
          </a:prstGeom>
          <a:noFill/>
          <a:ln/>
        </p:spPr>
        <p:txBody>
          <a:bodyPr wrap="square" lIns="0" tIns="0" rIns="0" bIns="0" rtlCol="0" anchor="ctr"/>
          <a:lstStyle/>
          <a:p>
            <a:pPr marL="0" indent="0">
              <a:buNone/>
            </a:pPr>
            <a:r>
              <a:rPr lang="en-US" sz="1550" i="1" dirty="0">
                <a:solidFill>
                  <a:srgbClr val="FFA85B"/>
                </a:solidFill>
                <a:latin typeface="Cambria" pitchFamily="34" charset="0"/>
                <a:ea typeface="Cambria" pitchFamily="34" charset="-122"/>
                <a:cs typeface="Cambria" pitchFamily="34" charset="-120"/>
              </a:rPr>
              <a:t>σ  =  √( mean|K|² / (2 · 10^(SNR/10)) )</a:t>
            </a:r>
            <a:endParaRPr lang="en-US" sz="155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STAGE 2 · DENOISE.PY</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AFIF SIDDIQUE · 2305123</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2912"/>
              </a:lnSpc>
              <a:buNone/>
            </a:pPr>
            <a:r>
              <a:rPr lang="en-US" sz="2600" b="1" dirty="0">
                <a:solidFill>
                  <a:srgbClr val="F3F6FA"/>
                </a:solidFill>
                <a:latin typeface="Cambria" pitchFamily="34" charset="0"/>
                <a:ea typeface="Cambria" pitchFamily="34" charset="-122"/>
                <a:cs typeface="Cambria" pitchFamily="34" charset="-120"/>
              </a:rPr>
              <a:t>Taking the noise back out — keep the edges, drop the grain.</a:t>
            </a:r>
            <a:endParaRPr lang="en-US" sz="26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08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Text 5"/>
          <p:cNvSpPr txBox="1"/>
          <p:nvPr/>
        </p:nvSpPr>
        <p:spPr>
          <a:xfrm>
            <a:off x="658368" y="1783080"/>
            <a:ext cx="10600639" cy="365760"/>
          </a:xfrm>
          <a:prstGeom prst="rect">
            <a:avLst/>
          </a:prstGeom>
          <a:noFill/>
          <a:ln/>
        </p:spPr>
        <p:txBody>
          <a:bodyPr wrap="square" lIns="0" tIns="0" rIns="0" bIns="0" rtlCol="0" anchor="ctr"/>
          <a:lstStyle/>
          <a:p>
            <a:pPr marL="0" indent="0">
              <a:buNone/>
            </a:pPr>
            <a:r>
              <a:rPr lang="en-US" sz="1800" i="1" dirty="0">
                <a:solidFill>
                  <a:srgbClr val="4FE0D2"/>
                </a:solidFill>
                <a:latin typeface="Cambria" pitchFamily="34" charset="0"/>
                <a:ea typeface="Cambria" pitchFamily="34" charset="-122"/>
                <a:cs typeface="Cambria" pitchFamily="34" charset="-120"/>
              </a:rPr>
              <a:t>soft(w, T) = sign(w) · max(|w| − T, 0)        T = σ² / σ_signal  per band</a:t>
            </a:r>
            <a:endParaRPr lang="en-US" sz="1800" dirty="0"/>
          </a:p>
        </p:txBody>
      </p:sp>
      <p:sp>
        <p:nvSpPr>
          <p:cNvPr id="9" name="Text 6"/>
          <p:cNvSpPr txBox="1"/>
          <p:nvPr/>
        </p:nvSpPr>
        <p:spPr>
          <a:xfrm>
            <a:off x="658368" y="2212848"/>
            <a:ext cx="10600639" cy="566928"/>
          </a:xfrm>
          <a:prstGeom prst="rect">
            <a:avLst/>
          </a:prstGeom>
          <a:noFill/>
          <a:ln/>
        </p:spPr>
        <p:txBody>
          <a:bodyPr wrap="square" lIns="0" tIns="0" rIns="0" bIns="0" rtlCol="0" anchor="ctr"/>
          <a:lstStyle/>
          <a:p>
            <a:pPr marL="0" indent="0">
              <a:lnSpc>
                <a:spcPts val="1700"/>
              </a:lnSpc>
              <a:buNone/>
            </a:pPr>
            <a:r>
              <a:rPr lang="en-US" sz="1300" dirty="0">
                <a:solidFill>
                  <a:srgbClr val="8C9AB2"/>
                </a:solidFill>
                <a:latin typeface="Calibri" pitchFamily="34" charset="0"/>
                <a:ea typeface="Calibri" pitchFamily="34" charset="-122"/>
                <a:cs typeface="Calibri" pitchFamily="34" charset="-120"/>
              </a:rPr>
              <a:t>In a wavelet basis, anatomy is a few large coefficients and white noise is many small ones. Soft thresholding (BayesShrink, db4, 3 levels) removes the small ones. The noise level is estimated from the image alone: σ̂ = 0.0208 vs 0.0232 true.</a:t>
            </a:r>
            <a:endParaRPr lang="en-US" sz="1300" dirty="0"/>
          </a:p>
        </p:txBody>
      </p:sp>
      <p:sp>
        <p:nvSpPr>
          <p:cNvPr id="10" name="Shape 7"/>
          <p:cNvSpPr/>
          <p:nvPr/>
        </p:nvSpPr>
        <p:spPr>
          <a:xfrm>
            <a:off x="658368" y="2926080"/>
            <a:ext cx="3429914" cy="2675077"/>
          </a:xfrm>
          <a:prstGeom prst="roundRect">
            <a:avLst>
              <a:gd name="adj" fmla="val 3418"/>
            </a:avLst>
          </a:prstGeom>
          <a:solidFill>
            <a:srgbClr val="121A28"/>
          </a:solidFill>
          <a:ln w="12700">
            <a:solidFill>
              <a:srgbClr val="263349"/>
            </a:solidFill>
            <a:prstDash val="solid"/>
          </a:ln>
        </p:spPr>
      </p:sp>
      <p:pic>
        <p:nvPicPr>
          <p:cNvPr id="11" name="Image 1" descr="/home/claude/deck/assets/image-14-1.png"/>
          <p:cNvPicPr>
            <a:picLocks noChangeAspect="1"/>
          </p:cNvPicPr>
          <p:nvPr/>
        </p:nvPicPr>
        <p:blipFill>
          <a:blip r:embed="rId4"/>
          <a:stretch>
            <a:fillRect/>
          </a:stretch>
        </p:blipFill>
        <p:spPr>
          <a:xfrm>
            <a:off x="1515847" y="3072384"/>
            <a:ext cx="1714957" cy="1714957"/>
          </a:xfrm>
          <a:prstGeom prst="rect">
            <a:avLst/>
          </a:prstGeom>
        </p:spPr>
      </p:pic>
      <p:sp>
        <p:nvSpPr>
          <p:cNvPr id="12" name="Text 8"/>
          <p:cNvSpPr txBox="1"/>
          <p:nvPr/>
        </p:nvSpPr>
        <p:spPr>
          <a:xfrm>
            <a:off x="841248" y="4897069"/>
            <a:ext cx="3064154" cy="274320"/>
          </a:xfrm>
          <a:prstGeom prst="rect">
            <a:avLst/>
          </a:prstGeom>
          <a:noFill/>
          <a:ln/>
        </p:spPr>
        <p:txBody>
          <a:bodyPr wrap="square" lIns="0" tIns="0" rIns="0" bIns="0" rtlCol="0" anchor="ctr"/>
          <a:lstStyle/>
          <a:p>
            <a:pPr marL="0" indent="0">
              <a:buNone/>
            </a:pPr>
            <a:r>
              <a:rPr lang="en-US" sz="1350" b="1" kern="0" spc="100" dirty="0">
                <a:solidFill>
                  <a:srgbClr val="F3F6FA"/>
                </a:solidFill>
                <a:latin typeface="Calibri" pitchFamily="34" charset="0"/>
                <a:ea typeface="Calibri" pitchFamily="34" charset="-122"/>
                <a:cs typeface="Calibri" pitchFamily="34" charset="-120"/>
              </a:rPr>
              <a:t>NOISY · 20 dB</a:t>
            </a:r>
            <a:endParaRPr lang="en-US" sz="1350" dirty="0"/>
          </a:p>
        </p:txBody>
      </p:sp>
      <p:sp>
        <p:nvSpPr>
          <p:cNvPr id="13" name="Text 9"/>
          <p:cNvSpPr txBox="1"/>
          <p:nvPr/>
        </p:nvSpPr>
        <p:spPr>
          <a:xfrm>
            <a:off x="841248" y="5189677"/>
            <a:ext cx="3064154" cy="274320"/>
          </a:xfrm>
          <a:prstGeom prst="rect">
            <a:avLst/>
          </a:prstGeom>
          <a:noFill/>
          <a:ln/>
        </p:spPr>
        <p:txBody>
          <a:bodyPr wrap="square" lIns="0" tIns="0" rIns="0" bIns="0" rtlCol="0" anchor="ctr"/>
          <a:lstStyle/>
          <a:p>
            <a:pPr marL="0" indent="0">
              <a:buNone/>
            </a:pPr>
            <a:r>
              <a:rPr lang="en-US" sz="1150" dirty="0">
                <a:solidFill>
                  <a:srgbClr val="8C9AB2"/>
                </a:solidFill>
                <a:latin typeface="Calibri" pitchFamily="34" charset="0"/>
                <a:ea typeface="Calibri" pitchFamily="34" charset="-122"/>
                <a:cs typeface="Calibri" pitchFamily="34" charset="-120"/>
              </a:rPr>
              <a:t>Input  ·  32.01 dB · 0.716</a:t>
            </a:r>
            <a:endParaRPr lang="en-US" sz="1150" dirty="0"/>
          </a:p>
        </p:txBody>
      </p:sp>
      <p:sp>
        <p:nvSpPr>
          <p:cNvPr id="14" name="Shape 10"/>
          <p:cNvSpPr/>
          <p:nvPr/>
        </p:nvSpPr>
        <p:spPr>
          <a:xfrm>
            <a:off x="4380890" y="2926080"/>
            <a:ext cx="3429914" cy="2675077"/>
          </a:xfrm>
          <a:prstGeom prst="roundRect">
            <a:avLst>
              <a:gd name="adj" fmla="val 3418"/>
            </a:avLst>
          </a:prstGeom>
          <a:solidFill>
            <a:srgbClr val="121A28"/>
          </a:solidFill>
          <a:ln w="12700">
            <a:solidFill>
              <a:srgbClr val="263349"/>
            </a:solidFill>
            <a:prstDash val="solid"/>
          </a:ln>
        </p:spPr>
      </p:sp>
      <p:pic>
        <p:nvPicPr>
          <p:cNvPr id="15" name="Image 2" descr="/home/claude/deck/assets/image-14-2.png"/>
          <p:cNvPicPr>
            <a:picLocks noChangeAspect="1"/>
          </p:cNvPicPr>
          <p:nvPr/>
        </p:nvPicPr>
        <p:blipFill>
          <a:blip r:embed="rId5"/>
          <a:stretch>
            <a:fillRect/>
          </a:stretch>
        </p:blipFill>
        <p:spPr>
          <a:xfrm>
            <a:off x="5238369" y="3072384"/>
            <a:ext cx="1714957" cy="1714957"/>
          </a:xfrm>
          <a:prstGeom prst="rect">
            <a:avLst/>
          </a:prstGeom>
        </p:spPr>
      </p:pic>
      <p:sp>
        <p:nvSpPr>
          <p:cNvPr id="16" name="Text 11"/>
          <p:cNvSpPr txBox="1"/>
          <p:nvPr/>
        </p:nvSpPr>
        <p:spPr>
          <a:xfrm>
            <a:off x="4563770" y="4897069"/>
            <a:ext cx="3064154" cy="274320"/>
          </a:xfrm>
          <a:prstGeom prst="rect">
            <a:avLst/>
          </a:prstGeom>
          <a:noFill/>
          <a:ln/>
        </p:spPr>
        <p:txBody>
          <a:bodyPr wrap="square" lIns="0" tIns="0" rIns="0" bIns="0" rtlCol="0" anchor="ctr"/>
          <a:lstStyle/>
          <a:p>
            <a:pPr marL="0" indent="0">
              <a:buNone/>
            </a:pPr>
            <a:r>
              <a:rPr lang="en-US" sz="1350" b="1" kern="0" spc="100" dirty="0">
                <a:solidFill>
                  <a:srgbClr val="F3F6FA"/>
                </a:solidFill>
                <a:latin typeface="Calibri" pitchFamily="34" charset="0"/>
                <a:ea typeface="Calibri" pitchFamily="34" charset="-122"/>
                <a:cs typeface="Calibri" pitchFamily="34" charset="-120"/>
              </a:rPr>
              <a:t>WAVELET DENOISED</a:t>
            </a:r>
            <a:endParaRPr lang="en-US" sz="1350" dirty="0"/>
          </a:p>
        </p:txBody>
      </p:sp>
      <p:sp>
        <p:nvSpPr>
          <p:cNvPr id="17" name="Text 12"/>
          <p:cNvSpPr txBox="1"/>
          <p:nvPr/>
        </p:nvSpPr>
        <p:spPr>
          <a:xfrm>
            <a:off x="4563770" y="5189677"/>
            <a:ext cx="3064154" cy="274320"/>
          </a:xfrm>
          <a:prstGeom prst="rect">
            <a:avLst/>
          </a:prstGeom>
          <a:noFill/>
          <a:ln/>
        </p:spPr>
        <p:txBody>
          <a:bodyPr wrap="square" lIns="0" tIns="0" rIns="0" bIns="0" rtlCol="0" anchor="ctr"/>
          <a:lstStyle/>
          <a:p>
            <a:pPr marL="0" indent="0">
              <a:buNone/>
            </a:pPr>
            <a:r>
              <a:rPr lang="en-US" sz="1150" dirty="0">
                <a:solidFill>
                  <a:srgbClr val="8C9AB2"/>
                </a:solidFill>
                <a:latin typeface="Calibri" pitchFamily="34" charset="0"/>
                <a:ea typeface="Calibri" pitchFamily="34" charset="-122"/>
                <a:cs typeface="Calibri" pitchFamily="34" charset="-120"/>
              </a:rPr>
              <a:t>Output  ·  33.77 dB · 0.779</a:t>
            </a:r>
            <a:endParaRPr lang="en-US" sz="1150" dirty="0"/>
          </a:p>
        </p:txBody>
      </p:sp>
      <p:sp>
        <p:nvSpPr>
          <p:cNvPr id="18" name="Shape 13"/>
          <p:cNvSpPr/>
          <p:nvPr/>
        </p:nvSpPr>
        <p:spPr>
          <a:xfrm>
            <a:off x="8103413" y="2926080"/>
            <a:ext cx="3429914" cy="2675077"/>
          </a:xfrm>
          <a:prstGeom prst="roundRect">
            <a:avLst>
              <a:gd name="adj" fmla="val 3418"/>
            </a:avLst>
          </a:prstGeom>
          <a:solidFill>
            <a:srgbClr val="121A28"/>
          </a:solidFill>
          <a:ln w="12700">
            <a:solidFill>
              <a:srgbClr val="263349"/>
            </a:solidFill>
            <a:prstDash val="solid"/>
          </a:ln>
        </p:spPr>
      </p:sp>
      <p:pic>
        <p:nvPicPr>
          <p:cNvPr id="19" name="Image 3" descr="/home/claude/deck/assets/image-14-3.png"/>
          <p:cNvPicPr>
            <a:picLocks noChangeAspect="1"/>
          </p:cNvPicPr>
          <p:nvPr/>
        </p:nvPicPr>
        <p:blipFill>
          <a:blip r:embed="rId6"/>
          <a:stretch>
            <a:fillRect/>
          </a:stretch>
        </p:blipFill>
        <p:spPr>
          <a:xfrm>
            <a:off x="8960891" y="3072384"/>
            <a:ext cx="1714957" cy="1714957"/>
          </a:xfrm>
          <a:prstGeom prst="rect">
            <a:avLst/>
          </a:prstGeom>
        </p:spPr>
      </p:pic>
      <p:sp>
        <p:nvSpPr>
          <p:cNvPr id="20" name="Text 14"/>
          <p:cNvSpPr txBox="1"/>
          <p:nvPr/>
        </p:nvSpPr>
        <p:spPr>
          <a:xfrm>
            <a:off x="8286293" y="4897069"/>
            <a:ext cx="3064154" cy="274320"/>
          </a:xfrm>
          <a:prstGeom prst="rect">
            <a:avLst/>
          </a:prstGeom>
          <a:noFill/>
          <a:ln/>
        </p:spPr>
        <p:txBody>
          <a:bodyPr wrap="square" lIns="0" tIns="0" rIns="0" bIns="0" rtlCol="0" anchor="ctr"/>
          <a:lstStyle/>
          <a:p>
            <a:pPr marL="0" indent="0">
              <a:buNone/>
            </a:pPr>
            <a:r>
              <a:rPr lang="en-US" sz="1350" b="1" kern="0" spc="100" dirty="0">
                <a:solidFill>
                  <a:srgbClr val="F3F6FA"/>
                </a:solidFill>
                <a:latin typeface="Calibri" pitchFamily="34" charset="0"/>
                <a:ea typeface="Calibri" pitchFamily="34" charset="-122"/>
                <a:cs typeface="Calibri" pitchFamily="34" charset="-120"/>
              </a:rPr>
              <a:t>REMOVED</a:t>
            </a:r>
            <a:endParaRPr lang="en-US" sz="1350" dirty="0"/>
          </a:p>
        </p:txBody>
      </p:sp>
      <p:sp>
        <p:nvSpPr>
          <p:cNvPr id="21" name="Text 15"/>
          <p:cNvSpPr txBox="1"/>
          <p:nvPr/>
        </p:nvSpPr>
        <p:spPr>
          <a:xfrm>
            <a:off x="8286293" y="5189677"/>
            <a:ext cx="3064154" cy="274320"/>
          </a:xfrm>
          <a:prstGeom prst="rect">
            <a:avLst/>
          </a:prstGeom>
          <a:noFill/>
          <a:ln/>
        </p:spPr>
        <p:txBody>
          <a:bodyPr wrap="square" lIns="0" tIns="0" rIns="0" bIns="0" rtlCol="0" anchor="ctr"/>
          <a:lstStyle/>
          <a:p>
            <a:pPr marL="0" indent="0">
              <a:buNone/>
            </a:pPr>
            <a:r>
              <a:rPr lang="en-US" sz="1150" dirty="0">
                <a:solidFill>
                  <a:srgbClr val="8C9AB2"/>
                </a:solidFill>
                <a:latin typeface="Calibri" pitchFamily="34" charset="0"/>
                <a:ea typeface="Calibri" pitchFamily="34" charset="-122"/>
                <a:cs typeface="Calibri" pitchFamily="34" charset="-120"/>
              </a:rPr>
              <a:t>Noisy − denoised  ·  grain + faint edges</a:t>
            </a:r>
            <a:endParaRPr lang="en-US" sz="1150" dirty="0"/>
          </a:p>
        </p:txBody>
      </p:sp>
      <p:sp>
        <p:nvSpPr>
          <p:cNvPr id="22" name="Text 16"/>
          <p:cNvSpPr txBox="1"/>
          <p:nvPr/>
        </p:nvSpPr>
        <p:spPr>
          <a:xfrm>
            <a:off x="658368" y="5756605"/>
            <a:ext cx="10874959" cy="457200"/>
          </a:xfrm>
          <a:prstGeom prst="rect">
            <a:avLst/>
          </a:prstGeom>
          <a:noFill/>
          <a:ln/>
        </p:spPr>
        <p:txBody>
          <a:bodyPr wrap="square" lIns="0" tIns="0" rIns="0" bIns="0" rtlCol="0" anchor="ctr"/>
          <a:lstStyle/>
          <a:p>
            <a:pPr marL="0" indent="0">
              <a:lnSpc>
                <a:spcPts val="1600"/>
              </a:lnSpc>
              <a:buNone/>
            </a:pPr>
            <a:r>
              <a:rPr lang="en-US" sz="1250" i="1" dirty="0">
                <a:solidFill>
                  <a:srgbClr val="FFA85B"/>
                </a:solidFill>
                <a:latin typeface="Calibri" pitchFamily="34" charset="0"/>
                <a:ea typeface="Calibri" pitchFamily="34" charset="-122"/>
                <a:cs typeface="Calibri" pitchFamily="34" charset="-120"/>
              </a:rPr>
              <a:t>Not free: at 10 dB SSIM rises 0.40 → 0.58, but on a knee at 30 dB fine texture is mistaken for noise and PSNR falls 39.3 → 37.2 dB.</a:t>
            </a:r>
            <a:endParaRPr lang="en-US" sz="125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STAGE 2 · MOTION.PY</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AFIF SIDDIQUE · 2305123</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2912"/>
              </a:lnSpc>
              <a:buNone/>
            </a:pPr>
            <a:r>
              <a:rPr lang="en-US" sz="2600" b="1" dirty="0">
                <a:solidFill>
                  <a:srgbClr val="F3F6FA"/>
                </a:solidFill>
                <a:latin typeface="Cambria" pitchFamily="34" charset="0"/>
                <a:ea typeface="Cambria" pitchFamily="34" charset="-122"/>
                <a:cs typeface="Cambria" pitchFamily="34" charset="-120"/>
              </a:rPr>
              <a:t>Patient motion, through the Fourier shift theorem.</a:t>
            </a:r>
            <a:endParaRPr lang="en-US" sz="26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09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Text 5"/>
          <p:cNvSpPr txBox="1"/>
          <p:nvPr/>
        </p:nvSpPr>
        <p:spPr>
          <a:xfrm>
            <a:off x="658368" y="1783080"/>
            <a:ext cx="10600639" cy="365760"/>
          </a:xfrm>
          <a:prstGeom prst="rect">
            <a:avLst/>
          </a:prstGeom>
          <a:noFill/>
          <a:ln/>
        </p:spPr>
        <p:txBody>
          <a:bodyPr wrap="square" lIns="0" tIns="0" rIns="0" bIns="0" rtlCol="0" anchor="ctr"/>
          <a:lstStyle/>
          <a:p>
            <a:pPr marL="0" indent="0">
              <a:buNone/>
            </a:pPr>
            <a:r>
              <a:rPr lang="en-US" sz="1800" i="1" dirty="0">
                <a:solidFill>
                  <a:srgbClr val="4FE0D2"/>
                </a:solidFill>
                <a:latin typeface="Cambria" pitchFamily="34" charset="0"/>
                <a:ea typeface="Cambria" pitchFamily="34" charset="-122"/>
                <a:cs typeface="Cambria" pitchFamily="34" charset="-120"/>
              </a:rPr>
              <a:t>f(x − a)  ⟷  F(k) · e^(−j2πka/N)</a:t>
            </a:r>
            <a:endParaRPr lang="en-US" sz="1800" dirty="0"/>
          </a:p>
        </p:txBody>
      </p:sp>
      <p:sp>
        <p:nvSpPr>
          <p:cNvPr id="9" name="Text 6"/>
          <p:cNvSpPr txBox="1"/>
          <p:nvPr/>
        </p:nvSpPr>
        <p:spPr>
          <a:xfrm>
            <a:off x="658368" y="2212848"/>
            <a:ext cx="10600639" cy="566928"/>
          </a:xfrm>
          <a:prstGeom prst="rect">
            <a:avLst/>
          </a:prstGeom>
          <a:noFill/>
          <a:ln/>
        </p:spPr>
        <p:txBody>
          <a:bodyPr wrap="square" lIns="0" tIns="0" rIns="0" bIns="0" rtlCol="0" anchor="ctr"/>
          <a:lstStyle/>
          <a:p>
            <a:pPr marL="0" indent="0">
              <a:lnSpc>
                <a:spcPts val="1700"/>
              </a:lnSpc>
              <a:buNone/>
            </a:pPr>
            <a:r>
              <a:rPr lang="en-US" sz="1300" dirty="0">
                <a:solidFill>
                  <a:srgbClr val="8C9AB2"/>
                </a:solidFill>
                <a:latin typeface="Calibri" pitchFamily="34" charset="0"/>
                <a:ea typeface="Calibri" pitchFamily="34" charset="-122"/>
                <a:cs typeface="Calibri" pitchFamily="34" charset="-120"/>
              </a:rPr>
              <a:t>A uniform shift only stamps a phase ramp — harmless. But a Cartesian scan fills one row per TR, so row index is time. Move mid-scan and rows carry different ramps, describing no single object.</a:t>
            </a:r>
            <a:endParaRPr lang="en-US" sz="1300" dirty="0"/>
          </a:p>
        </p:txBody>
      </p:sp>
      <p:sp>
        <p:nvSpPr>
          <p:cNvPr id="10" name="Shape 7"/>
          <p:cNvSpPr/>
          <p:nvPr/>
        </p:nvSpPr>
        <p:spPr>
          <a:xfrm>
            <a:off x="658368" y="2926080"/>
            <a:ext cx="3429914" cy="2675077"/>
          </a:xfrm>
          <a:prstGeom prst="roundRect">
            <a:avLst>
              <a:gd name="adj" fmla="val 3418"/>
            </a:avLst>
          </a:prstGeom>
          <a:solidFill>
            <a:srgbClr val="121A28"/>
          </a:solidFill>
          <a:ln w="12700">
            <a:solidFill>
              <a:srgbClr val="263349"/>
            </a:solidFill>
            <a:prstDash val="solid"/>
          </a:ln>
        </p:spPr>
      </p:sp>
      <p:pic>
        <p:nvPicPr>
          <p:cNvPr id="11" name="Image 1" descr="/home/claude/deck/assets/image-14-1.png"/>
          <p:cNvPicPr>
            <a:picLocks noChangeAspect="1"/>
          </p:cNvPicPr>
          <p:nvPr/>
        </p:nvPicPr>
        <p:blipFill>
          <a:blip r:embed="rId4"/>
          <a:stretch>
            <a:fillRect/>
          </a:stretch>
        </p:blipFill>
        <p:spPr>
          <a:xfrm>
            <a:off x="1515847" y="3072384"/>
            <a:ext cx="1714957" cy="1714957"/>
          </a:xfrm>
          <a:prstGeom prst="rect">
            <a:avLst/>
          </a:prstGeom>
        </p:spPr>
      </p:pic>
      <p:sp>
        <p:nvSpPr>
          <p:cNvPr id="12" name="Text 8"/>
          <p:cNvSpPr txBox="1"/>
          <p:nvPr/>
        </p:nvSpPr>
        <p:spPr>
          <a:xfrm>
            <a:off x="841248" y="4897069"/>
            <a:ext cx="3064154" cy="274320"/>
          </a:xfrm>
          <a:prstGeom prst="rect">
            <a:avLst/>
          </a:prstGeom>
          <a:noFill/>
          <a:ln/>
        </p:spPr>
        <p:txBody>
          <a:bodyPr wrap="square" lIns="0" tIns="0" rIns="0" bIns="0" rtlCol="0" anchor="ctr"/>
          <a:lstStyle/>
          <a:p>
            <a:pPr marL="0" indent="0">
              <a:buNone/>
            </a:pPr>
            <a:r>
              <a:rPr lang="en-US" sz="1350" b="1" kern="0" spc="100" dirty="0">
                <a:solidFill>
                  <a:srgbClr val="F3F6FA"/>
                </a:solidFill>
                <a:latin typeface="Calibri" pitchFamily="34" charset="0"/>
                <a:ea typeface="Calibri" pitchFamily="34" charset="-122"/>
                <a:cs typeface="Calibri" pitchFamily="34" charset="-120"/>
              </a:rPr>
              <a:t>SUDDEN JERK</a:t>
            </a:r>
            <a:endParaRPr lang="en-US" sz="1350" dirty="0"/>
          </a:p>
        </p:txBody>
      </p:sp>
      <p:sp>
        <p:nvSpPr>
          <p:cNvPr id="13" name="Text 9"/>
          <p:cNvSpPr txBox="1"/>
          <p:nvPr/>
        </p:nvSpPr>
        <p:spPr>
          <a:xfrm>
            <a:off x="841248" y="5189677"/>
            <a:ext cx="3064154" cy="274320"/>
          </a:xfrm>
          <a:prstGeom prst="rect">
            <a:avLst/>
          </a:prstGeom>
          <a:noFill/>
          <a:ln/>
        </p:spPr>
        <p:txBody>
          <a:bodyPr wrap="square" lIns="0" tIns="0" rIns="0" bIns="0" rtlCol="0" anchor="ctr"/>
          <a:lstStyle/>
          <a:p>
            <a:pPr marL="0" indent="0">
              <a:buNone/>
            </a:pPr>
            <a:r>
              <a:rPr lang="en-US" sz="1150" dirty="0">
                <a:solidFill>
                  <a:srgbClr val="8C9AB2"/>
                </a:solidFill>
                <a:latin typeface="Calibri" pitchFamily="34" charset="0"/>
                <a:ea typeface="Calibri" pitchFamily="34" charset="-122"/>
                <a:cs typeface="Calibri" pitchFamily="34" charset="-120"/>
              </a:rPr>
              <a:t>Discrete ghost  ·  22.75 dB · 0.793</a:t>
            </a:r>
            <a:endParaRPr lang="en-US" sz="1150" dirty="0"/>
          </a:p>
        </p:txBody>
      </p:sp>
      <p:sp>
        <p:nvSpPr>
          <p:cNvPr id="14" name="Shape 10"/>
          <p:cNvSpPr/>
          <p:nvPr/>
        </p:nvSpPr>
        <p:spPr>
          <a:xfrm>
            <a:off x="4380890" y="2926080"/>
            <a:ext cx="3429914" cy="2675077"/>
          </a:xfrm>
          <a:prstGeom prst="roundRect">
            <a:avLst>
              <a:gd name="adj" fmla="val 3418"/>
            </a:avLst>
          </a:prstGeom>
          <a:solidFill>
            <a:srgbClr val="121A28"/>
          </a:solidFill>
          <a:ln w="12700">
            <a:solidFill>
              <a:srgbClr val="263349"/>
            </a:solidFill>
            <a:prstDash val="solid"/>
          </a:ln>
        </p:spPr>
      </p:sp>
      <p:pic>
        <p:nvPicPr>
          <p:cNvPr id="15" name="Image 2" descr="/home/claude/deck/assets/image-14-2.png"/>
          <p:cNvPicPr>
            <a:picLocks noChangeAspect="1"/>
          </p:cNvPicPr>
          <p:nvPr/>
        </p:nvPicPr>
        <p:blipFill>
          <a:blip r:embed="rId5"/>
          <a:stretch>
            <a:fillRect/>
          </a:stretch>
        </p:blipFill>
        <p:spPr>
          <a:xfrm>
            <a:off x="5238369" y="3072384"/>
            <a:ext cx="1714957" cy="1714957"/>
          </a:xfrm>
          <a:prstGeom prst="rect">
            <a:avLst/>
          </a:prstGeom>
        </p:spPr>
      </p:pic>
      <p:sp>
        <p:nvSpPr>
          <p:cNvPr id="16" name="Text 11"/>
          <p:cNvSpPr txBox="1"/>
          <p:nvPr/>
        </p:nvSpPr>
        <p:spPr>
          <a:xfrm>
            <a:off x="4563770" y="4897069"/>
            <a:ext cx="3064154" cy="274320"/>
          </a:xfrm>
          <a:prstGeom prst="rect">
            <a:avLst/>
          </a:prstGeom>
          <a:noFill/>
          <a:ln/>
        </p:spPr>
        <p:txBody>
          <a:bodyPr wrap="square" lIns="0" tIns="0" rIns="0" bIns="0" rtlCol="0" anchor="ctr"/>
          <a:lstStyle/>
          <a:p>
            <a:pPr marL="0" indent="0">
              <a:buNone/>
            </a:pPr>
            <a:r>
              <a:rPr lang="en-US" sz="1350" b="1" kern="0" spc="100" dirty="0">
                <a:solidFill>
                  <a:srgbClr val="F3F6FA"/>
                </a:solidFill>
                <a:latin typeface="Calibri" pitchFamily="34" charset="0"/>
                <a:ea typeface="Calibri" pitchFamily="34" charset="-122"/>
                <a:cs typeface="Calibri" pitchFamily="34" charset="-120"/>
              </a:rPr>
              <a:t>SLOW DRIFT</a:t>
            </a:r>
            <a:endParaRPr lang="en-US" sz="1350" dirty="0"/>
          </a:p>
        </p:txBody>
      </p:sp>
      <p:sp>
        <p:nvSpPr>
          <p:cNvPr id="17" name="Text 12"/>
          <p:cNvSpPr txBox="1"/>
          <p:nvPr/>
        </p:nvSpPr>
        <p:spPr>
          <a:xfrm>
            <a:off x="4563770" y="5189677"/>
            <a:ext cx="3064154" cy="274320"/>
          </a:xfrm>
          <a:prstGeom prst="rect">
            <a:avLst/>
          </a:prstGeom>
          <a:noFill/>
          <a:ln/>
        </p:spPr>
        <p:txBody>
          <a:bodyPr wrap="square" lIns="0" tIns="0" rIns="0" bIns="0" rtlCol="0" anchor="ctr"/>
          <a:lstStyle/>
          <a:p>
            <a:pPr marL="0" indent="0">
              <a:buNone/>
            </a:pPr>
            <a:r>
              <a:rPr lang="en-US" sz="1150" dirty="0">
                <a:solidFill>
                  <a:srgbClr val="8C9AB2"/>
                </a:solidFill>
                <a:latin typeface="Calibri" pitchFamily="34" charset="0"/>
                <a:ea typeface="Calibri" pitchFamily="34" charset="-122"/>
                <a:cs typeface="Calibri" pitchFamily="34" charset="-120"/>
              </a:rPr>
              <a:t>Blur  ·  21.07 dB · 0.754</a:t>
            </a:r>
            <a:endParaRPr lang="en-US" sz="1150" dirty="0"/>
          </a:p>
        </p:txBody>
      </p:sp>
      <p:sp>
        <p:nvSpPr>
          <p:cNvPr id="18" name="Shape 13"/>
          <p:cNvSpPr/>
          <p:nvPr/>
        </p:nvSpPr>
        <p:spPr>
          <a:xfrm>
            <a:off x="8103413" y="2926080"/>
            <a:ext cx="3429914" cy="2675077"/>
          </a:xfrm>
          <a:prstGeom prst="roundRect">
            <a:avLst>
              <a:gd name="adj" fmla="val 3418"/>
            </a:avLst>
          </a:prstGeom>
          <a:solidFill>
            <a:srgbClr val="121A28"/>
          </a:solidFill>
          <a:ln w="12700">
            <a:solidFill>
              <a:srgbClr val="263349"/>
            </a:solidFill>
            <a:prstDash val="solid"/>
          </a:ln>
        </p:spPr>
      </p:sp>
      <p:pic>
        <p:nvPicPr>
          <p:cNvPr id="19" name="Image 3" descr="/home/claude/deck/assets/image-14-3.png"/>
          <p:cNvPicPr>
            <a:picLocks noChangeAspect="1"/>
          </p:cNvPicPr>
          <p:nvPr/>
        </p:nvPicPr>
        <p:blipFill>
          <a:blip r:embed="rId6"/>
          <a:stretch>
            <a:fillRect/>
          </a:stretch>
        </p:blipFill>
        <p:spPr>
          <a:xfrm>
            <a:off x="8960891" y="3072384"/>
            <a:ext cx="1714957" cy="1714957"/>
          </a:xfrm>
          <a:prstGeom prst="rect">
            <a:avLst/>
          </a:prstGeom>
        </p:spPr>
      </p:pic>
      <p:sp>
        <p:nvSpPr>
          <p:cNvPr id="20" name="Text 14"/>
          <p:cNvSpPr txBox="1"/>
          <p:nvPr/>
        </p:nvSpPr>
        <p:spPr>
          <a:xfrm>
            <a:off x="8286293" y="4897069"/>
            <a:ext cx="3064154" cy="274320"/>
          </a:xfrm>
          <a:prstGeom prst="rect">
            <a:avLst/>
          </a:prstGeom>
          <a:noFill/>
          <a:ln/>
        </p:spPr>
        <p:txBody>
          <a:bodyPr wrap="square" lIns="0" tIns="0" rIns="0" bIns="0" rtlCol="0" anchor="ctr"/>
          <a:lstStyle/>
          <a:p>
            <a:pPr marL="0" indent="0">
              <a:buNone/>
            </a:pPr>
            <a:r>
              <a:rPr lang="en-US" sz="1350" b="1" kern="0" spc="100" dirty="0">
                <a:solidFill>
                  <a:srgbClr val="F3F6FA"/>
                </a:solidFill>
                <a:latin typeface="Calibri" pitchFamily="34" charset="0"/>
                <a:ea typeface="Calibri" pitchFamily="34" charset="-122"/>
                <a:cs typeface="Calibri" pitchFamily="34" charset="-120"/>
              </a:rPr>
              <a:t>BREATHING</a:t>
            </a:r>
            <a:endParaRPr lang="en-US" sz="1350" dirty="0"/>
          </a:p>
        </p:txBody>
      </p:sp>
      <p:sp>
        <p:nvSpPr>
          <p:cNvPr id="21" name="Text 15"/>
          <p:cNvSpPr txBox="1"/>
          <p:nvPr/>
        </p:nvSpPr>
        <p:spPr>
          <a:xfrm>
            <a:off x="8286293" y="5189677"/>
            <a:ext cx="3064154" cy="274320"/>
          </a:xfrm>
          <a:prstGeom prst="rect">
            <a:avLst/>
          </a:prstGeom>
          <a:noFill/>
          <a:ln/>
        </p:spPr>
        <p:txBody>
          <a:bodyPr wrap="square" lIns="0" tIns="0" rIns="0" bIns="0" rtlCol="0" anchor="ctr"/>
          <a:lstStyle/>
          <a:p>
            <a:pPr marL="0" indent="0">
              <a:buNone/>
            </a:pPr>
            <a:r>
              <a:rPr lang="en-US" sz="1150" dirty="0">
                <a:solidFill>
                  <a:srgbClr val="8C9AB2"/>
                </a:solidFill>
                <a:latin typeface="Calibri" pitchFamily="34" charset="0"/>
                <a:ea typeface="Calibri" pitchFamily="34" charset="-122"/>
                <a:cs typeface="Calibri" pitchFamily="34" charset="-120"/>
              </a:rPr>
              <a:t>Ghost train  ·  21.37 dB · 0.646</a:t>
            </a:r>
            <a:endParaRPr lang="en-US" sz="1150" dirty="0"/>
          </a:p>
        </p:txBody>
      </p:sp>
      <p:sp>
        <p:nvSpPr>
          <p:cNvPr id="22" name="Text 16"/>
          <p:cNvSpPr txBox="1"/>
          <p:nvPr/>
        </p:nvSpPr>
        <p:spPr>
          <a:xfrm>
            <a:off x="658368" y="5756605"/>
            <a:ext cx="10874959" cy="457200"/>
          </a:xfrm>
          <a:prstGeom prst="rect">
            <a:avLst/>
          </a:prstGeom>
          <a:noFill/>
          <a:ln/>
        </p:spPr>
        <p:txBody>
          <a:bodyPr wrap="square" lIns="0" tIns="0" rIns="0" bIns="0" rtlCol="0" anchor="ctr"/>
          <a:lstStyle/>
          <a:p>
            <a:pPr marL="0" indent="0">
              <a:lnSpc>
                <a:spcPts val="1600"/>
              </a:lnSpc>
              <a:buNone/>
            </a:pPr>
            <a:r>
              <a:rPr lang="en-US" sz="1250" i="1" dirty="0">
                <a:solidFill>
                  <a:srgbClr val="FFA85B"/>
                </a:solidFill>
                <a:latin typeface="Calibri" pitchFamily="34" charset="0"/>
                <a:ea typeface="Calibri" pitchFamily="34" charset="-122"/>
                <a:cs typeface="Calibri" pitchFamily="34" charset="-120"/>
              </a:rPr>
              <a:t>For scale: a 5 px jerk on a fully sampled scan scores below 8× variable-density undersampling (30.37 dB) — motion is often the bigger threat.</a:t>
            </a:r>
            <a:endParaRPr lang="en-US" sz="125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STAGE 2 · MOTION_CORRECTION.PY</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AFIF SIDDIQUE · 2305123</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2912"/>
              </a:lnSpc>
              <a:buNone/>
            </a:pPr>
            <a:r>
              <a:rPr lang="en-US" sz="2600" b="1" dirty="0">
                <a:solidFill>
                  <a:srgbClr val="F3F6FA"/>
                </a:solidFill>
                <a:latin typeface="Cambria" pitchFamily="34" charset="0"/>
                <a:ea typeface="Cambria" pitchFamily="34" charset="-122"/>
                <a:cs typeface="Cambria" pitchFamily="34" charset="-120"/>
              </a:rPr>
              <a:t>Motion destroys nothing — it only rotates phase.</a:t>
            </a:r>
            <a:endParaRPr lang="en-US" sz="26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10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Text 5"/>
          <p:cNvSpPr txBox="1"/>
          <p:nvPr/>
        </p:nvSpPr>
        <p:spPr>
          <a:xfrm>
            <a:off x="658368" y="1783080"/>
            <a:ext cx="10600639" cy="365760"/>
          </a:xfrm>
          <a:prstGeom prst="rect">
            <a:avLst/>
          </a:prstGeom>
          <a:noFill/>
          <a:ln/>
        </p:spPr>
        <p:txBody>
          <a:bodyPr wrap="square" lIns="0" tIns="0" rIns="0" bIns="0" rtlCol="0" anchor="ctr"/>
          <a:lstStyle/>
          <a:p>
            <a:pPr marL="0" indent="0">
              <a:buNone/>
            </a:pPr>
            <a:r>
              <a:rPr lang="en-US" sz="1800" i="1" dirty="0">
                <a:solidFill>
                  <a:srgbClr val="4FE0D2"/>
                </a:solidFill>
                <a:latin typeface="Cambria" pitchFamily="34" charset="0"/>
                <a:ea typeface="Cambria" pitchFamily="34" charset="-122"/>
                <a:cs typeface="Cambria" pitchFamily="34" charset="-120"/>
              </a:rPr>
              <a:t>corrected row = corrupted row · e^(+j2π·ky·dy/N)        |ramp| = 1  →  exact undo</a:t>
            </a:r>
            <a:endParaRPr lang="en-US" sz="1800" dirty="0"/>
          </a:p>
        </p:txBody>
      </p:sp>
      <p:sp>
        <p:nvSpPr>
          <p:cNvPr id="9" name="Text 6"/>
          <p:cNvSpPr txBox="1"/>
          <p:nvPr/>
        </p:nvSpPr>
        <p:spPr>
          <a:xfrm>
            <a:off x="658368" y="2212848"/>
            <a:ext cx="10600639" cy="566928"/>
          </a:xfrm>
          <a:prstGeom prst="rect">
            <a:avLst/>
          </a:prstGeom>
          <a:noFill/>
          <a:ln/>
        </p:spPr>
        <p:txBody>
          <a:bodyPr wrap="square" lIns="0" tIns="0" rIns="0" bIns="0" rtlCol="0" anchor="ctr"/>
          <a:lstStyle/>
          <a:p>
            <a:pPr marL="0" indent="0">
              <a:lnSpc>
                <a:spcPts val="1700"/>
              </a:lnSpc>
              <a:buNone/>
            </a:pPr>
            <a:r>
              <a:rPr lang="en-US" sz="1300" dirty="0">
                <a:solidFill>
                  <a:srgbClr val="8C9AB2"/>
                </a:solidFill>
                <a:latin typeface="Calibri" pitchFamily="34" charset="0"/>
                <a:ea typeface="Calibri" pitchFamily="34" charset="-122"/>
                <a:cs typeface="Calibri" pitchFamily="34" charset="-120"/>
              </a:rPr>
              <a:t>The whole problem is knowing dy for each row. The oracle uses the true motion, as a navigator echo or camera would. Autofocus sees only the corrupted scan: it tries candidate motions and keeps the sharpest image (lowest gradient entropy).</a:t>
            </a:r>
            <a:endParaRPr lang="en-US" sz="1300" dirty="0"/>
          </a:p>
        </p:txBody>
      </p:sp>
      <p:sp>
        <p:nvSpPr>
          <p:cNvPr id="10" name="Shape 7"/>
          <p:cNvSpPr/>
          <p:nvPr/>
        </p:nvSpPr>
        <p:spPr>
          <a:xfrm>
            <a:off x="658368" y="2926080"/>
            <a:ext cx="3429914" cy="2675077"/>
          </a:xfrm>
          <a:prstGeom prst="roundRect">
            <a:avLst>
              <a:gd name="adj" fmla="val 3418"/>
            </a:avLst>
          </a:prstGeom>
          <a:solidFill>
            <a:srgbClr val="121A28"/>
          </a:solidFill>
          <a:ln w="12700">
            <a:solidFill>
              <a:srgbClr val="263349"/>
            </a:solidFill>
            <a:prstDash val="solid"/>
          </a:ln>
        </p:spPr>
      </p:sp>
      <p:pic>
        <p:nvPicPr>
          <p:cNvPr id="11" name="Image 1" descr="/home/claude/deck/assets/image-14-1.png"/>
          <p:cNvPicPr>
            <a:picLocks noChangeAspect="1"/>
          </p:cNvPicPr>
          <p:nvPr/>
        </p:nvPicPr>
        <p:blipFill>
          <a:blip r:embed="rId4"/>
          <a:stretch>
            <a:fillRect/>
          </a:stretch>
        </p:blipFill>
        <p:spPr>
          <a:xfrm>
            <a:off x="1515847" y="3072384"/>
            <a:ext cx="1714957" cy="1714957"/>
          </a:xfrm>
          <a:prstGeom prst="rect">
            <a:avLst/>
          </a:prstGeom>
        </p:spPr>
      </p:pic>
      <p:sp>
        <p:nvSpPr>
          <p:cNvPr id="12" name="Text 8"/>
          <p:cNvSpPr txBox="1"/>
          <p:nvPr/>
        </p:nvSpPr>
        <p:spPr>
          <a:xfrm>
            <a:off x="841248" y="4897069"/>
            <a:ext cx="3064154" cy="274320"/>
          </a:xfrm>
          <a:prstGeom prst="rect">
            <a:avLst/>
          </a:prstGeom>
          <a:noFill/>
          <a:ln/>
        </p:spPr>
        <p:txBody>
          <a:bodyPr wrap="square" lIns="0" tIns="0" rIns="0" bIns="0" rtlCol="0" anchor="ctr"/>
          <a:lstStyle/>
          <a:p>
            <a:pPr marL="0" indent="0">
              <a:buNone/>
            </a:pPr>
            <a:r>
              <a:rPr lang="en-US" sz="1350" b="1" kern="0" spc="100" dirty="0">
                <a:solidFill>
                  <a:srgbClr val="F3F6FA"/>
                </a:solidFill>
                <a:latin typeface="Calibri" pitchFamily="34" charset="0"/>
                <a:ea typeface="Calibri" pitchFamily="34" charset="-122"/>
                <a:cs typeface="Calibri" pitchFamily="34" charset="-120"/>
              </a:rPr>
              <a:t>WITH MOTION</a:t>
            </a:r>
            <a:endParaRPr lang="en-US" sz="1350" dirty="0"/>
          </a:p>
        </p:txBody>
      </p:sp>
      <p:sp>
        <p:nvSpPr>
          <p:cNvPr id="13" name="Text 9"/>
          <p:cNvSpPr txBox="1"/>
          <p:nvPr/>
        </p:nvSpPr>
        <p:spPr>
          <a:xfrm>
            <a:off x="841248" y="5189677"/>
            <a:ext cx="3064154" cy="274320"/>
          </a:xfrm>
          <a:prstGeom prst="rect">
            <a:avLst/>
          </a:prstGeom>
          <a:noFill/>
          <a:ln/>
        </p:spPr>
        <p:txBody>
          <a:bodyPr wrap="square" lIns="0" tIns="0" rIns="0" bIns="0" rtlCol="0" anchor="ctr"/>
          <a:lstStyle/>
          <a:p>
            <a:pPr marL="0" indent="0">
              <a:buNone/>
            </a:pPr>
            <a:r>
              <a:rPr lang="en-US" sz="1150" dirty="0">
                <a:solidFill>
                  <a:srgbClr val="8C9AB2"/>
                </a:solidFill>
                <a:latin typeface="Calibri" pitchFamily="34" charset="0"/>
                <a:ea typeface="Calibri" pitchFamily="34" charset="-122"/>
                <a:cs typeface="Calibri" pitchFamily="34" charset="-120"/>
              </a:rPr>
              <a:t>Breathing 5 px × 4  ·  21.37 dB · 0.646</a:t>
            </a:r>
            <a:endParaRPr lang="en-US" sz="1150" dirty="0"/>
          </a:p>
        </p:txBody>
      </p:sp>
      <p:sp>
        <p:nvSpPr>
          <p:cNvPr id="14" name="Shape 10"/>
          <p:cNvSpPr/>
          <p:nvPr/>
        </p:nvSpPr>
        <p:spPr>
          <a:xfrm>
            <a:off x="4380890" y="2926080"/>
            <a:ext cx="3429914" cy="2675077"/>
          </a:xfrm>
          <a:prstGeom prst="roundRect">
            <a:avLst>
              <a:gd name="adj" fmla="val 3418"/>
            </a:avLst>
          </a:prstGeom>
          <a:solidFill>
            <a:srgbClr val="121A28"/>
          </a:solidFill>
          <a:ln w="12700">
            <a:solidFill>
              <a:srgbClr val="263349"/>
            </a:solidFill>
            <a:prstDash val="solid"/>
          </a:ln>
        </p:spPr>
      </p:sp>
      <p:pic>
        <p:nvPicPr>
          <p:cNvPr id="15" name="Image 2" descr="/home/claude/deck/assets/image-14-2.png"/>
          <p:cNvPicPr>
            <a:picLocks noChangeAspect="1"/>
          </p:cNvPicPr>
          <p:nvPr/>
        </p:nvPicPr>
        <p:blipFill>
          <a:blip r:embed="rId5"/>
          <a:stretch>
            <a:fillRect/>
          </a:stretch>
        </p:blipFill>
        <p:spPr>
          <a:xfrm>
            <a:off x="5238369" y="3072384"/>
            <a:ext cx="1714957" cy="1714957"/>
          </a:xfrm>
          <a:prstGeom prst="rect">
            <a:avLst/>
          </a:prstGeom>
        </p:spPr>
      </p:pic>
      <p:sp>
        <p:nvSpPr>
          <p:cNvPr id="16" name="Text 11"/>
          <p:cNvSpPr txBox="1"/>
          <p:nvPr/>
        </p:nvSpPr>
        <p:spPr>
          <a:xfrm>
            <a:off x="4563770" y="4897069"/>
            <a:ext cx="3064154" cy="274320"/>
          </a:xfrm>
          <a:prstGeom prst="rect">
            <a:avLst/>
          </a:prstGeom>
          <a:noFill/>
          <a:ln/>
        </p:spPr>
        <p:txBody>
          <a:bodyPr wrap="square" lIns="0" tIns="0" rIns="0" bIns="0" rtlCol="0" anchor="ctr"/>
          <a:lstStyle/>
          <a:p>
            <a:pPr marL="0" indent="0">
              <a:buNone/>
            </a:pPr>
            <a:r>
              <a:rPr lang="en-US" sz="1350" b="1" kern="0" spc="100" dirty="0">
                <a:solidFill>
                  <a:srgbClr val="F3F6FA"/>
                </a:solidFill>
                <a:latin typeface="Calibri" pitchFamily="34" charset="0"/>
                <a:ea typeface="Calibri" pitchFamily="34" charset="-122"/>
                <a:cs typeface="Calibri" pitchFamily="34" charset="-120"/>
              </a:rPr>
              <a:t>ORACLE · TRUE MOTION</a:t>
            </a:r>
            <a:endParaRPr lang="en-US" sz="1350" dirty="0"/>
          </a:p>
        </p:txBody>
      </p:sp>
      <p:sp>
        <p:nvSpPr>
          <p:cNvPr id="17" name="Text 12"/>
          <p:cNvSpPr txBox="1"/>
          <p:nvPr/>
        </p:nvSpPr>
        <p:spPr>
          <a:xfrm>
            <a:off x="4563770" y="5189677"/>
            <a:ext cx="3064154" cy="274320"/>
          </a:xfrm>
          <a:prstGeom prst="rect">
            <a:avLst/>
          </a:prstGeom>
          <a:noFill/>
          <a:ln/>
        </p:spPr>
        <p:txBody>
          <a:bodyPr wrap="square" lIns="0" tIns="0" rIns="0" bIns="0" rtlCol="0" anchor="ctr"/>
          <a:lstStyle/>
          <a:p>
            <a:pPr marL="0" indent="0">
              <a:buNone/>
            </a:pPr>
            <a:r>
              <a:rPr lang="en-US" sz="1150" dirty="0">
                <a:solidFill>
                  <a:srgbClr val="8C9AB2"/>
                </a:solidFill>
                <a:latin typeface="Calibri" pitchFamily="34" charset="0"/>
                <a:ea typeface="Calibri" pitchFamily="34" charset="-122"/>
                <a:cs typeface="Calibri" pitchFamily="34" charset="-120"/>
              </a:rPr>
              <a:t>Exact  ·  324.9 dB · 1.000</a:t>
            </a:r>
            <a:endParaRPr lang="en-US" sz="1150" dirty="0"/>
          </a:p>
        </p:txBody>
      </p:sp>
      <p:sp>
        <p:nvSpPr>
          <p:cNvPr id="18" name="Shape 13"/>
          <p:cNvSpPr/>
          <p:nvPr/>
        </p:nvSpPr>
        <p:spPr>
          <a:xfrm>
            <a:off x="8103413" y="2926080"/>
            <a:ext cx="3429914" cy="2675077"/>
          </a:xfrm>
          <a:prstGeom prst="roundRect">
            <a:avLst>
              <a:gd name="adj" fmla="val 3418"/>
            </a:avLst>
          </a:prstGeom>
          <a:solidFill>
            <a:srgbClr val="121A28"/>
          </a:solidFill>
          <a:ln w="12700">
            <a:solidFill>
              <a:srgbClr val="263349"/>
            </a:solidFill>
            <a:prstDash val="solid"/>
          </a:ln>
        </p:spPr>
      </p:sp>
      <p:pic>
        <p:nvPicPr>
          <p:cNvPr id="19" name="Image 3" descr="/home/claude/deck/assets/image-14-3.png"/>
          <p:cNvPicPr>
            <a:picLocks noChangeAspect="1"/>
          </p:cNvPicPr>
          <p:nvPr/>
        </p:nvPicPr>
        <p:blipFill>
          <a:blip r:embed="rId5"/>
          <a:stretch>
            <a:fillRect/>
          </a:stretch>
        </p:blipFill>
        <p:spPr>
          <a:xfrm>
            <a:off x="8960891" y="3072384"/>
            <a:ext cx="1714957" cy="1714957"/>
          </a:xfrm>
          <a:prstGeom prst="rect">
            <a:avLst/>
          </a:prstGeom>
        </p:spPr>
      </p:pic>
      <p:sp>
        <p:nvSpPr>
          <p:cNvPr id="20" name="Text 14"/>
          <p:cNvSpPr txBox="1"/>
          <p:nvPr/>
        </p:nvSpPr>
        <p:spPr>
          <a:xfrm>
            <a:off x="8286293" y="4897069"/>
            <a:ext cx="3064154" cy="274320"/>
          </a:xfrm>
          <a:prstGeom prst="rect">
            <a:avLst/>
          </a:prstGeom>
          <a:noFill/>
          <a:ln/>
        </p:spPr>
        <p:txBody>
          <a:bodyPr wrap="square" lIns="0" tIns="0" rIns="0" bIns="0" rtlCol="0" anchor="ctr"/>
          <a:lstStyle/>
          <a:p>
            <a:pPr marL="0" indent="0">
              <a:buNone/>
            </a:pPr>
            <a:r>
              <a:rPr lang="en-US" sz="1350" b="1" kern="0" spc="100" dirty="0">
                <a:solidFill>
                  <a:srgbClr val="F3F6FA"/>
                </a:solidFill>
                <a:latin typeface="Calibri" pitchFamily="34" charset="0"/>
                <a:ea typeface="Calibri" pitchFamily="34" charset="-122"/>
                <a:cs typeface="Calibri" pitchFamily="34" charset="-120"/>
              </a:rPr>
              <a:t>AUTOFOCUS · ESTIMATED</a:t>
            </a:r>
            <a:endParaRPr lang="en-US" sz="1350" dirty="0"/>
          </a:p>
        </p:txBody>
      </p:sp>
      <p:sp>
        <p:nvSpPr>
          <p:cNvPr id="21" name="Text 15"/>
          <p:cNvSpPr txBox="1"/>
          <p:nvPr/>
        </p:nvSpPr>
        <p:spPr>
          <a:xfrm>
            <a:off x="8286293" y="5189677"/>
            <a:ext cx="3064154" cy="274320"/>
          </a:xfrm>
          <a:prstGeom prst="rect">
            <a:avLst/>
          </a:prstGeom>
          <a:noFill/>
          <a:ln/>
        </p:spPr>
        <p:txBody>
          <a:bodyPr wrap="square" lIns="0" tIns="0" rIns="0" bIns="0" rtlCol="0" anchor="ctr"/>
          <a:lstStyle/>
          <a:p>
            <a:pPr marL="0" indent="0">
              <a:buNone/>
            </a:pPr>
            <a:r>
              <a:rPr lang="en-US" sz="1150" dirty="0">
                <a:solidFill>
                  <a:srgbClr val="8C9AB2"/>
                </a:solidFill>
                <a:latin typeface="Calibri" pitchFamily="34" charset="0"/>
                <a:ea typeface="Calibri" pitchFamily="34" charset="-122"/>
                <a:cs typeface="Calibri" pitchFamily="34" charset="-120"/>
              </a:rPr>
              <a:t>Found 5.0 px × 4.0 cycles  ·  exact</a:t>
            </a:r>
            <a:endParaRPr lang="en-US" sz="1150" dirty="0"/>
          </a:p>
        </p:txBody>
      </p:sp>
      <p:sp>
        <p:nvSpPr>
          <p:cNvPr id="22" name="Text 16"/>
          <p:cNvSpPr txBox="1"/>
          <p:nvPr/>
        </p:nvSpPr>
        <p:spPr>
          <a:xfrm>
            <a:off x="658368" y="5756605"/>
            <a:ext cx="10874959" cy="457200"/>
          </a:xfrm>
          <a:prstGeom prst="rect">
            <a:avLst/>
          </a:prstGeom>
          <a:noFill/>
          <a:ln/>
        </p:spPr>
        <p:txBody>
          <a:bodyPr wrap="square" lIns="0" tIns="0" rIns="0" bIns="0" rtlCol="0" anchor="ctr"/>
          <a:lstStyle/>
          <a:p>
            <a:pPr marL="0" indent="0">
              <a:lnSpc>
                <a:spcPts val="1600"/>
              </a:lnSpc>
              <a:buNone/>
            </a:pPr>
            <a:r>
              <a:rPr lang="en-US" sz="1250" i="1" dirty="0">
                <a:solidFill>
                  <a:srgbClr val="FFA85B"/>
                </a:solidFill>
                <a:latin typeface="Calibri" pitchFamily="34" charset="0"/>
                <a:ea typeface="Calibri" pitchFamily="34" charset="-122"/>
                <a:cs typeface="Calibri" pitchFamily="34" charset="-120"/>
              </a:rPr>
              <a:t>Across 42 tests with noise, undersampling and radial scans, every case improved; 35 came within 0.005 SSIM of the oracle. Weakest: radial drift.</a:t>
            </a:r>
            <a:endParaRPr lang="en-US" sz="125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80B12"/>
        </a:solidFill>
        <a:effectLst/>
      </p:bgPr>
    </p:bg>
    <p:spTree>
      <p:nvGrpSpPr>
        <p:cNvPr id="1" name=""/>
        <p:cNvGrpSpPr/>
        <p:nvPr/>
      </p:nvGrpSpPr>
      <p:grpSpPr>
        <a:xfrm>
          <a:off x="0" y="0"/>
          <a:ext cx="0" cy="0"/>
          <a:chOff x="0" y="0"/>
          <a:chExt cx="0" cy="0"/>
        </a:xfrm>
      </p:grpSpPr>
      <p:pic>
        <p:nvPicPr>
          <p:cNvPr id="2" name="Image 0" descr="/home/claude/deck/assets/bg_divider.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7720279" y="1216152"/>
            <a:ext cx="4151376" cy="4151376"/>
          </a:xfrm>
          <a:prstGeom prst="rect">
            <a:avLst/>
          </a:prstGeom>
          <a:ln w="12700">
            <a:solidFill>
              <a:srgbClr val="263349"/>
            </a:solidFill>
            <a:prstDash val="solid"/>
          </a:ln>
        </p:spPr>
      </p:sp>
      <p:pic>
        <p:nvPicPr>
          <p:cNvPr id="4" name="Image 1" descr="/home/claude/deck/assets/image-1-2.png"/>
          <p:cNvPicPr>
            <a:picLocks noChangeAspect="1"/>
          </p:cNvPicPr>
          <p:nvPr/>
        </p:nvPicPr>
        <p:blipFill>
          <a:blip r:embed="rId4">
            <a:alphaModFix amt="32000"/>
          </a:blip>
          <a:stretch>
            <a:fillRect/>
          </a:stretch>
        </p:blipFill>
        <p:spPr>
          <a:xfrm>
            <a:off x="7738567" y="1234440"/>
            <a:ext cx="4114800" cy="4114800"/>
          </a:xfrm>
          <a:prstGeom prst="rect">
            <a:avLst/>
          </a:prstGeom>
        </p:spPr>
      </p:pic>
      <p:pic>
        <p:nvPicPr>
          <p:cNvPr id="5" name="Image 2" descr="/home/claude/deck/assets/motif_cyan.png"/>
          <p:cNvPicPr>
            <a:picLocks noChangeAspect="1"/>
          </p:cNvPicPr>
          <p:nvPr/>
        </p:nvPicPr>
        <p:blipFill>
          <a:blip r:embed="rId5">
            <a:alphaModFix amt="75000"/>
          </a:blip>
          <a:stretch>
            <a:fillRect/>
          </a:stretch>
        </p:blipFill>
        <p:spPr>
          <a:xfrm>
            <a:off x="11350447" y="4846320"/>
            <a:ext cx="822960" cy="822960"/>
          </a:xfrm>
          <a:prstGeom prst="rect">
            <a:avLst/>
          </a:prstGeom>
        </p:spPr>
      </p:pic>
      <p:sp>
        <p:nvSpPr>
          <p:cNvPr id="6" name="Text 1"/>
          <p:cNvSpPr txBox="1"/>
          <p:nvPr/>
        </p:nvSpPr>
        <p:spPr>
          <a:xfrm>
            <a:off x="658368" y="1874520"/>
            <a:ext cx="10874959" cy="365760"/>
          </a:xfrm>
          <a:prstGeom prst="rect">
            <a:avLst/>
          </a:prstGeom>
          <a:noFill/>
          <a:ln/>
        </p:spPr>
        <p:txBody>
          <a:bodyPr wrap="square" lIns="0" tIns="0" rIns="0" bIns="0" rtlCol="0" anchor="ctr"/>
          <a:lstStyle/>
          <a:p>
            <a:pPr marL="0" indent="0">
              <a:buNone/>
            </a:pPr>
            <a:r>
              <a:rPr lang="en-US" sz="1500" b="1" kern="0" spc="400" dirty="0">
                <a:solidFill>
                  <a:srgbClr val="FFA85B"/>
                </a:solidFill>
                <a:latin typeface="Calibri" pitchFamily="34" charset="0"/>
                <a:ea typeface="Calibri" pitchFamily="34" charset="-122"/>
                <a:cs typeface="Calibri" pitchFamily="34" charset="-120"/>
              </a:rPr>
              <a:t>PART TWO</a:t>
            </a:r>
            <a:endParaRPr lang="en-US" sz="1500" dirty="0"/>
          </a:p>
        </p:txBody>
      </p:sp>
      <p:sp>
        <p:nvSpPr>
          <p:cNvPr id="7" name="Text 2"/>
          <p:cNvSpPr txBox="1"/>
          <p:nvPr/>
        </p:nvSpPr>
        <p:spPr>
          <a:xfrm>
            <a:off x="658368" y="2331720"/>
            <a:ext cx="9503359" cy="1554480"/>
          </a:xfrm>
          <a:prstGeom prst="rect">
            <a:avLst/>
          </a:prstGeom>
          <a:noFill/>
          <a:ln/>
        </p:spPr>
        <p:txBody>
          <a:bodyPr wrap="square" lIns="0" tIns="0" rIns="0" bIns="0" rtlCol="0" anchor="ctr"/>
          <a:lstStyle/>
          <a:p>
            <a:pPr marL="0" indent="0">
              <a:lnSpc>
                <a:spcPts val="4400"/>
              </a:lnSpc>
              <a:buNone/>
            </a:pPr>
            <a:r>
              <a:rPr lang="en-US" sz="3800" b="1" dirty="0">
                <a:solidFill>
                  <a:srgbClr val="F3F6FA"/>
                </a:solidFill>
                <a:latin typeface="Cambria" pitchFamily="34" charset="0"/>
                <a:ea typeface="Cambria" pitchFamily="34" charset="-122"/>
                <a:cs typeface="Cambria" pitchFamily="34" charset="-120"/>
              </a:rPr>
              <a:t>Compressed sensing, reduced FOV</a:t>
            </a:r>
            <a:endParaRPr lang="en-US" sz="3800" dirty="0"/>
          </a:p>
          <a:p>
            <a:pPr marL="0" indent="0">
              <a:lnSpc>
                <a:spcPts val="4400"/>
              </a:lnSpc>
              <a:buNone/>
            </a:pPr>
            <a:r>
              <a:rPr lang="en-US" sz="3800" b="1" dirty="0">
                <a:solidFill>
                  <a:srgbClr val="F3F6FA"/>
                </a:solidFill>
                <a:latin typeface="Cambria" pitchFamily="34" charset="0"/>
                <a:ea typeface="Cambria" pitchFamily="34" charset="-122"/>
                <a:cs typeface="Cambria" pitchFamily="34" charset="-120"/>
              </a:rPr>
              <a:t>&amp; the live application.</a:t>
            </a:r>
            <a:endParaRPr lang="en-US" sz="3800" dirty="0"/>
          </a:p>
        </p:txBody>
      </p:sp>
      <p:sp>
        <p:nvSpPr>
          <p:cNvPr id="8" name="Shape 3"/>
          <p:cNvSpPr/>
          <p:nvPr/>
        </p:nvSpPr>
        <p:spPr>
          <a:xfrm>
            <a:off x="658368" y="4297680"/>
            <a:ext cx="2377440" cy="0"/>
          </a:xfrm>
          <a:prstGeom prst="line">
            <a:avLst/>
          </a:prstGeom>
          <a:noFill/>
          <a:ln w="12700">
            <a:solidFill>
              <a:srgbClr val="263349"/>
            </a:solidFill>
            <a:prstDash val="solid"/>
          </a:ln>
        </p:spPr>
      </p:sp>
      <p:sp>
        <p:nvSpPr>
          <p:cNvPr id="9" name="Text 4"/>
          <p:cNvSpPr txBox="1"/>
          <p:nvPr/>
        </p:nvSpPr>
        <p:spPr>
          <a:xfrm>
            <a:off x="658368" y="4434840"/>
            <a:ext cx="5486400" cy="274320"/>
          </a:xfrm>
          <a:prstGeom prst="rect">
            <a:avLst/>
          </a:prstGeom>
          <a:noFill/>
          <a:ln/>
        </p:spPr>
        <p:txBody>
          <a:bodyPr wrap="square" lIns="0" tIns="0" rIns="0" bIns="0" rtlCol="0" anchor="ctr"/>
          <a:lstStyle/>
          <a:p>
            <a:pPr marL="0" indent="0">
              <a:buNone/>
            </a:pPr>
            <a:r>
              <a:rPr lang="en-US" sz="1250" kern="0" spc="100" dirty="0">
                <a:solidFill>
                  <a:srgbClr val="62708A"/>
                </a:solidFill>
                <a:latin typeface="Calibri" pitchFamily="34" charset="0"/>
                <a:ea typeface="Calibri" pitchFamily="34" charset="-122"/>
                <a:cs typeface="Calibri" pitchFamily="34" charset="-120"/>
              </a:rPr>
              <a:t>Presented by</a:t>
            </a:r>
            <a:endParaRPr lang="en-US" sz="1250" dirty="0"/>
          </a:p>
        </p:txBody>
      </p:sp>
      <p:sp>
        <p:nvSpPr>
          <p:cNvPr id="10" name="Text 5"/>
          <p:cNvSpPr txBox="1"/>
          <p:nvPr/>
        </p:nvSpPr>
        <p:spPr>
          <a:xfrm>
            <a:off x="658368" y="4709160"/>
            <a:ext cx="7315200" cy="502920"/>
          </a:xfrm>
          <a:prstGeom prst="rect">
            <a:avLst/>
          </a:prstGeom>
          <a:noFill/>
          <a:ln/>
        </p:spPr>
        <p:txBody>
          <a:bodyPr wrap="square" lIns="0" tIns="0" rIns="0" bIns="0" rtlCol="0" anchor="ctr"/>
          <a:lstStyle/>
          <a:p>
            <a:pPr marL="0" indent="0">
              <a:buNone/>
            </a:pPr>
            <a:r>
              <a:rPr lang="en-US" sz="2600" b="1" dirty="0">
                <a:solidFill>
                  <a:srgbClr val="FFA85B"/>
                </a:solidFill>
                <a:latin typeface="Cambria" pitchFamily="34" charset="0"/>
                <a:ea typeface="Cambria" pitchFamily="34" charset="-122"/>
                <a:cs typeface="Cambria" pitchFamily="34" charset="-120"/>
              </a:rPr>
              <a:t>Shafnan Wasif · 2305126</a:t>
            </a:r>
            <a:endParaRPr lang="en-US" sz="2600" dirty="0"/>
          </a:p>
        </p:txBody>
      </p:sp>
      <p:sp>
        <p:nvSpPr>
          <p:cNvPr id="11" name="Text 6"/>
          <p:cNvSpPr txBox="1"/>
          <p:nvPr/>
        </p:nvSpPr>
        <p:spPr>
          <a:xfrm>
            <a:off x="658368" y="5989320"/>
            <a:ext cx="7315200" cy="274320"/>
          </a:xfrm>
          <a:prstGeom prst="rect">
            <a:avLst/>
          </a:prstGeom>
          <a:noFill/>
          <a:ln/>
        </p:spPr>
        <p:txBody>
          <a:bodyPr wrap="square" lIns="0" tIns="0" rIns="0" bIns="0" rtlCol="0" anchor="ctr"/>
          <a:lstStyle/>
          <a:p>
            <a:pPr marL="0" indent="0">
              <a:buNone/>
            </a:pPr>
            <a:r>
              <a:rPr lang="en-US" sz="1200" dirty="0">
                <a:solidFill>
                  <a:srgbClr val="62708A"/>
                </a:solidFill>
                <a:latin typeface="Calibri" pitchFamily="34" charset="0"/>
                <a:ea typeface="Calibri" pitchFamily="34" charset="-122"/>
                <a:cs typeface="Calibri" pitchFamily="34" charset="-120"/>
              </a:rPr>
              <a:t>Part One was presented by  </a:t>
            </a:r>
            <a:r>
              <a:rPr lang="en-US" sz="1200" b="1" dirty="0">
                <a:solidFill>
                  <a:srgbClr val="8C9AB2"/>
                </a:solidFill>
                <a:latin typeface="Calibri" pitchFamily="34" charset="0"/>
                <a:ea typeface="Calibri" pitchFamily="34" charset="-122"/>
                <a:cs typeface="Calibri" pitchFamily="34" charset="-120"/>
              </a:rPr>
              <a:t>Afif Siddique · 2305123</a:t>
            </a:r>
            <a:endParaRPr lang="en-US" sz="1200" dirty="0"/>
          </a:p>
        </p:txBody>
      </p:sp>
      <p:sp>
        <p:nvSpPr>
          <p:cNvPr id="12" name="Text 7"/>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13" name="Text 8"/>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11 / 18</a:t>
            </a:r>
            <a:endParaRPr lang="en-US" sz="1050" dirty="0"/>
          </a:p>
        </p:txBody>
      </p:sp>
      <p:pic>
        <p:nvPicPr>
          <p:cNvPr id="14" name="Image 3" descr="/home/claude/deck/assets/motif_ring.png"/>
          <p:cNvPicPr>
            <a:picLocks noChangeAspect="1"/>
          </p:cNvPicPr>
          <p:nvPr/>
        </p:nvPicPr>
        <p:blipFill>
          <a:blip r:embed="rId6">
            <a:alphaModFix amt="90000"/>
          </a:blip>
          <a:stretch>
            <a:fillRect/>
          </a:stretch>
        </p:blipFill>
        <p:spPr>
          <a:xfrm>
            <a:off x="11222431" y="6428232"/>
            <a:ext cx="219456" cy="219456"/>
          </a:xfrm>
          <a:prstGeom prst="rect">
            <a:avLst/>
          </a:prstGeom>
        </p:spPr>
      </p:pic>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COMPRESSED SENSING VS. ZERO-FILL</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SHAFNAN WASIF · 2305126</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2688"/>
              </a:lnSpc>
              <a:buNone/>
            </a:pPr>
            <a:r>
              <a:rPr lang="en-US" sz="2400" b="1" dirty="0">
                <a:solidFill>
                  <a:srgbClr val="F3F6FA"/>
                </a:solidFill>
                <a:latin typeface="Cambria" pitchFamily="34" charset="0"/>
                <a:ea typeface="Cambria" pitchFamily="34" charset="-122"/>
                <a:cs typeface="Cambria" pitchFamily="34" charset="-120"/>
              </a:rPr>
              <a:t>A smarter guess recovers +2.00 dB from the same measurements.</a:t>
            </a:r>
            <a:endParaRPr lang="en-US" sz="24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12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Shape 5"/>
          <p:cNvSpPr/>
          <p:nvPr/>
        </p:nvSpPr>
        <p:spPr>
          <a:xfrm>
            <a:off x="512064" y="2139696"/>
            <a:ext cx="2624328" cy="3118104"/>
          </a:xfrm>
          <a:prstGeom prst="roundRect">
            <a:avLst>
              <a:gd name="adj" fmla="val 3484"/>
            </a:avLst>
          </a:prstGeom>
          <a:solidFill>
            <a:srgbClr val="121A28"/>
          </a:solidFill>
          <a:ln w="12700">
            <a:solidFill>
              <a:srgbClr val="263349"/>
            </a:solidFill>
            <a:prstDash val="solid"/>
          </a:ln>
        </p:spPr>
      </p:sp>
      <p:pic>
        <p:nvPicPr>
          <p:cNvPr id="9" name="Image 1" descr="/home/claude/deck/assets/image-13-1.png"/>
          <p:cNvPicPr>
            <a:picLocks noChangeAspect="1"/>
          </p:cNvPicPr>
          <p:nvPr/>
        </p:nvPicPr>
        <p:blipFill>
          <a:blip r:embed="rId4"/>
          <a:stretch>
            <a:fillRect/>
          </a:stretch>
        </p:blipFill>
        <p:spPr>
          <a:xfrm>
            <a:off x="658368" y="2286000"/>
            <a:ext cx="2331720" cy="2331720"/>
          </a:xfrm>
          <a:prstGeom prst="rect">
            <a:avLst/>
          </a:prstGeom>
        </p:spPr>
      </p:pic>
      <p:sp>
        <p:nvSpPr>
          <p:cNvPr id="10" name="Text 6"/>
          <p:cNvSpPr txBox="1"/>
          <p:nvPr/>
        </p:nvSpPr>
        <p:spPr>
          <a:xfrm>
            <a:off x="658368" y="4727448"/>
            <a:ext cx="2331720" cy="256032"/>
          </a:xfrm>
          <a:prstGeom prst="rect">
            <a:avLst/>
          </a:prstGeom>
          <a:noFill/>
          <a:ln/>
        </p:spPr>
        <p:txBody>
          <a:bodyPr wrap="square" lIns="0" tIns="0" rIns="0" bIns="0" rtlCol="0" anchor="ctr"/>
          <a:lstStyle/>
          <a:p>
            <a:pPr marL="0" indent="0">
              <a:buNone/>
            </a:pPr>
            <a:r>
              <a:rPr lang="en-US" sz="1350" b="1" kern="0" spc="100" dirty="0">
                <a:solidFill>
                  <a:srgbClr val="8C9AB2"/>
                </a:solidFill>
                <a:latin typeface="Calibri" pitchFamily="34" charset="0"/>
                <a:ea typeface="Calibri" pitchFamily="34" charset="-122"/>
                <a:cs typeface="Calibri" pitchFamily="34" charset="-120"/>
              </a:rPr>
              <a:t>ZERO-FILL</a:t>
            </a:r>
            <a:endParaRPr lang="en-US" sz="1350" dirty="0"/>
          </a:p>
        </p:txBody>
      </p:sp>
      <p:sp>
        <p:nvSpPr>
          <p:cNvPr id="11" name="Text 7"/>
          <p:cNvSpPr txBox="1"/>
          <p:nvPr/>
        </p:nvSpPr>
        <p:spPr>
          <a:xfrm>
            <a:off x="658368" y="5020056"/>
            <a:ext cx="2331720" cy="237744"/>
          </a:xfrm>
          <a:prstGeom prst="rect">
            <a:avLst/>
          </a:prstGeom>
          <a:noFill/>
          <a:ln/>
        </p:spPr>
        <p:txBody>
          <a:bodyPr wrap="square" lIns="0" tIns="0" rIns="0" bIns="0" rtlCol="0" anchor="ctr"/>
          <a:lstStyle/>
          <a:p>
            <a:pPr marL="0" indent="0">
              <a:buNone/>
            </a:pPr>
            <a:r>
              <a:rPr lang="en-US" sz="1250" dirty="0">
                <a:solidFill>
                  <a:srgbClr val="8C9AB2"/>
                </a:solidFill>
                <a:latin typeface="Calibri" pitchFamily="34" charset="0"/>
                <a:ea typeface="Calibri" pitchFamily="34" charset="-122"/>
                <a:cs typeface="Calibri" pitchFamily="34" charset="-120"/>
              </a:rPr>
              <a:t>26.10 dB · SSIM 0.643</a:t>
            </a:r>
            <a:endParaRPr lang="en-US" sz="1250" dirty="0"/>
          </a:p>
        </p:txBody>
      </p:sp>
      <p:sp>
        <p:nvSpPr>
          <p:cNvPr id="12" name="Shape 8"/>
          <p:cNvSpPr/>
          <p:nvPr/>
        </p:nvSpPr>
        <p:spPr>
          <a:xfrm>
            <a:off x="9055303" y="2139696"/>
            <a:ext cx="2624328" cy="3118104"/>
          </a:xfrm>
          <a:prstGeom prst="roundRect">
            <a:avLst>
              <a:gd name="adj" fmla="val 3484"/>
            </a:avLst>
          </a:prstGeom>
          <a:solidFill>
            <a:srgbClr val="121A28"/>
          </a:solidFill>
          <a:ln w="12700">
            <a:solidFill>
              <a:srgbClr val="4FE0D2"/>
            </a:solidFill>
            <a:prstDash val="solid"/>
          </a:ln>
        </p:spPr>
      </p:sp>
      <p:pic>
        <p:nvPicPr>
          <p:cNvPr id="13" name="Image 2" descr="/home/claude/deck/assets/image-13-2.png"/>
          <p:cNvPicPr>
            <a:picLocks noChangeAspect="1"/>
          </p:cNvPicPr>
          <p:nvPr/>
        </p:nvPicPr>
        <p:blipFill>
          <a:blip r:embed="rId5"/>
          <a:stretch>
            <a:fillRect/>
          </a:stretch>
        </p:blipFill>
        <p:spPr>
          <a:xfrm>
            <a:off x="9201607" y="2286000"/>
            <a:ext cx="2331720" cy="2331720"/>
          </a:xfrm>
          <a:prstGeom prst="rect">
            <a:avLst/>
          </a:prstGeom>
        </p:spPr>
      </p:pic>
      <p:sp>
        <p:nvSpPr>
          <p:cNvPr id="14" name="Text 9"/>
          <p:cNvSpPr txBox="1"/>
          <p:nvPr/>
        </p:nvSpPr>
        <p:spPr>
          <a:xfrm>
            <a:off x="9201607" y="4727448"/>
            <a:ext cx="2331720" cy="256032"/>
          </a:xfrm>
          <a:prstGeom prst="rect">
            <a:avLst/>
          </a:prstGeom>
          <a:noFill/>
          <a:ln/>
        </p:spPr>
        <p:txBody>
          <a:bodyPr wrap="square" lIns="0" tIns="0" rIns="0" bIns="0" rtlCol="0" anchor="ctr"/>
          <a:lstStyle/>
          <a:p>
            <a:pPr marL="0" indent="0">
              <a:buNone/>
            </a:pPr>
            <a:r>
              <a:rPr lang="en-US" sz="1350" b="1" kern="0" spc="100" dirty="0">
                <a:solidFill>
                  <a:srgbClr val="4FE0D2"/>
                </a:solidFill>
                <a:latin typeface="Calibri" pitchFamily="34" charset="0"/>
                <a:ea typeface="Calibri" pitchFamily="34" charset="-122"/>
                <a:cs typeface="Calibri" pitchFamily="34" charset="-120"/>
              </a:rPr>
              <a:t>FISTA (CS)</a:t>
            </a:r>
            <a:endParaRPr lang="en-US" sz="1350" dirty="0"/>
          </a:p>
        </p:txBody>
      </p:sp>
      <p:sp>
        <p:nvSpPr>
          <p:cNvPr id="15" name="Text 10"/>
          <p:cNvSpPr txBox="1"/>
          <p:nvPr/>
        </p:nvSpPr>
        <p:spPr>
          <a:xfrm>
            <a:off x="9201607" y="5020056"/>
            <a:ext cx="2331720" cy="237744"/>
          </a:xfrm>
          <a:prstGeom prst="rect">
            <a:avLst/>
          </a:prstGeom>
          <a:noFill/>
          <a:ln/>
        </p:spPr>
        <p:txBody>
          <a:bodyPr wrap="square" lIns="0" tIns="0" rIns="0" bIns="0" rtlCol="0" anchor="ctr"/>
          <a:lstStyle/>
          <a:p>
            <a:pPr marL="0" indent="0">
              <a:buNone/>
            </a:pPr>
            <a:r>
              <a:rPr lang="en-US" sz="1250" dirty="0">
                <a:solidFill>
                  <a:srgbClr val="8C9AB2"/>
                </a:solidFill>
                <a:latin typeface="Calibri" pitchFamily="34" charset="0"/>
                <a:ea typeface="Calibri" pitchFamily="34" charset="-122"/>
                <a:cs typeface="Calibri" pitchFamily="34" charset="-120"/>
              </a:rPr>
              <a:t>28.10 dB · SSIM 0.761</a:t>
            </a:r>
            <a:endParaRPr lang="en-US" sz="1250" dirty="0"/>
          </a:p>
        </p:txBody>
      </p:sp>
      <p:sp>
        <p:nvSpPr>
          <p:cNvPr id="16" name="Shape 11"/>
          <p:cNvSpPr/>
          <p:nvPr/>
        </p:nvSpPr>
        <p:spPr>
          <a:xfrm>
            <a:off x="5684368" y="2994660"/>
            <a:ext cx="822960" cy="256032"/>
          </a:xfrm>
          <a:prstGeom prst="rightArrow">
            <a:avLst/>
          </a:prstGeom>
          <a:solidFill>
            <a:srgbClr val="4FE0D2"/>
          </a:solidFill>
          <a:ln/>
        </p:spPr>
      </p:sp>
      <p:sp>
        <p:nvSpPr>
          <p:cNvPr id="17" name="Text 12"/>
          <p:cNvSpPr txBox="1"/>
          <p:nvPr/>
        </p:nvSpPr>
        <p:spPr>
          <a:xfrm>
            <a:off x="5272888" y="3305556"/>
            <a:ext cx="1645920" cy="548640"/>
          </a:xfrm>
          <a:prstGeom prst="rect">
            <a:avLst/>
          </a:prstGeom>
          <a:noFill/>
          <a:ln/>
        </p:spPr>
        <p:txBody>
          <a:bodyPr wrap="square" lIns="0" tIns="0" rIns="0" bIns="0" rtlCol="0" anchor="ctr"/>
          <a:lstStyle/>
          <a:p>
            <a:pPr marL="0" indent="0" algn="ctr">
              <a:lnSpc>
                <a:spcPts val="1900"/>
              </a:lnSpc>
              <a:buNone/>
            </a:pPr>
            <a:r>
              <a:rPr lang="en-US" sz="1700" b="1" dirty="0">
                <a:solidFill>
                  <a:srgbClr val="FFA85B"/>
                </a:solidFill>
                <a:latin typeface="Cambria" pitchFamily="34" charset="0"/>
                <a:ea typeface="Cambria" pitchFamily="34" charset="-122"/>
                <a:cs typeface="Cambria" pitchFamily="34" charset="-120"/>
              </a:rPr>
              <a:t>+2.00 dB</a:t>
            </a:r>
            <a:endParaRPr lang="en-US" sz="1700" dirty="0"/>
          </a:p>
          <a:p>
            <a:pPr marL="0" indent="0" algn="ctr">
              <a:lnSpc>
                <a:spcPts val="1900"/>
              </a:lnSpc>
              <a:buNone/>
            </a:pPr>
            <a:r>
              <a:rPr lang="en-US" sz="1700" b="1" dirty="0">
                <a:solidFill>
                  <a:srgbClr val="FFA85B"/>
                </a:solidFill>
                <a:latin typeface="Cambria" pitchFamily="34" charset="0"/>
                <a:ea typeface="Cambria" pitchFamily="34" charset="-122"/>
                <a:cs typeface="Cambria" pitchFamily="34" charset="-120"/>
              </a:rPr>
              <a:t>+0.118 SSIM</a:t>
            </a:r>
            <a:endParaRPr lang="en-US" sz="1700" dirty="0"/>
          </a:p>
        </p:txBody>
      </p:sp>
      <p:sp>
        <p:nvSpPr>
          <p:cNvPr id="18" name="Text 13"/>
          <p:cNvSpPr txBox="1"/>
          <p:nvPr/>
        </p:nvSpPr>
        <p:spPr>
          <a:xfrm>
            <a:off x="5272888" y="3872484"/>
            <a:ext cx="1645920" cy="274320"/>
          </a:xfrm>
          <a:prstGeom prst="rect">
            <a:avLst/>
          </a:prstGeom>
          <a:noFill/>
          <a:ln/>
        </p:spPr>
        <p:txBody>
          <a:bodyPr wrap="square" lIns="0" tIns="0" rIns="0" bIns="0" rtlCol="0" anchor="ctr"/>
          <a:lstStyle/>
          <a:p>
            <a:pPr marL="0" indent="0" algn="ctr">
              <a:buNone/>
            </a:pPr>
            <a:r>
              <a:rPr lang="en-US" sz="1100" i="1" dirty="0">
                <a:solidFill>
                  <a:srgbClr val="62708A"/>
                </a:solidFill>
                <a:latin typeface="Calibri" pitchFamily="34" charset="0"/>
                <a:ea typeface="Calibri" pitchFamily="34" charset="-122"/>
                <a:cs typeface="Calibri" pitchFamily="34" charset="-120"/>
              </a:rPr>
              <a:t>16× · 6.25% sampled</a:t>
            </a:r>
            <a:endParaRPr lang="en-US" sz="1100" dirty="0"/>
          </a:p>
        </p:txBody>
      </p:sp>
      <p:sp>
        <p:nvSpPr>
          <p:cNvPr id="19" name="Text 14"/>
          <p:cNvSpPr txBox="1"/>
          <p:nvPr/>
        </p:nvSpPr>
        <p:spPr>
          <a:xfrm>
            <a:off x="658368" y="5550408"/>
            <a:ext cx="10874959" cy="365760"/>
          </a:xfrm>
          <a:prstGeom prst="rect">
            <a:avLst/>
          </a:prstGeom>
          <a:noFill/>
          <a:ln/>
        </p:spPr>
        <p:txBody>
          <a:bodyPr wrap="square" lIns="0" tIns="0" rIns="0" bIns="0" rtlCol="0" anchor="ctr"/>
          <a:lstStyle/>
          <a:p>
            <a:pPr marL="0" indent="0">
              <a:buNone/>
            </a:pPr>
            <a:r>
              <a:rPr lang="en-US" sz="1500" i="1" dirty="0">
                <a:solidFill>
                  <a:srgbClr val="4FE0D2"/>
                </a:solidFill>
                <a:latin typeface="Cambria" pitchFamily="34" charset="0"/>
                <a:ea typeface="Cambria" pitchFamily="34" charset="-122"/>
                <a:cs typeface="Cambria" pitchFamily="34" charset="-120"/>
              </a:rPr>
              <a:t>min  ‖M·F·x − y‖² + λ‖W·x‖₁     M mask · F FFT · y measured k-space · W Daubechies-4 wavelet, FISTA · 80 iterations · ≈1.5 s</a:t>
            </a:r>
            <a:endParaRPr lang="en-US" sz="1500" dirty="0"/>
          </a:p>
        </p:txBody>
      </p:sp>
      <p:sp>
        <p:nvSpPr>
          <p:cNvPr id="20" name="Text 15"/>
          <p:cNvSpPr txBox="1"/>
          <p:nvPr/>
        </p:nvSpPr>
        <p:spPr>
          <a:xfrm>
            <a:off x="658368" y="5952744"/>
            <a:ext cx="10874959" cy="320040"/>
          </a:xfrm>
          <a:prstGeom prst="rect">
            <a:avLst/>
          </a:prstGeom>
          <a:noFill/>
          <a:ln/>
        </p:spPr>
        <p:txBody>
          <a:bodyPr wrap="square" lIns="0" tIns="0" rIns="0" bIns="0" rtlCol="0" anchor="ctr"/>
          <a:lstStyle/>
          <a:p>
            <a:pPr marL="0" indent="0">
              <a:lnSpc>
                <a:spcPts val="1600"/>
              </a:lnSpc>
              <a:buNone/>
            </a:pPr>
            <a:r>
              <a:rPr lang="en-US" sz="1300" dirty="0">
                <a:solidFill>
                  <a:srgbClr val="FFA85B"/>
                </a:solidFill>
                <a:latin typeface="Calibri" pitchFamily="34" charset="0"/>
                <a:ea typeface="Calibri" pitchFamily="34" charset="-122"/>
                <a:cs typeface="Calibri" pitchFamily="34" charset="-120"/>
              </a:rPr>
              <a:t>Where CS loses: above ~15% sampling, zero-fill is already near-perfect and the prior costs PSNR. The app says so.</a:t>
            </a:r>
            <a:endParaRPr lang="en-US" sz="13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SWEEP · SHEPP–LOGAN PHANTOM, 256×256, NO NOISE</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SHAFNAN WASIF · 2305126</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3248"/>
              </a:lnSpc>
              <a:buNone/>
            </a:pPr>
            <a:r>
              <a:rPr lang="en-US" sz="2900" b="1" dirty="0">
                <a:solidFill>
                  <a:srgbClr val="F3F6FA"/>
                </a:solidFill>
                <a:latin typeface="Cambria" pitchFamily="34" charset="0"/>
                <a:ea typeface="Cambria" pitchFamily="34" charset="-122"/>
                <a:cs typeface="Cambria" pitchFamily="34" charset="-120"/>
              </a:rPr>
              <a:t>Quality falls fast — but not equally.</a:t>
            </a:r>
            <a:endParaRPr lang="en-US" sz="29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13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Text 5"/>
          <p:cNvSpPr txBox="1"/>
          <p:nvPr/>
        </p:nvSpPr>
        <p:spPr>
          <a:xfrm>
            <a:off x="658368" y="1874520"/>
            <a:ext cx="10874959" cy="274320"/>
          </a:xfrm>
          <a:prstGeom prst="rect">
            <a:avLst/>
          </a:prstGeom>
          <a:noFill/>
          <a:ln/>
        </p:spPr>
        <p:txBody>
          <a:bodyPr wrap="square" lIns="0" tIns="0" rIns="0" bIns="0" rtlCol="0" anchor="ctr"/>
          <a:lstStyle/>
          <a:p>
            <a:pPr marL="0" indent="0">
              <a:buNone/>
            </a:pPr>
            <a:r>
              <a:rPr lang="en-US" sz="1200" i="1" dirty="0">
                <a:solidFill>
                  <a:srgbClr val="62708A"/>
                </a:solidFill>
                <a:latin typeface="Calibri" pitchFamily="34" charset="0"/>
                <a:ea typeface="Calibri" pitchFamily="34" charset="-122"/>
                <a:cs typeface="Calibri" pitchFamily="34" charset="-120"/>
              </a:rPr>
              <a:t>Round-trip check: every strategy scores 321.7 dB at 100% sampling — the correctness baseline before any of this.</a:t>
            </a:r>
            <a:endParaRPr lang="en-US" sz="1200" dirty="0"/>
          </a:p>
        </p:txBody>
      </p:sp>
      <p:sp>
        <p:nvSpPr>
          <p:cNvPr id="9" name="Text 6"/>
          <p:cNvSpPr txBox="1"/>
          <p:nvPr/>
        </p:nvSpPr>
        <p:spPr>
          <a:xfrm>
            <a:off x="2944368" y="2331720"/>
            <a:ext cx="2753258" cy="365760"/>
          </a:xfrm>
          <a:prstGeom prst="rect">
            <a:avLst/>
          </a:prstGeom>
          <a:noFill/>
          <a:ln/>
        </p:spPr>
        <p:txBody>
          <a:bodyPr wrap="square" lIns="0" tIns="0" rIns="0" bIns="0" rtlCol="0" anchor="ctr"/>
          <a:lstStyle/>
          <a:p>
            <a:pPr marL="0" indent="0">
              <a:buNone/>
            </a:pPr>
            <a:r>
              <a:rPr lang="en-US" sz="1150" b="1" kern="0" spc="100" dirty="0">
                <a:solidFill>
                  <a:srgbClr val="62708A"/>
                </a:solidFill>
                <a:latin typeface="Calibri" pitchFamily="34" charset="0"/>
                <a:ea typeface="Calibri" pitchFamily="34" charset="-122"/>
                <a:cs typeface="Calibri" pitchFamily="34" charset="-120"/>
              </a:rPr>
              <a:t>50% · 2×</a:t>
            </a:r>
            <a:endParaRPr lang="en-US" sz="1150" dirty="0"/>
          </a:p>
        </p:txBody>
      </p:sp>
      <p:sp>
        <p:nvSpPr>
          <p:cNvPr id="10" name="Text 7"/>
          <p:cNvSpPr txBox="1"/>
          <p:nvPr/>
        </p:nvSpPr>
        <p:spPr>
          <a:xfrm>
            <a:off x="5862218" y="2331720"/>
            <a:ext cx="2753258" cy="365760"/>
          </a:xfrm>
          <a:prstGeom prst="rect">
            <a:avLst/>
          </a:prstGeom>
          <a:noFill/>
          <a:ln/>
        </p:spPr>
        <p:txBody>
          <a:bodyPr wrap="square" lIns="0" tIns="0" rIns="0" bIns="0" rtlCol="0" anchor="ctr"/>
          <a:lstStyle/>
          <a:p>
            <a:pPr marL="0" indent="0">
              <a:buNone/>
            </a:pPr>
            <a:r>
              <a:rPr lang="en-US" sz="1150" b="1" kern="0" spc="100" dirty="0">
                <a:solidFill>
                  <a:srgbClr val="62708A"/>
                </a:solidFill>
                <a:latin typeface="Calibri" pitchFamily="34" charset="0"/>
                <a:ea typeface="Calibri" pitchFamily="34" charset="-122"/>
                <a:cs typeface="Calibri" pitchFamily="34" charset="-120"/>
              </a:rPr>
              <a:t>25% · 4×</a:t>
            </a:r>
            <a:endParaRPr lang="en-US" sz="1150" dirty="0"/>
          </a:p>
        </p:txBody>
      </p:sp>
      <p:sp>
        <p:nvSpPr>
          <p:cNvPr id="11" name="Text 8"/>
          <p:cNvSpPr txBox="1"/>
          <p:nvPr/>
        </p:nvSpPr>
        <p:spPr>
          <a:xfrm>
            <a:off x="8780069" y="2331720"/>
            <a:ext cx="2753258" cy="365760"/>
          </a:xfrm>
          <a:prstGeom prst="rect">
            <a:avLst/>
          </a:prstGeom>
          <a:noFill/>
          <a:ln/>
        </p:spPr>
        <p:txBody>
          <a:bodyPr wrap="square" lIns="0" tIns="0" rIns="0" bIns="0" rtlCol="0" anchor="ctr"/>
          <a:lstStyle/>
          <a:p>
            <a:pPr marL="0" indent="0">
              <a:buNone/>
            </a:pPr>
            <a:r>
              <a:rPr lang="en-US" sz="1150" b="1" kern="0" spc="100" dirty="0">
                <a:solidFill>
                  <a:srgbClr val="62708A"/>
                </a:solidFill>
                <a:latin typeface="Calibri" pitchFamily="34" charset="0"/>
                <a:ea typeface="Calibri" pitchFamily="34" charset="-122"/>
                <a:cs typeface="Calibri" pitchFamily="34" charset="-120"/>
              </a:rPr>
              <a:t>12.5% · 8×</a:t>
            </a:r>
            <a:endParaRPr lang="en-US" sz="1150" dirty="0"/>
          </a:p>
        </p:txBody>
      </p:sp>
      <p:sp>
        <p:nvSpPr>
          <p:cNvPr id="12" name="Shape 9"/>
          <p:cNvSpPr/>
          <p:nvPr/>
        </p:nvSpPr>
        <p:spPr>
          <a:xfrm>
            <a:off x="658368" y="2752344"/>
            <a:ext cx="10874959" cy="0"/>
          </a:xfrm>
          <a:prstGeom prst="line">
            <a:avLst/>
          </a:prstGeom>
          <a:noFill/>
          <a:ln w="12700">
            <a:solidFill>
              <a:srgbClr val="263349"/>
            </a:solidFill>
            <a:prstDash val="solid"/>
          </a:ln>
        </p:spPr>
      </p:sp>
      <p:sp>
        <p:nvSpPr>
          <p:cNvPr id="13" name="Text 10"/>
          <p:cNvSpPr txBox="1"/>
          <p:nvPr/>
        </p:nvSpPr>
        <p:spPr>
          <a:xfrm>
            <a:off x="658368" y="2898648"/>
            <a:ext cx="2103120" cy="457200"/>
          </a:xfrm>
          <a:prstGeom prst="rect">
            <a:avLst/>
          </a:prstGeom>
          <a:noFill/>
          <a:ln/>
        </p:spPr>
        <p:txBody>
          <a:bodyPr wrap="square" lIns="0" tIns="0" rIns="0" bIns="0" rtlCol="0" anchor="ctr"/>
          <a:lstStyle/>
          <a:p>
            <a:pPr marL="0" indent="0">
              <a:buNone/>
            </a:pPr>
            <a:r>
              <a:rPr lang="en-US" sz="1450" b="1" dirty="0">
                <a:solidFill>
                  <a:srgbClr val="F3F6FA"/>
                </a:solidFill>
                <a:latin typeface="Calibri" pitchFamily="34" charset="0"/>
                <a:ea typeface="Calibri" pitchFamily="34" charset="-122"/>
                <a:cs typeface="Calibri" pitchFamily="34" charset="-120"/>
              </a:rPr>
              <a:t>Cartesian</a:t>
            </a:r>
            <a:endParaRPr lang="en-US" sz="1450" dirty="0"/>
          </a:p>
        </p:txBody>
      </p:sp>
      <p:sp>
        <p:nvSpPr>
          <p:cNvPr id="14" name="Text 11"/>
          <p:cNvSpPr txBox="1"/>
          <p:nvPr/>
        </p:nvSpPr>
        <p:spPr>
          <a:xfrm>
            <a:off x="2944368" y="2898648"/>
            <a:ext cx="2753258" cy="457200"/>
          </a:xfrm>
          <a:prstGeom prst="rect">
            <a:avLst/>
          </a:prstGeom>
          <a:noFill/>
          <a:ln/>
        </p:spPr>
        <p:txBody>
          <a:bodyPr wrap="square" lIns="0" tIns="0" rIns="0" bIns="0" rtlCol="0" anchor="ctr"/>
          <a:lstStyle/>
          <a:p>
            <a:pPr marL="0" indent="0">
              <a:buNone/>
            </a:pPr>
            <a:r>
              <a:rPr lang="en-US" sz="1450" dirty="0">
                <a:solidFill>
                  <a:srgbClr val="8C9AB2"/>
                </a:solidFill>
                <a:latin typeface="Calibri" pitchFamily="34" charset="0"/>
                <a:ea typeface="Calibri" pitchFamily="34" charset="-122"/>
                <a:cs typeface="Calibri" pitchFamily="34" charset="-120"/>
              </a:rPr>
              <a:t>26.81 · 0.683</a:t>
            </a:r>
            <a:endParaRPr lang="en-US" sz="1450" dirty="0"/>
          </a:p>
        </p:txBody>
      </p:sp>
      <p:sp>
        <p:nvSpPr>
          <p:cNvPr id="15" name="Text 12"/>
          <p:cNvSpPr txBox="1"/>
          <p:nvPr/>
        </p:nvSpPr>
        <p:spPr>
          <a:xfrm>
            <a:off x="5862218" y="2898648"/>
            <a:ext cx="2753258" cy="457200"/>
          </a:xfrm>
          <a:prstGeom prst="rect">
            <a:avLst/>
          </a:prstGeom>
          <a:noFill/>
          <a:ln/>
        </p:spPr>
        <p:txBody>
          <a:bodyPr wrap="square" lIns="0" tIns="0" rIns="0" bIns="0" rtlCol="0" anchor="ctr"/>
          <a:lstStyle/>
          <a:p>
            <a:pPr marL="0" indent="0">
              <a:buNone/>
            </a:pPr>
            <a:r>
              <a:rPr lang="en-US" sz="1450" dirty="0">
                <a:solidFill>
                  <a:srgbClr val="8C9AB2"/>
                </a:solidFill>
                <a:latin typeface="Calibri" pitchFamily="34" charset="0"/>
                <a:ea typeface="Calibri" pitchFamily="34" charset="-122"/>
                <a:cs typeface="Calibri" pitchFamily="34" charset="-120"/>
              </a:rPr>
              <a:t>20.54 · 0.549</a:t>
            </a:r>
            <a:endParaRPr lang="en-US" sz="1450" dirty="0"/>
          </a:p>
        </p:txBody>
      </p:sp>
      <p:sp>
        <p:nvSpPr>
          <p:cNvPr id="16" name="Text 13"/>
          <p:cNvSpPr txBox="1"/>
          <p:nvPr/>
        </p:nvSpPr>
        <p:spPr>
          <a:xfrm>
            <a:off x="8780069" y="2898648"/>
            <a:ext cx="2753258" cy="457200"/>
          </a:xfrm>
          <a:prstGeom prst="rect">
            <a:avLst/>
          </a:prstGeom>
          <a:noFill/>
          <a:ln/>
        </p:spPr>
        <p:txBody>
          <a:bodyPr wrap="square" lIns="0" tIns="0" rIns="0" bIns="0" rtlCol="0" anchor="ctr"/>
          <a:lstStyle/>
          <a:p>
            <a:pPr marL="0" indent="0">
              <a:buNone/>
            </a:pPr>
            <a:r>
              <a:rPr lang="en-US" sz="1450" dirty="0">
                <a:solidFill>
                  <a:srgbClr val="8C9AB2"/>
                </a:solidFill>
                <a:latin typeface="Calibri" pitchFamily="34" charset="0"/>
                <a:ea typeface="Calibri" pitchFamily="34" charset="-122"/>
                <a:cs typeface="Calibri" pitchFamily="34" charset="-120"/>
              </a:rPr>
              <a:t>17.43 · 0.535</a:t>
            </a:r>
            <a:endParaRPr lang="en-US" sz="1450" dirty="0"/>
          </a:p>
        </p:txBody>
      </p:sp>
      <p:sp>
        <p:nvSpPr>
          <p:cNvPr id="17" name="Shape 14"/>
          <p:cNvSpPr/>
          <p:nvPr/>
        </p:nvSpPr>
        <p:spPr>
          <a:xfrm>
            <a:off x="658368" y="3392424"/>
            <a:ext cx="10874959" cy="0"/>
          </a:xfrm>
          <a:prstGeom prst="line">
            <a:avLst/>
          </a:prstGeom>
          <a:noFill/>
          <a:ln w="12700">
            <a:solidFill>
              <a:srgbClr val="1A2436"/>
            </a:solidFill>
            <a:prstDash val="solid"/>
          </a:ln>
        </p:spPr>
      </p:sp>
      <p:sp>
        <p:nvSpPr>
          <p:cNvPr id="18" name="Text 15"/>
          <p:cNvSpPr txBox="1"/>
          <p:nvPr/>
        </p:nvSpPr>
        <p:spPr>
          <a:xfrm>
            <a:off x="658368" y="3410712"/>
            <a:ext cx="2103120" cy="457200"/>
          </a:xfrm>
          <a:prstGeom prst="rect">
            <a:avLst/>
          </a:prstGeom>
          <a:noFill/>
          <a:ln/>
        </p:spPr>
        <p:txBody>
          <a:bodyPr wrap="square" lIns="0" tIns="0" rIns="0" bIns="0" rtlCol="0" anchor="ctr"/>
          <a:lstStyle/>
          <a:p>
            <a:pPr marL="0" indent="0">
              <a:buNone/>
            </a:pPr>
            <a:r>
              <a:rPr lang="en-US" sz="1450" b="1" dirty="0">
                <a:solidFill>
                  <a:srgbClr val="F3F6FA"/>
                </a:solidFill>
                <a:latin typeface="Calibri" pitchFamily="34" charset="0"/>
                <a:ea typeface="Calibri" pitchFamily="34" charset="-122"/>
                <a:cs typeface="Calibri" pitchFamily="34" charset="-120"/>
              </a:rPr>
              <a:t>Radial</a:t>
            </a:r>
            <a:endParaRPr lang="en-US" sz="1450" dirty="0"/>
          </a:p>
        </p:txBody>
      </p:sp>
      <p:sp>
        <p:nvSpPr>
          <p:cNvPr id="19" name="Text 16"/>
          <p:cNvSpPr txBox="1"/>
          <p:nvPr/>
        </p:nvSpPr>
        <p:spPr>
          <a:xfrm>
            <a:off x="2944368" y="3410712"/>
            <a:ext cx="2753258" cy="457200"/>
          </a:xfrm>
          <a:prstGeom prst="rect">
            <a:avLst/>
          </a:prstGeom>
          <a:noFill/>
          <a:ln/>
        </p:spPr>
        <p:txBody>
          <a:bodyPr wrap="square" lIns="0" tIns="0" rIns="0" bIns="0" rtlCol="0" anchor="ctr"/>
          <a:lstStyle/>
          <a:p>
            <a:pPr marL="0" indent="0">
              <a:buNone/>
            </a:pPr>
            <a:r>
              <a:rPr lang="en-US" sz="1450" dirty="0">
                <a:solidFill>
                  <a:srgbClr val="8C9AB2"/>
                </a:solidFill>
                <a:latin typeface="Calibri" pitchFamily="34" charset="0"/>
                <a:ea typeface="Calibri" pitchFamily="34" charset="-122"/>
                <a:cs typeface="Calibri" pitchFamily="34" charset="-120"/>
              </a:rPr>
              <a:t>29.64 · 0.476</a:t>
            </a:r>
            <a:endParaRPr lang="en-US" sz="1450" dirty="0"/>
          </a:p>
        </p:txBody>
      </p:sp>
      <p:sp>
        <p:nvSpPr>
          <p:cNvPr id="20" name="Text 17"/>
          <p:cNvSpPr txBox="1"/>
          <p:nvPr/>
        </p:nvSpPr>
        <p:spPr>
          <a:xfrm>
            <a:off x="5862218" y="3410712"/>
            <a:ext cx="2753258" cy="457200"/>
          </a:xfrm>
          <a:prstGeom prst="rect">
            <a:avLst/>
          </a:prstGeom>
          <a:noFill/>
          <a:ln/>
        </p:spPr>
        <p:txBody>
          <a:bodyPr wrap="square" lIns="0" tIns="0" rIns="0" bIns="0" rtlCol="0" anchor="ctr"/>
          <a:lstStyle/>
          <a:p>
            <a:pPr marL="0" indent="0">
              <a:buNone/>
            </a:pPr>
            <a:r>
              <a:rPr lang="en-US" sz="1450" dirty="0">
                <a:solidFill>
                  <a:srgbClr val="8C9AB2"/>
                </a:solidFill>
                <a:latin typeface="Calibri" pitchFamily="34" charset="0"/>
                <a:ea typeface="Calibri" pitchFamily="34" charset="-122"/>
                <a:cs typeface="Calibri" pitchFamily="34" charset="-120"/>
              </a:rPr>
              <a:t>23.29 · 0.312</a:t>
            </a:r>
            <a:endParaRPr lang="en-US" sz="1450" dirty="0"/>
          </a:p>
        </p:txBody>
      </p:sp>
      <p:sp>
        <p:nvSpPr>
          <p:cNvPr id="21" name="Text 18"/>
          <p:cNvSpPr txBox="1"/>
          <p:nvPr/>
        </p:nvSpPr>
        <p:spPr>
          <a:xfrm>
            <a:off x="8780069" y="3410712"/>
            <a:ext cx="2753258" cy="457200"/>
          </a:xfrm>
          <a:prstGeom prst="rect">
            <a:avLst/>
          </a:prstGeom>
          <a:noFill/>
          <a:ln/>
        </p:spPr>
        <p:txBody>
          <a:bodyPr wrap="square" lIns="0" tIns="0" rIns="0" bIns="0" rtlCol="0" anchor="ctr"/>
          <a:lstStyle/>
          <a:p>
            <a:pPr marL="0" indent="0">
              <a:buNone/>
            </a:pPr>
            <a:r>
              <a:rPr lang="en-US" sz="1450" dirty="0">
                <a:solidFill>
                  <a:srgbClr val="8C9AB2"/>
                </a:solidFill>
                <a:latin typeface="Calibri" pitchFamily="34" charset="0"/>
                <a:ea typeface="Calibri" pitchFamily="34" charset="-122"/>
                <a:cs typeface="Calibri" pitchFamily="34" charset="-120"/>
              </a:rPr>
              <a:t>19.65 · 0.276</a:t>
            </a:r>
            <a:endParaRPr lang="en-US" sz="1450" dirty="0"/>
          </a:p>
        </p:txBody>
      </p:sp>
      <p:sp>
        <p:nvSpPr>
          <p:cNvPr id="22" name="Shape 19"/>
          <p:cNvSpPr/>
          <p:nvPr/>
        </p:nvSpPr>
        <p:spPr>
          <a:xfrm>
            <a:off x="658368" y="3904488"/>
            <a:ext cx="10874959" cy="0"/>
          </a:xfrm>
          <a:prstGeom prst="line">
            <a:avLst/>
          </a:prstGeom>
          <a:noFill/>
          <a:ln w="12700">
            <a:solidFill>
              <a:srgbClr val="1A2436"/>
            </a:solidFill>
            <a:prstDash val="solid"/>
          </a:ln>
        </p:spPr>
      </p:sp>
      <p:sp>
        <p:nvSpPr>
          <p:cNvPr id="23" name="Text 20"/>
          <p:cNvSpPr txBox="1"/>
          <p:nvPr/>
        </p:nvSpPr>
        <p:spPr>
          <a:xfrm>
            <a:off x="658368" y="3922776"/>
            <a:ext cx="2103120" cy="457200"/>
          </a:xfrm>
          <a:prstGeom prst="rect">
            <a:avLst/>
          </a:prstGeom>
          <a:noFill/>
          <a:ln/>
        </p:spPr>
        <p:txBody>
          <a:bodyPr wrap="square" lIns="0" tIns="0" rIns="0" bIns="0" rtlCol="0" anchor="ctr"/>
          <a:lstStyle/>
          <a:p>
            <a:pPr marL="0" indent="0">
              <a:buNone/>
            </a:pPr>
            <a:r>
              <a:rPr lang="en-US" sz="1450" b="1" dirty="0">
                <a:solidFill>
                  <a:srgbClr val="4FE0D2"/>
                </a:solidFill>
                <a:latin typeface="Calibri" pitchFamily="34" charset="0"/>
                <a:ea typeface="Calibri" pitchFamily="34" charset="-122"/>
                <a:cs typeface="Calibri" pitchFamily="34" charset="-120"/>
              </a:rPr>
              <a:t>Variable density</a:t>
            </a:r>
            <a:endParaRPr lang="en-US" sz="1450" dirty="0"/>
          </a:p>
        </p:txBody>
      </p:sp>
      <p:sp>
        <p:nvSpPr>
          <p:cNvPr id="24" name="Text 21"/>
          <p:cNvSpPr txBox="1"/>
          <p:nvPr/>
        </p:nvSpPr>
        <p:spPr>
          <a:xfrm>
            <a:off x="2944368" y="3922776"/>
            <a:ext cx="2753258" cy="457200"/>
          </a:xfrm>
          <a:prstGeom prst="rect">
            <a:avLst/>
          </a:prstGeom>
          <a:noFill/>
          <a:ln/>
        </p:spPr>
        <p:txBody>
          <a:bodyPr wrap="square" lIns="0" tIns="0" rIns="0" bIns="0" rtlCol="0" anchor="ctr"/>
          <a:lstStyle/>
          <a:p>
            <a:pPr marL="0" indent="0">
              <a:buNone/>
            </a:pPr>
            <a:r>
              <a:rPr lang="en-US" sz="1450" b="1" dirty="0">
                <a:solidFill>
                  <a:srgbClr val="4FE0D2"/>
                </a:solidFill>
                <a:latin typeface="Calibri" pitchFamily="34" charset="0"/>
                <a:ea typeface="Calibri" pitchFamily="34" charset="-122"/>
                <a:cs typeface="Calibri" pitchFamily="34" charset="-120"/>
              </a:rPr>
              <a:t>31.58 · 0.823</a:t>
            </a:r>
            <a:endParaRPr lang="en-US" sz="1450" dirty="0"/>
          </a:p>
        </p:txBody>
      </p:sp>
      <p:sp>
        <p:nvSpPr>
          <p:cNvPr id="25" name="Text 22"/>
          <p:cNvSpPr txBox="1"/>
          <p:nvPr/>
        </p:nvSpPr>
        <p:spPr>
          <a:xfrm>
            <a:off x="5862218" y="3922776"/>
            <a:ext cx="2753258" cy="457200"/>
          </a:xfrm>
          <a:prstGeom prst="rect">
            <a:avLst/>
          </a:prstGeom>
          <a:noFill/>
          <a:ln/>
        </p:spPr>
        <p:txBody>
          <a:bodyPr wrap="square" lIns="0" tIns="0" rIns="0" bIns="0" rtlCol="0" anchor="ctr"/>
          <a:lstStyle/>
          <a:p>
            <a:pPr marL="0" indent="0">
              <a:buNone/>
            </a:pPr>
            <a:r>
              <a:rPr lang="en-US" sz="1450" b="1" dirty="0">
                <a:solidFill>
                  <a:srgbClr val="4FE0D2"/>
                </a:solidFill>
                <a:latin typeface="Calibri" pitchFamily="34" charset="0"/>
                <a:ea typeface="Calibri" pitchFamily="34" charset="-122"/>
                <a:cs typeface="Calibri" pitchFamily="34" charset="-120"/>
              </a:rPr>
              <a:t>28.86 · 0.722</a:t>
            </a:r>
            <a:endParaRPr lang="en-US" sz="1450" dirty="0"/>
          </a:p>
        </p:txBody>
      </p:sp>
      <p:sp>
        <p:nvSpPr>
          <p:cNvPr id="26" name="Text 23"/>
          <p:cNvSpPr txBox="1"/>
          <p:nvPr/>
        </p:nvSpPr>
        <p:spPr>
          <a:xfrm>
            <a:off x="8780069" y="3922776"/>
            <a:ext cx="2753258" cy="457200"/>
          </a:xfrm>
          <a:prstGeom prst="rect">
            <a:avLst/>
          </a:prstGeom>
          <a:noFill/>
          <a:ln/>
        </p:spPr>
        <p:txBody>
          <a:bodyPr wrap="square" lIns="0" tIns="0" rIns="0" bIns="0" rtlCol="0" anchor="ctr"/>
          <a:lstStyle/>
          <a:p>
            <a:pPr marL="0" indent="0">
              <a:buNone/>
            </a:pPr>
            <a:r>
              <a:rPr lang="en-US" sz="1450" b="1" dirty="0">
                <a:solidFill>
                  <a:srgbClr val="4FE0D2"/>
                </a:solidFill>
                <a:latin typeface="Calibri" pitchFamily="34" charset="0"/>
                <a:ea typeface="Calibri" pitchFamily="34" charset="-122"/>
                <a:cs typeface="Calibri" pitchFamily="34" charset="-120"/>
              </a:rPr>
              <a:t>25.81 · 0.478</a:t>
            </a:r>
            <a:endParaRPr lang="en-US" sz="1450" dirty="0"/>
          </a:p>
        </p:txBody>
      </p:sp>
      <p:sp>
        <p:nvSpPr>
          <p:cNvPr id="27" name="Shape 24"/>
          <p:cNvSpPr/>
          <p:nvPr/>
        </p:nvSpPr>
        <p:spPr>
          <a:xfrm>
            <a:off x="658368" y="4690872"/>
            <a:ext cx="5291176" cy="1051560"/>
          </a:xfrm>
          <a:prstGeom prst="roundRect">
            <a:avLst>
              <a:gd name="adj" fmla="val 8696"/>
            </a:avLst>
          </a:prstGeom>
          <a:solidFill>
            <a:srgbClr val="121A28"/>
          </a:solidFill>
          <a:ln w="12700">
            <a:solidFill>
              <a:srgbClr val="263349"/>
            </a:solidFill>
            <a:prstDash val="solid"/>
          </a:ln>
        </p:spPr>
      </p:sp>
      <p:sp>
        <p:nvSpPr>
          <p:cNvPr id="28" name="Text 25"/>
          <p:cNvSpPr txBox="1"/>
          <p:nvPr/>
        </p:nvSpPr>
        <p:spPr>
          <a:xfrm>
            <a:off x="896112" y="4855464"/>
            <a:ext cx="4815688" cy="274320"/>
          </a:xfrm>
          <a:prstGeom prst="rect">
            <a:avLst/>
          </a:prstGeom>
          <a:noFill/>
          <a:ln/>
        </p:spPr>
        <p:txBody>
          <a:bodyPr wrap="square" lIns="0" tIns="0" rIns="0" bIns="0" rtlCol="0" anchor="ctr"/>
          <a:lstStyle/>
          <a:p>
            <a:pPr marL="0" indent="0">
              <a:buNone/>
            </a:pPr>
            <a:r>
              <a:rPr lang="en-US" sz="1350" b="1" dirty="0">
                <a:solidFill>
                  <a:srgbClr val="4FE0D2"/>
                </a:solidFill>
                <a:latin typeface="Calibri" pitchFamily="34" charset="0"/>
                <a:ea typeface="Calibri" pitchFamily="34" charset="-122"/>
                <a:cs typeface="Calibri" pitchFamily="34" charset="-120"/>
              </a:rPr>
              <a:t>Random wins on PSNR</a:t>
            </a:r>
            <a:endParaRPr lang="en-US" sz="1350" dirty="0"/>
          </a:p>
        </p:txBody>
      </p:sp>
      <p:sp>
        <p:nvSpPr>
          <p:cNvPr id="29" name="Text 26"/>
          <p:cNvSpPr txBox="1"/>
          <p:nvPr/>
        </p:nvSpPr>
        <p:spPr>
          <a:xfrm>
            <a:off x="896112" y="5184648"/>
            <a:ext cx="4815688" cy="502920"/>
          </a:xfrm>
          <a:prstGeom prst="rect">
            <a:avLst/>
          </a:prstGeom>
          <a:noFill/>
          <a:ln/>
        </p:spPr>
        <p:txBody>
          <a:bodyPr wrap="square" lIns="0" tIns="0" rIns="0" bIns="0" rtlCol="0" anchor="ctr"/>
          <a:lstStyle/>
          <a:p>
            <a:pPr marL="0" indent="0">
              <a:lnSpc>
                <a:spcPts val="1550"/>
              </a:lnSpc>
              <a:buNone/>
            </a:pPr>
            <a:r>
              <a:rPr lang="en-US" sz="1200" dirty="0">
                <a:solidFill>
                  <a:srgbClr val="8C9AB2"/>
                </a:solidFill>
                <a:latin typeface="Calibri" pitchFamily="34" charset="0"/>
                <a:ea typeface="Calibri" pitchFamily="34" charset="-122"/>
                <a:cs typeface="Calibri" pitchFamily="34" charset="-120"/>
              </a:rPr>
              <a:t>Variable density leads at every ratio, and on SSIM at 2× and 4×.</a:t>
            </a:r>
            <a:endParaRPr lang="en-US" sz="1200" dirty="0"/>
          </a:p>
        </p:txBody>
      </p:sp>
      <p:sp>
        <p:nvSpPr>
          <p:cNvPr id="30" name="Shape 27"/>
          <p:cNvSpPr/>
          <p:nvPr/>
        </p:nvSpPr>
        <p:spPr>
          <a:xfrm>
            <a:off x="6242152" y="4690872"/>
            <a:ext cx="5291176" cy="1051560"/>
          </a:xfrm>
          <a:prstGeom prst="roundRect">
            <a:avLst>
              <a:gd name="adj" fmla="val 8696"/>
            </a:avLst>
          </a:prstGeom>
          <a:solidFill>
            <a:srgbClr val="121A28"/>
          </a:solidFill>
          <a:ln w="12700">
            <a:solidFill>
              <a:srgbClr val="263349"/>
            </a:solidFill>
            <a:prstDash val="solid"/>
          </a:ln>
        </p:spPr>
      </p:sp>
      <p:sp>
        <p:nvSpPr>
          <p:cNvPr id="31" name="Text 28"/>
          <p:cNvSpPr txBox="1"/>
          <p:nvPr/>
        </p:nvSpPr>
        <p:spPr>
          <a:xfrm>
            <a:off x="6479896" y="4855464"/>
            <a:ext cx="4815688" cy="274320"/>
          </a:xfrm>
          <a:prstGeom prst="rect">
            <a:avLst/>
          </a:prstGeom>
          <a:noFill/>
          <a:ln/>
        </p:spPr>
        <p:txBody>
          <a:bodyPr wrap="square" lIns="0" tIns="0" rIns="0" bIns="0" rtlCol="0" anchor="ctr"/>
          <a:lstStyle/>
          <a:p>
            <a:pPr marL="0" indent="0">
              <a:buNone/>
            </a:pPr>
            <a:r>
              <a:rPr lang="en-US" sz="1350" b="1" dirty="0">
                <a:solidFill>
                  <a:srgbClr val="FFA85B"/>
                </a:solidFill>
                <a:latin typeface="Calibri" pitchFamily="34" charset="0"/>
                <a:ea typeface="Calibri" pitchFamily="34" charset="-122"/>
                <a:cs typeface="Calibri" pitchFamily="34" charset="-120"/>
              </a:rPr>
              <a:t>No single ranking</a:t>
            </a:r>
            <a:endParaRPr lang="en-US" sz="1350" dirty="0"/>
          </a:p>
        </p:txBody>
      </p:sp>
      <p:sp>
        <p:nvSpPr>
          <p:cNvPr id="32" name="Text 29"/>
          <p:cNvSpPr txBox="1"/>
          <p:nvPr/>
        </p:nvSpPr>
        <p:spPr>
          <a:xfrm>
            <a:off x="6479896" y="5184648"/>
            <a:ext cx="4815688" cy="502920"/>
          </a:xfrm>
          <a:prstGeom prst="rect">
            <a:avLst/>
          </a:prstGeom>
          <a:noFill/>
          <a:ln/>
        </p:spPr>
        <p:txBody>
          <a:bodyPr wrap="square" lIns="0" tIns="0" rIns="0" bIns="0" rtlCol="0" anchor="ctr"/>
          <a:lstStyle/>
          <a:p>
            <a:pPr marL="0" indent="0">
              <a:lnSpc>
                <a:spcPts val="1550"/>
              </a:lnSpc>
              <a:buNone/>
            </a:pPr>
            <a:r>
              <a:rPr lang="en-US" sz="1200" dirty="0">
                <a:solidFill>
                  <a:srgbClr val="8C9AB2"/>
                </a:solidFill>
                <a:latin typeface="Calibri" pitchFamily="34" charset="0"/>
                <a:ea typeface="Calibri" pitchFamily="34" charset="-122"/>
                <a:cs typeface="Calibri" pitchFamily="34" charset="-120"/>
              </a:rPr>
              <a:t>At 8× on the phantom, Cartesian keeps the higher SSIM (0.535 vs 0.478) — one metric alone would hide this.</a:t>
            </a:r>
            <a:endParaRPr lang="en-US" sz="1200" dirty="0"/>
          </a:p>
        </p:txBody>
      </p:sp>
      <p:sp>
        <p:nvSpPr>
          <p:cNvPr id="33" name="Text 30"/>
          <p:cNvSpPr txBox="1"/>
          <p:nvPr/>
        </p:nvSpPr>
        <p:spPr>
          <a:xfrm>
            <a:off x="658368" y="5888736"/>
            <a:ext cx="10874959" cy="274320"/>
          </a:xfrm>
          <a:prstGeom prst="rect">
            <a:avLst/>
          </a:prstGeom>
          <a:noFill/>
          <a:ln/>
        </p:spPr>
        <p:txBody>
          <a:bodyPr wrap="square" lIns="0" tIns="0" rIns="0" bIns="0" rtlCol="0" anchor="ctr"/>
          <a:lstStyle/>
          <a:p>
            <a:pPr marL="0" indent="0">
              <a:buNone/>
            </a:pPr>
            <a:r>
              <a:rPr lang="en-US" sz="1100" i="1" dirty="0">
                <a:solidFill>
                  <a:srgbClr val="62708A"/>
                </a:solidFill>
                <a:latin typeface="Calibri" pitchFamily="34" charset="0"/>
                <a:ea typeface="Calibri" pitchFamily="34" charset="-122"/>
                <a:cs typeface="Calibri" pitchFamily="34" charset="-120"/>
              </a:rPr>
              <a:t>Cells: PSNR (dB) · SSIM  ·  source: outputs/metrics.csv from python main.py  ·  live: tab 5, Sweep</a:t>
            </a:r>
            <a:endParaRPr lang="en-US" sz="11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REDUCED FOV, SETUP · ROI.PY</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SHAFNAN WASIF · 2305126</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2800"/>
              </a:lnSpc>
              <a:buNone/>
            </a:pPr>
            <a:r>
              <a:rPr lang="en-US" sz="2500" b="1" dirty="0">
                <a:solidFill>
                  <a:srgbClr val="F3F6FA"/>
                </a:solidFill>
                <a:latin typeface="Cambria" pitchFamily="34" charset="0"/>
                <a:ea typeface="Cambria" pitchFamily="34" charset="-122"/>
                <a:cs typeface="Cambria" pitchFamily="34" charset="-120"/>
              </a:rPr>
              <a:t>A corner of k-space, deleted — but the error is everywhere.</a:t>
            </a:r>
            <a:endParaRPr lang="en-US" sz="25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14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Shape 5"/>
          <p:cNvSpPr/>
          <p:nvPr/>
        </p:nvSpPr>
        <p:spPr>
          <a:xfrm>
            <a:off x="512064" y="2048256"/>
            <a:ext cx="3127248" cy="3401568"/>
          </a:xfrm>
          <a:prstGeom prst="roundRect">
            <a:avLst>
              <a:gd name="adj" fmla="val 2924"/>
            </a:avLst>
          </a:prstGeom>
          <a:solidFill>
            <a:srgbClr val="121A28"/>
          </a:solidFill>
          <a:ln w="12700">
            <a:solidFill>
              <a:srgbClr val="263349"/>
            </a:solidFill>
            <a:prstDash val="solid"/>
          </a:ln>
        </p:spPr>
      </p:sp>
      <p:pic>
        <p:nvPicPr>
          <p:cNvPr id="9" name="Image 1" descr="/home/claude/deck/assets/image-15-1.png"/>
          <p:cNvPicPr>
            <a:picLocks noChangeAspect="1"/>
          </p:cNvPicPr>
          <p:nvPr/>
        </p:nvPicPr>
        <p:blipFill>
          <a:blip r:embed="rId4"/>
          <a:stretch>
            <a:fillRect/>
          </a:stretch>
        </p:blipFill>
        <p:spPr>
          <a:xfrm>
            <a:off x="658368" y="2194560"/>
            <a:ext cx="2834640" cy="2834640"/>
          </a:xfrm>
          <a:prstGeom prst="rect">
            <a:avLst/>
          </a:prstGeom>
        </p:spPr>
      </p:pic>
      <p:sp>
        <p:nvSpPr>
          <p:cNvPr id="10" name="Text 6"/>
          <p:cNvSpPr txBox="1"/>
          <p:nvPr/>
        </p:nvSpPr>
        <p:spPr>
          <a:xfrm>
            <a:off x="658368" y="5120640"/>
            <a:ext cx="2834640" cy="384048"/>
          </a:xfrm>
          <a:prstGeom prst="rect">
            <a:avLst/>
          </a:prstGeom>
          <a:noFill/>
          <a:ln/>
        </p:spPr>
        <p:txBody>
          <a:bodyPr wrap="square" lIns="0" tIns="0" rIns="0" bIns="0" rtlCol="0" anchor="ctr"/>
          <a:lstStyle/>
          <a:p>
            <a:pPr marL="0" indent="0">
              <a:lnSpc>
                <a:spcPts val="1250"/>
              </a:lnSpc>
              <a:buNone/>
            </a:pPr>
            <a:r>
              <a:rPr lang="en-US" sz="950" b="1" kern="0" spc="50" dirty="0">
                <a:solidFill>
                  <a:srgbClr val="8C9AB2"/>
                </a:solidFill>
                <a:latin typeface="Calibri" pitchFamily="34" charset="0"/>
                <a:ea typeface="Calibri" pitchFamily="34" charset="-122"/>
                <a:cs typeface="Calibri" pitchFamily="34" charset="-120"/>
              </a:rPr>
              <a:t>ERROR MAP AFTER DELETING THE TOP-LEFT K-SPACE QUADRANT</a:t>
            </a:r>
            <a:endParaRPr lang="en-US" sz="950" dirty="0"/>
          </a:p>
        </p:txBody>
      </p:sp>
      <p:sp>
        <p:nvSpPr>
          <p:cNvPr id="11" name="Text 7"/>
          <p:cNvSpPr txBox="1"/>
          <p:nvPr/>
        </p:nvSpPr>
        <p:spPr>
          <a:xfrm>
            <a:off x="4041648" y="2139696"/>
            <a:ext cx="7491679" cy="274320"/>
          </a:xfrm>
          <a:prstGeom prst="rect">
            <a:avLst/>
          </a:prstGeom>
          <a:noFill/>
          <a:ln/>
        </p:spPr>
        <p:txBody>
          <a:bodyPr wrap="square" lIns="0" tIns="0" rIns="0" bIns="0" rtlCol="0" anchor="ctr"/>
          <a:lstStyle/>
          <a:p>
            <a:pPr marL="0" indent="0">
              <a:buNone/>
            </a:pPr>
            <a:r>
              <a:rPr lang="en-US" sz="1250" b="1" kern="0" spc="150" dirty="0">
                <a:solidFill>
                  <a:srgbClr val="FFA85B"/>
                </a:solidFill>
                <a:latin typeface="Calibri" pitchFamily="34" charset="0"/>
                <a:ea typeface="Calibri" pitchFamily="34" charset="-122"/>
                <a:cs typeface="Calibri" pitchFamily="34" charset="-120"/>
              </a:rPr>
              <a:t>THE WRONG INSTINCT</a:t>
            </a:r>
            <a:endParaRPr lang="en-US" sz="1250" dirty="0"/>
          </a:p>
        </p:txBody>
      </p:sp>
      <p:sp>
        <p:nvSpPr>
          <p:cNvPr id="12" name="Text 8"/>
          <p:cNvSpPr txBox="1"/>
          <p:nvPr/>
        </p:nvSpPr>
        <p:spPr>
          <a:xfrm>
            <a:off x="4041648" y="2468880"/>
            <a:ext cx="7491679" cy="594360"/>
          </a:xfrm>
          <a:prstGeom prst="rect">
            <a:avLst/>
          </a:prstGeom>
          <a:noFill/>
          <a:ln/>
        </p:spPr>
        <p:txBody>
          <a:bodyPr wrap="square" lIns="0" tIns="0" rIns="0" bIns="0" rtlCol="0" anchor="ctr"/>
          <a:lstStyle/>
          <a:p>
            <a:pPr marL="0" indent="0">
              <a:lnSpc>
                <a:spcPts val="1700"/>
              </a:lnSpc>
              <a:buNone/>
            </a:pPr>
            <a:r>
              <a:rPr lang="en-US" sz="1350" dirty="0">
                <a:solidFill>
                  <a:srgbClr val="8C9AB2"/>
                </a:solidFill>
                <a:latin typeface="Calibri" pitchFamily="34" charset="0"/>
                <a:ea typeface="Calibri" pitchFamily="34" charset="-122"/>
                <a:cs typeface="Calibri" pitchFamily="34" charset="-120"/>
              </a:rPr>
              <a:t>If the target sits in one corner of the image, keep the matching corner of k-space and throw the rest away.</a:t>
            </a:r>
            <a:endParaRPr lang="en-US" sz="1350" dirty="0"/>
          </a:p>
        </p:txBody>
      </p:sp>
      <p:sp>
        <p:nvSpPr>
          <p:cNvPr id="13" name="Shape 9"/>
          <p:cNvSpPr/>
          <p:nvPr/>
        </p:nvSpPr>
        <p:spPr>
          <a:xfrm>
            <a:off x="4041648" y="3200400"/>
            <a:ext cx="7491679" cy="2103120"/>
          </a:xfrm>
          <a:prstGeom prst="roundRect">
            <a:avLst>
              <a:gd name="adj" fmla="val 4348"/>
            </a:avLst>
          </a:prstGeom>
          <a:solidFill>
            <a:srgbClr val="140E0C"/>
          </a:solidFill>
          <a:ln w="12700">
            <a:solidFill>
              <a:srgbClr val="3A2419"/>
            </a:solidFill>
            <a:prstDash val="solid"/>
          </a:ln>
        </p:spPr>
      </p:sp>
      <p:sp>
        <p:nvSpPr>
          <p:cNvPr id="14" name="Text 10"/>
          <p:cNvSpPr txBox="1"/>
          <p:nvPr/>
        </p:nvSpPr>
        <p:spPr>
          <a:xfrm>
            <a:off x="4279392" y="3364992"/>
            <a:ext cx="7016191" cy="237744"/>
          </a:xfrm>
          <a:prstGeom prst="rect">
            <a:avLst/>
          </a:prstGeom>
          <a:noFill/>
          <a:ln/>
        </p:spPr>
        <p:txBody>
          <a:bodyPr wrap="square" lIns="0" tIns="0" rIns="0" bIns="0" rtlCol="0" anchor="ctr"/>
          <a:lstStyle/>
          <a:p>
            <a:pPr marL="0" indent="0">
              <a:buNone/>
            </a:pPr>
            <a:r>
              <a:rPr lang="en-US" sz="1050" b="1" kern="0" spc="100" dirty="0">
                <a:solidFill>
                  <a:srgbClr val="FFA85B"/>
                </a:solidFill>
                <a:latin typeface="Calibri" pitchFamily="34" charset="0"/>
                <a:ea typeface="Calibri" pitchFamily="34" charset="-122"/>
                <a:cs typeface="Calibri" pitchFamily="34" charset="-120"/>
              </a:rPr>
              <a:t>MEAN |ERROR| PER IMAGE QUADRANT</a:t>
            </a:r>
            <a:endParaRPr lang="en-US" sz="1050" dirty="0"/>
          </a:p>
        </p:txBody>
      </p:sp>
      <p:sp>
        <p:nvSpPr>
          <p:cNvPr id="15" name="Text 11"/>
          <p:cNvSpPr txBox="1"/>
          <p:nvPr/>
        </p:nvSpPr>
        <p:spPr>
          <a:xfrm>
            <a:off x="4279392" y="3675888"/>
            <a:ext cx="1630604" cy="457200"/>
          </a:xfrm>
          <a:prstGeom prst="rect">
            <a:avLst/>
          </a:prstGeom>
          <a:noFill/>
          <a:ln/>
        </p:spPr>
        <p:txBody>
          <a:bodyPr wrap="square" lIns="0" tIns="0" rIns="0" bIns="0" rtlCol="0" anchor="ctr"/>
          <a:lstStyle/>
          <a:p>
            <a:pPr marL="0" indent="0" algn="ctr">
              <a:buNone/>
            </a:pPr>
            <a:r>
              <a:rPr lang="en-US" sz="2400" b="1" dirty="0">
                <a:solidFill>
                  <a:srgbClr val="F3F6FA"/>
                </a:solidFill>
                <a:latin typeface="Cambria" pitchFamily="34" charset="0"/>
                <a:ea typeface="Cambria" pitchFamily="34" charset="-122"/>
                <a:cs typeface="Cambria" pitchFamily="34" charset="-120"/>
              </a:rPr>
              <a:t>0.039</a:t>
            </a:r>
            <a:endParaRPr lang="en-US" sz="2400" dirty="0"/>
          </a:p>
        </p:txBody>
      </p:sp>
      <p:sp>
        <p:nvSpPr>
          <p:cNvPr id="16" name="Text 12"/>
          <p:cNvSpPr txBox="1"/>
          <p:nvPr/>
        </p:nvSpPr>
        <p:spPr>
          <a:xfrm>
            <a:off x="6074588" y="3675888"/>
            <a:ext cx="1630604" cy="457200"/>
          </a:xfrm>
          <a:prstGeom prst="rect">
            <a:avLst/>
          </a:prstGeom>
          <a:noFill/>
          <a:ln/>
        </p:spPr>
        <p:txBody>
          <a:bodyPr wrap="square" lIns="0" tIns="0" rIns="0" bIns="0" rtlCol="0" anchor="ctr"/>
          <a:lstStyle/>
          <a:p>
            <a:pPr marL="0" indent="0" algn="ctr">
              <a:buNone/>
            </a:pPr>
            <a:r>
              <a:rPr lang="en-US" sz="2400" b="1" dirty="0">
                <a:solidFill>
                  <a:srgbClr val="F3F6FA"/>
                </a:solidFill>
                <a:latin typeface="Cambria" pitchFamily="34" charset="0"/>
                <a:ea typeface="Cambria" pitchFamily="34" charset="-122"/>
                <a:cs typeface="Cambria" pitchFamily="34" charset="-120"/>
              </a:rPr>
              <a:t>0.022</a:t>
            </a:r>
            <a:endParaRPr lang="en-US" sz="2400" dirty="0"/>
          </a:p>
        </p:txBody>
      </p:sp>
      <p:sp>
        <p:nvSpPr>
          <p:cNvPr id="17" name="Text 13"/>
          <p:cNvSpPr txBox="1"/>
          <p:nvPr/>
        </p:nvSpPr>
        <p:spPr>
          <a:xfrm>
            <a:off x="7869784" y="3675888"/>
            <a:ext cx="1630604" cy="457200"/>
          </a:xfrm>
          <a:prstGeom prst="rect">
            <a:avLst/>
          </a:prstGeom>
          <a:noFill/>
          <a:ln/>
        </p:spPr>
        <p:txBody>
          <a:bodyPr wrap="square" lIns="0" tIns="0" rIns="0" bIns="0" rtlCol="0" anchor="ctr"/>
          <a:lstStyle/>
          <a:p>
            <a:pPr marL="0" indent="0" algn="ctr">
              <a:buNone/>
            </a:pPr>
            <a:r>
              <a:rPr lang="en-US" sz="2400" b="1" dirty="0">
                <a:solidFill>
                  <a:srgbClr val="F3F6FA"/>
                </a:solidFill>
                <a:latin typeface="Cambria" pitchFamily="34" charset="0"/>
                <a:ea typeface="Cambria" pitchFamily="34" charset="-122"/>
                <a:cs typeface="Cambria" pitchFamily="34" charset="-120"/>
              </a:rPr>
              <a:t>0.027</a:t>
            </a:r>
            <a:endParaRPr lang="en-US" sz="2400" dirty="0"/>
          </a:p>
        </p:txBody>
      </p:sp>
      <p:sp>
        <p:nvSpPr>
          <p:cNvPr id="18" name="Text 14"/>
          <p:cNvSpPr txBox="1"/>
          <p:nvPr/>
        </p:nvSpPr>
        <p:spPr>
          <a:xfrm>
            <a:off x="9664979" y="3675888"/>
            <a:ext cx="1630604" cy="457200"/>
          </a:xfrm>
          <a:prstGeom prst="rect">
            <a:avLst/>
          </a:prstGeom>
          <a:noFill/>
          <a:ln/>
        </p:spPr>
        <p:txBody>
          <a:bodyPr wrap="square" lIns="0" tIns="0" rIns="0" bIns="0" rtlCol="0" anchor="ctr"/>
          <a:lstStyle/>
          <a:p>
            <a:pPr marL="0" indent="0" algn="ctr">
              <a:buNone/>
            </a:pPr>
            <a:r>
              <a:rPr lang="en-US" sz="2400" b="1" dirty="0">
                <a:solidFill>
                  <a:srgbClr val="F3F6FA"/>
                </a:solidFill>
                <a:latin typeface="Cambria" pitchFamily="34" charset="0"/>
                <a:ea typeface="Cambria" pitchFamily="34" charset="-122"/>
                <a:cs typeface="Cambria" pitchFamily="34" charset="-120"/>
              </a:rPr>
              <a:t>0.033</a:t>
            </a:r>
            <a:endParaRPr lang="en-US" sz="2400" dirty="0"/>
          </a:p>
        </p:txBody>
      </p:sp>
      <p:sp>
        <p:nvSpPr>
          <p:cNvPr id="19" name="Text 15"/>
          <p:cNvSpPr txBox="1"/>
          <p:nvPr/>
        </p:nvSpPr>
        <p:spPr>
          <a:xfrm>
            <a:off x="4279392" y="4242816"/>
            <a:ext cx="7016191" cy="365760"/>
          </a:xfrm>
          <a:prstGeom prst="rect">
            <a:avLst/>
          </a:prstGeom>
          <a:noFill/>
          <a:ln/>
        </p:spPr>
        <p:txBody>
          <a:bodyPr wrap="square" lIns="0" tIns="0" rIns="0" bIns="0" rtlCol="0" anchor="ctr"/>
          <a:lstStyle/>
          <a:p>
            <a:pPr marL="0" indent="0">
              <a:lnSpc>
                <a:spcPts val="1500"/>
              </a:lnSpc>
              <a:buNone/>
            </a:pPr>
            <a:r>
              <a:rPr lang="en-US" sz="1150" i="1" dirty="0">
                <a:solidFill>
                  <a:srgbClr val="F3F6FA"/>
                </a:solidFill>
                <a:latin typeface="Calibri" pitchFamily="34" charset="0"/>
                <a:ea typeface="Calibri" pitchFamily="34" charset="-122"/>
                <a:cs typeface="Calibri" pitchFamily="34" charset="-120"/>
              </a:rPr>
              <a:t>Nearly uniform — deleting one quadrant does not blank the matching quadrant of the image.</a:t>
            </a:r>
            <a:endParaRPr lang="en-US" sz="1150" dirty="0"/>
          </a:p>
        </p:txBody>
      </p:sp>
      <p:sp>
        <p:nvSpPr>
          <p:cNvPr id="20" name="Text 16"/>
          <p:cNvSpPr txBox="1"/>
          <p:nvPr/>
        </p:nvSpPr>
        <p:spPr>
          <a:xfrm>
            <a:off x="4279392" y="4663440"/>
            <a:ext cx="7016191" cy="502920"/>
          </a:xfrm>
          <a:prstGeom prst="rect">
            <a:avLst/>
          </a:prstGeom>
          <a:noFill/>
          <a:ln/>
        </p:spPr>
        <p:txBody>
          <a:bodyPr wrap="square" lIns="0" tIns="0" rIns="0" bIns="0" rtlCol="0" anchor="ctr"/>
          <a:lstStyle/>
          <a:p>
            <a:pPr marL="0" indent="0">
              <a:lnSpc>
                <a:spcPts val="1450"/>
              </a:lnSpc>
              <a:buNone/>
            </a:pPr>
            <a:r>
              <a:rPr lang="en-US" sz="1100" dirty="0">
                <a:solidFill>
                  <a:srgbClr val="8C9AB2"/>
                </a:solidFill>
                <a:latin typeface="Calibri" pitchFamily="34" charset="0"/>
                <a:ea typeface="Calibri" pitchFamily="34" charset="-122"/>
                <a:cs typeface="Calibri" pitchFamily="34" charset="-120"/>
              </a:rPr>
              <a:t>If k-space were local, one quadrant would carry nearly all the error and the rest close to zero. It doesn't work that way.</a:t>
            </a:r>
            <a:endParaRPr lang="en-US" sz="1100" dirty="0"/>
          </a:p>
        </p:txBody>
      </p:sp>
      <p:sp>
        <p:nvSpPr>
          <p:cNvPr id="21" name="Text 17"/>
          <p:cNvSpPr txBox="1"/>
          <p:nvPr/>
        </p:nvSpPr>
        <p:spPr>
          <a:xfrm>
            <a:off x="658368" y="5650992"/>
            <a:ext cx="10874959" cy="548640"/>
          </a:xfrm>
          <a:prstGeom prst="rect">
            <a:avLst/>
          </a:prstGeom>
          <a:noFill/>
          <a:ln/>
        </p:spPr>
        <p:txBody>
          <a:bodyPr wrap="square" lIns="0" tIns="0" rIns="0" bIns="0" rtlCol="0" anchor="ctr"/>
          <a:lstStyle/>
          <a:p>
            <a:pPr marL="0" indent="0">
              <a:lnSpc>
                <a:spcPts val="1600"/>
              </a:lnSpc>
              <a:buNone/>
            </a:pPr>
            <a:r>
              <a:rPr lang="en-US" sz="1250" dirty="0">
                <a:solidFill>
                  <a:srgbClr val="4FE0D2"/>
                </a:solidFill>
                <a:latin typeface="Calibri" pitchFamily="34" charset="0"/>
                <a:ea typeface="Calibri" pitchFamily="34" charset="-122"/>
                <a:cs typeface="Calibri" pitchFamily="34" charset="-120"/>
              </a:rPr>
              <a:t>Every sample carries information about the whole object — position lives in phase, not location. So the right knob isn't which region of k-space you keep — it's how finely you sample. Next: reduced FOV.</a:t>
            </a:r>
            <a:endParaRPr lang="en-US" sz="125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REDUCED FIELD OF VIEW · ROI.PY</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SHAFNAN WASIF · 2305126</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2800"/>
              </a:lnSpc>
              <a:buNone/>
            </a:pPr>
            <a:r>
              <a:rPr lang="en-US" sz="2500" b="1" dirty="0">
                <a:solidFill>
                  <a:srgbClr val="F3F6FA"/>
                </a:solidFill>
                <a:latin typeface="Cambria" pitchFamily="34" charset="0"/>
                <a:ea typeface="Cambria" pitchFamily="34" charset="-122"/>
                <a:cs typeface="Cambria" pitchFamily="34" charset="-120"/>
              </a:rPr>
              <a:t>Scan only the region that matters — and get it exact.</a:t>
            </a:r>
            <a:endParaRPr lang="en-US" sz="25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15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Shape 5"/>
          <p:cNvSpPr/>
          <p:nvPr/>
        </p:nvSpPr>
        <p:spPr>
          <a:xfrm>
            <a:off x="512064" y="2139696"/>
            <a:ext cx="3035808" cy="3493008"/>
          </a:xfrm>
          <a:prstGeom prst="roundRect">
            <a:avLst>
              <a:gd name="adj" fmla="val 3012"/>
            </a:avLst>
          </a:prstGeom>
          <a:solidFill>
            <a:srgbClr val="121A28"/>
          </a:solidFill>
          <a:ln w="12700">
            <a:solidFill>
              <a:srgbClr val="FFA85B"/>
            </a:solidFill>
            <a:prstDash val="solid"/>
          </a:ln>
        </p:spPr>
      </p:sp>
      <p:pic>
        <p:nvPicPr>
          <p:cNvPr id="9" name="Image 1" descr="/home/claude/deck/assets/image-16-1.png"/>
          <p:cNvPicPr>
            <a:picLocks noChangeAspect="1"/>
          </p:cNvPicPr>
          <p:nvPr/>
        </p:nvPicPr>
        <p:blipFill>
          <a:blip r:embed="rId4"/>
          <a:stretch>
            <a:fillRect/>
          </a:stretch>
        </p:blipFill>
        <p:spPr>
          <a:xfrm>
            <a:off x="658368" y="2286000"/>
            <a:ext cx="2743200" cy="2743200"/>
          </a:xfrm>
          <a:prstGeom prst="rect">
            <a:avLst/>
          </a:prstGeom>
        </p:spPr>
      </p:pic>
      <p:sp>
        <p:nvSpPr>
          <p:cNvPr id="10" name="Text 6"/>
          <p:cNvSpPr txBox="1"/>
          <p:nvPr/>
        </p:nvSpPr>
        <p:spPr>
          <a:xfrm>
            <a:off x="658368" y="5120640"/>
            <a:ext cx="2743200" cy="237744"/>
          </a:xfrm>
          <a:prstGeom prst="rect">
            <a:avLst/>
          </a:prstGeom>
          <a:noFill/>
          <a:ln/>
        </p:spPr>
        <p:txBody>
          <a:bodyPr wrap="square" lIns="0" tIns="0" rIns="0" bIns="0" rtlCol="0" anchor="ctr"/>
          <a:lstStyle/>
          <a:p>
            <a:pPr marL="0" indent="0" algn="ctr">
              <a:buNone/>
            </a:pPr>
            <a:r>
              <a:rPr lang="en-US" sz="1100" b="1" kern="0" spc="100" dirty="0">
                <a:solidFill>
                  <a:srgbClr val="FFA85B"/>
                </a:solidFill>
                <a:latin typeface="Calibri" pitchFamily="34" charset="0"/>
                <a:ea typeface="Calibri" pitchFamily="34" charset="-122"/>
                <a:cs typeface="Calibri" pitchFamily="34" charset="-120"/>
              </a:rPr>
              <a:t>TARGET: PITUITARY TUMOUR</a:t>
            </a:r>
            <a:endParaRPr lang="en-US" sz="1100" dirty="0"/>
          </a:p>
        </p:txBody>
      </p:sp>
      <p:sp>
        <p:nvSpPr>
          <p:cNvPr id="11" name="Text 7"/>
          <p:cNvSpPr txBox="1"/>
          <p:nvPr/>
        </p:nvSpPr>
        <p:spPr>
          <a:xfrm>
            <a:off x="658368" y="5376672"/>
            <a:ext cx="2743200" cy="237744"/>
          </a:xfrm>
          <a:prstGeom prst="rect">
            <a:avLst/>
          </a:prstGeom>
          <a:noFill/>
          <a:ln/>
        </p:spPr>
        <p:txBody>
          <a:bodyPr wrap="square" lIns="0" tIns="0" rIns="0" bIns="0" rtlCol="0" anchor="ctr"/>
          <a:lstStyle/>
          <a:p>
            <a:pPr marL="0" indent="0" algn="ctr">
              <a:buNone/>
            </a:pPr>
            <a:r>
              <a:rPr lang="en-US" sz="1100" dirty="0">
                <a:solidFill>
                  <a:srgbClr val="8C9AB2"/>
                </a:solidFill>
                <a:latin typeface="Calibri" pitchFamily="34" charset="0"/>
                <a:ea typeface="Calibri" pitchFamily="34" charset="-122"/>
                <a:cs typeface="Calibri" pitchFamily="34" charset="-120"/>
              </a:rPr>
              <a:t>R = 4 → 6.25% of k-space, 16× faster</a:t>
            </a:r>
            <a:endParaRPr lang="en-US" sz="1100" dirty="0"/>
          </a:p>
        </p:txBody>
      </p:sp>
      <p:sp>
        <p:nvSpPr>
          <p:cNvPr id="12" name="Shape 8"/>
          <p:cNvSpPr/>
          <p:nvPr/>
        </p:nvSpPr>
        <p:spPr>
          <a:xfrm>
            <a:off x="3730752" y="2157984"/>
            <a:ext cx="7802575" cy="1627632"/>
          </a:xfrm>
          <a:prstGeom prst="roundRect">
            <a:avLst>
              <a:gd name="adj" fmla="val 5618"/>
            </a:avLst>
          </a:prstGeom>
          <a:solidFill>
            <a:srgbClr val="121A28"/>
          </a:solidFill>
          <a:ln w="12700">
            <a:solidFill>
              <a:srgbClr val="4FE0D2"/>
            </a:solidFill>
            <a:prstDash val="solid"/>
          </a:ln>
        </p:spPr>
      </p:sp>
      <p:pic>
        <p:nvPicPr>
          <p:cNvPr id="13" name="Image 2" descr="/home/claude/deck/assets/image-16-2.png"/>
          <p:cNvPicPr>
            <a:picLocks noChangeAspect="1"/>
          </p:cNvPicPr>
          <p:nvPr/>
        </p:nvPicPr>
        <p:blipFill>
          <a:blip r:embed="rId5"/>
          <a:stretch>
            <a:fillRect/>
          </a:stretch>
        </p:blipFill>
        <p:spPr>
          <a:xfrm>
            <a:off x="3858768" y="2286000"/>
            <a:ext cx="1371600" cy="1371600"/>
          </a:xfrm>
          <a:prstGeom prst="rect">
            <a:avLst/>
          </a:prstGeom>
        </p:spPr>
      </p:pic>
      <p:sp>
        <p:nvSpPr>
          <p:cNvPr id="14" name="Text 9"/>
          <p:cNvSpPr txBox="1"/>
          <p:nvPr/>
        </p:nvSpPr>
        <p:spPr>
          <a:xfrm>
            <a:off x="5458968" y="2267712"/>
            <a:ext cx="5973775" cy="411480"/>
          </a:xfrm>
          <a:prstGeom prst="rect">
            <a:avLst/>
          </a:prstGeom>
          <a:noFill/>
          <a:ln/>
        </p:spPr>
        <p:txBody>
          <a:bodyPr wrap="square" lIns="0" tIns="0" rIns="0" bIns="0" rtlCol="0" anchor="ctr"/>
          <a:lstStyle/>
          <a:p>
            <a:pPr marL="0" indent="0">
              <a:buNone/>
            </a:pPr>
            <a:r>
              <a:rPr lang="en-US" sz="2200" b="1" dirty="0">
                <a:solidFill>
                  <a:srgbClr val="4FE0D2"/>
                </a:solidFill>
                <a:latin typeface="Cambria" pitchFamily="34" charset="0"/>
                <a:ea typeface="Cambria" pitchFamily="34" charset="-122"/>
                <a:cs typeface="Cambria" pitchFamily="34" charset="-120"/>
              </a:rPr>
              <a:t>330.8 dB · SSIM 1.000</a:t>
            </a:r>
            <a:endParaRPr lang="en-US" sz="2200" dirty="0"/>
          </a:p>
        </p:txBody>
      </p:sp>
      <p:sp>
        <p:nvSpPr>
          <p:cNvPr id="15" name="Text 10"/>
          <p:cNvSpPr txBox="1"/>
          <p:nvPr/>
        </p:nvSpPr>
        <p:spPr>
          <a:xfrm>
            <a:off x="5458968" y="2706624"/>
            <a:ext cx="5973775" cy="256032"/>
          </a:xfrm>
          <a:prstGeom prst="rect">
            <a:avLst/>
          </a:prstGeom>
          <a:noFill/>
          <a:ln/>
        </p:spPr>
        <p:txBody>
          <a:bodyPr wrap="square" lIns="0" tIns="0" rIns="0" bIns="0" rtlCol="0" anchor="ctr"/>
          <a:lstStyle/>
          <a:p>
            <a:pPr marL="0" indent="0">
              <a:buNone/>
            </a:pPr>
            <a:r>
              <a:rPr lang="en-US" sz="1350" b="1" dirty="0">
                <a:solidFill>
                  <a:srgbClr val="F3F6FA"/>
                </a:solidFill>
                <a:latin typeface="Calibri" pitchFamily="34" charset="0"/>
                <a:ea typeface="Calibri" pitchFamily="34" charset="-122"/>
                <a:cs typeface="Calibri" pitchFamily="34" charset="-120"/>
              </a:rPr>
              <a:t>Reduced FOV</a:t>
            </a:r>
            <a:endParaRPr lang="en-US" sz="1350" dirty="0"/>
          </a:p>
        </p:txBody>
      </p:sp>
      <p:sp>
        <p:nvSpPr>
          <p:cNvPr id="16" name="Text 11"/>
          <p:cNvSpPr txBox="1"/>
          <p:nvPr/>
        </p:nvSpPr>
        <p:spPr>
          <a:xfrm>
            <a:off x="5458968" y="2999232"/>
            <a:ext cx="5973775" cy="594360"/>
          </a:xfrm>
          <a:prstGeom prst="rect">
            <a:avLst/>
          </a:prstGeom>
          <a:noFill/>
          <a:ln/>
        </p:spPr>
        <p:txBody>
          <a:bodyPr wrap="square" lIns="0" tIns="0" rIns="0" bIns="0" rtlCol="0" anchor="ctr"/>
          <a:lstStyle/>
          <a:p>
            <a:pPr marL="0" indent="0">
              <a:lnSpc>
                <a:spcPts val="1500"/>
              </a:lnSpc>
              <a:buNone/>
            </a:pPr>
            <a:r>
              <a:rPr lang="en-US" sz="1150" dirty="0">
                <a:solidFill>
                  <a:srgbClr val="8C9AB2"/>
                </a:solidFill>
                <a:latin typeface="Calibri" pitchFamily="34" charset="0"/>
                <a:ea typeface="Calibri" pitchFamily="34" charset="-122"/>
                <a:cs typeface="Calibri" pitchFamily="34" charset="-120"/>
              </a:rPr>
              <a:t>Excite the box, decimate the grid — a complete, critically sampled measurement. Exact.</a:t>
            </a:r>
            <a:endParaRPr lang="en-US" sz="1150" dirty="0"/>
          </a:p>
        </p:txBody>
      </p:sp>
      <p:sp>
        <p:nvSpPr>
          <p:cNvPr id="17" name="Shape 12"/>
          <p:cNvSpPr/>
          <p:nvPr/>
        </p:nvSpPr>
        <p:spPr>
          <a:xfrm>
            <a:off x="3730752" y="3895344"/>
            <a:ext cx="7802575" cy="1627632"/>
          </a:xfrm>
          <a:prstGeom prst="roundRect">
            <a:avLst>
              <a:gd name="adj" fmla="val 5618"/>
            </a:avLst>
          </a:prstGeom>
          <a:solidFill>
            <a:srgbClr val="121A28"/>
          </a:solidFill>
          <a:ln w="12700">
            <a:solidFill>
              <a:srgbClr val="263349"/>
            </a:solidFill>
            <a:prstDash val="solid"/>
          </a:ln>
        </p:spPr>
      </p:sp>
      <p:pic>
        <p:nvPicPr>
          <p:cNvPr id="18" name="Image 3" descr="/home/claude/deck/assets/image-16-4.png"/>
          <p:cNvPicPr>
            <a:picLocks noChangeAspect="1"/>
          </p:cNvPicPr>
          <p:nvPr/>
        </p:nvPicPr>
        <p:blipFill>
          <a:blip r:embed="rId6"/>
          <a:stretch>
            <a:fillRect/>
          </a:stretch>
        </p:blipFill>
        <p:spPr>
          <a:xfrm>
            <a:off x="3858768" y="4023360"/>
            <a:ext cx="1371600" cy="1371600"/>
          </a:xfrm>
          <a:prstGeom prst="rect">
            <a:avLst/>
          </a:prstGeom>
        </p:spPr>
      </p:pic>
      <p:sp>
        <p:nvSpPr>
          <p:cNvPr id="19" name="Text 13"/>
          <p:cNvSpPr txBox="1"/>
          <p:nvPr/>
        </p:nvSpPr>
        <p:spPr>
          <a:xfrm>
            <a:off x="5458968" y="4005072"/>
            <a:ext cx="5973775" cy="411480"/>
          </a:xfrm>
          <a:prstGeom prst="rect">
            <a:avLst/>
          </a:prstGeom>
          <a:noFill/>
          <a:ln/>
        </p:spPr>
        <p:txBody>
          <a:bodyPr wrap="square" lIns="0" tIns="0" rIns="0" bIns="0" rtlCol="0" anchor="ctr"/>
          <a:lstStyle/>
          <a:p>
            <a:pPr marL="0" indent="0">
              <a:buNone/>
            </a:pPr>
            <a:r>
              <a:rPr lang="en-US" sz="2200" b="1" dirty="0">
                <a:solidFill>
                  <a:srgbClr val="FFA85B"/>
                </a:solidFill>
                <a:latin typeface="Cambria" pitchFamily="34" charset="0"/>
                <a:ea typeface="Cambria" pitchFamily="34" charset="-122"/>
                <a:cs typeface="Cambria" pitchFamily="34" charset="-120"/>
              </a:rPr>
              <a:t>−12.9 dB</a:t>
            </a:r>
            <a:endParaRPr lang="en-US" sz="2200" dirty="0"/>
          </a:p>
        </p:txBody>
      </p:sp>
      <p:sp>
        <p:nvSpPr>
          <p:cNvPr id="20" name="Text 14"/>
          <p:cNvSpPr txBox="1"/>
          <p:nvPr/>
        </p:nvSpPr>
        <p:spPr>
          <a:xfrm>
            <a:off x="5458968" y="4443984"/>
            <a:ext cx="5973775" cy="256032"/>
          </a:xfrm>
          <a:prstGeom prst="rect">
            <a:avLst/>
          </a:prstGeom>
          <a:noFill/>
          <a:ln/>
        </p:spPr>
        <p:txBody>
          <a:bodyPr wrap="square" lIns="0" tIns="0" rIns="0" bIns="0" rtlCol="0" anchor="ctr"/>
          <a:lstStyle/>
          <a:p>
            <a:pPr marL="0" indent="0">
              <a:buNone/>
            </a:pPr>
            <a:r>
              <a:rPr lang="en-US" sz="1350" b="1" dirty="0">
                <a:solidFill>
                  <a:srgbClr val="F3F6FA"/>
                </a:solidFill>
                <a:latin typeface="Calibri" pitchFamily="34" charset="0"/>
                <a:ea typeface="Calibri" pitchFamily="34" charset="-122"/>
                <a:cs typeface="Calibri" pitchFamily="34" charset="-120"/>
              </a:rPr>
              <a:t>No RF suppression</a:t>
            </a:r>
            <a:endParaRPr lang="en-US" sz="1350" dirty="0"/>
          </a:p>
        </p:txBody>
      </p:sp>
      <p:sp>
        <p:nvSpPr>
          <p:cNvPr id="21" name="Text 15"/>
          <p:cNvSpPr txBox="1"/>
          <p:nvPr/>
        </p:nvSpPr>
        <p:spPr>
          <a:xfrm>
            <a:off x="5458968" y="4736592"/>
            <a:ext cx="5973775" cy="594360"/>
          </a:xfrm>
          <a:prstGeom prst="rect">
            <a:avLst/>
          </a:prstGeom>
          <a:noFill/>
          <a:ln/>
        </p:spPr>
        <p:txBody>
          <a:bodyPr wrap="square" lIns="0" tIns="0" rIns="0" bIns="0" rtlCol="0" anchor="ctr"/>
          <a:lstStyle/>
          <a:p>
            <a:pPr marL="0" indent="0">
              <a:lnSpc>
                <a:spcPts val="1500"/>
              </a:lnSpc>
              <a:buNone/>
            </a:pPr>
            <a:r>
              <a:rPr lang="en-US" sz="1150" dirty="0">
                <a:solidFill>
                  <a:srgbClr val="8C9AB2"/>
                </a:solidFill>
                <a:latin typeface="Calibri" pitchFamily="34" charset="0"/>
                <a:ea typeface="Calibri" pitchFamily="34" charset="-122"/>
                <a:cs typeface="Calibri" pitchFamily="34" charset="-120"/>
              </a:rPr>
              <a:t>Same grid, no excitation — 15 other pieces of the head fold onto the ROI. The error exceeds the signal.</a:t>
            </a:r>
            <a:endParaRPr lang="en-US" sz="1150" dirty="0"/>
          </a:p>
        </p:txBody>
      </p:sp>
      <p:sp>
        <p:nvSpPr>
          <p:cNvPr id="22" name="Text 16"/>
          <p:cNvSpPr txBox="1"/>
          <p:nvPr/>
        </p:nvSpPr>
        <p:spPr>
          <a:xfrm>
            <a:off x="658368" y="5760720"/>
            <a:ext cx="10874959" cy="457200"/>
          </a:xfrm>
          <a:prstGeom prst="rect">
            <a:avLst/>
          </a:prstGeom>
          <a:noFill/>
          <a:ln/>
        </p:spPr>
        <p:txBody>
          <a:bodyPr wrap="square" lIns="0" tIns="0" rIns="0" bIns="0" rtlCol="0" anchor="ctr"/>
          <a:lstStyle/>
          <a:p>
            <a:pPr marL="0" indent="0">
              <a:lnSpc>
                <a:spcPts val="1600"/>
              </a:lnSpc>
              <a:buNone/>
            </a:pPr>
            <a:r>
              <a:rPr lang="en-US" sz="1250" i="1" dirty="0">
                <a:solidFill>
                  <a:srgbClr val="8C9AB2"/>
                </a:solidFill>
                <a:latin typeface="Calibri" pitchFamily="34" charset="0"/>
                <a:ea typeface="Calibri" pitchFamily="34" charset="-122"/>
                <a:cs typeface="Calibri" pitchFamily="34" charset="-120"/>
              </a:rPr>
              <a:t>Sample spacing Δk sets FOV (=1/Δk); extent k_max sets resolution (Δx=1/2k_max). Low-pass shrinks k_max — the wrong knob for this job.</a:t>
            </a:r>
            <a:endParaRPr lang="en-US" sz="125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ARCHITECTURE</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SHAFNAN WASIF · 2305126</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2688"/>
              </a:lnSpc>
              <a:buNone/>
            </a:pPr>
            <a:r>
              <a:rPr lang="en-US" sz="2400" b="1" dirty="0">
                <a:solidFill>
                  <a:srgbClr val="F3F6FA"/>
                </a:solidFill>
                <a:latin typeface="Cambria" pitchFamily="34" charset="0"/>
                <a:ea typeface="Cambria" pitchFamily="34" charset="-122"/>
                <a:cs typeface="Cambria" pitchFamily="34" charset="-120"/>
              </a:rPr>
              <a:t>A 10,000-line simulator: one library, one dataset, one live app.</a:t>
            </a:r>
            <a:endParaRPr lang="en-US" sz="24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16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Shape 5"/>
          <p:cNvSpPr/>
          <p:nvPr/>
        </p:nvSpPr>
        <p:spPr>
          <a:xfrm>
            <a:off x="658368" y="2286000"/>
            <a:ext cx="2513000" cy="2971800"/>
          </a:xfrm>
          <a:prstGeom prst="roundRect">
            <a:avLst>
              <a:gd name="adj" fmla="val 3639"/>
            </a:avLst>
          </a:prstGeom>
          <a:solidFill>
            <a:srgbClr val="121A28"/>
          </a:solidFill>
          <a:ln w="12700">
            <a:solidFill>
              <a:srgbClr val="263349"/>
            </a:solidFill>
            <a:prstDash val="solid"/>
          </a:ln>
        </p:spPr>
      </p:sp>
      <p:sp>
        <p:nvSpPr>
          <p:cNvPr id="9" name="Shape 6"/>
          <p:cNvSpPr/>
          <p:nvPr/>
        </p:nvSpPr>
        <p:spPr>
          <a:xfrm>
            <a:off x="859536" y="2505456"/>
            <a:ext cx="365760" cy="365760"/>
          </a:xfrm>
          <a:prstGeom prst="roundRect">
            <a:avLst>
              <a:gd name="adj" fmla="val 20000"/>
            </a:avLst>
          </a:prstGeom>
          <a:solidFill>
            <a:srgbClr val="182234"/>
          </a:solidFill>
          <a:ln w="12700">
            <a:solidFill>
              <a:srgbClr val="4FE0D2"/>
            </a:solidFill>
            <a:prstDash val="solid"/>
          </a:ln>
        </p:spPr>
      </p:sp>
      <p:sp>
        <p:nvSpPr>
          <p:cNvPr id="10" name="Text 7"/>
          <p:cNvSpPr txBox="1"/>
          <p:nvPr/>
        </p:nvSpPr>
        <p:spPr>
          <a:xfrm>
            <a:off x="859536" y="2505456"/>
            <a:ext cx="365760" cy="365760"/>
          </a:xfrm>
          <a:prstGeom prst="rect">
            <a:avLst/>
          </a:prstGeom>
          <a:noFill/>
          <a:ln/>
        </p:spPr>
        <p:txBody>
          <a:bodyPr wrap="square" lIns="0" tIns="0" rIns="0" bIns="0" rtlCol="0" anchor="ctr"/>
          <a:lstStyle/>
          <a:p>
            <a:pPr marL="0" indent="0" algn="ctr">
              <a:buNone/>
            </a:pPr>
            <a:r>
              <a:rPr lang="en-US" sz="1450" b="1" dirty="0">
                <a:solidFill>
                  <a:srgbClr val="4FE0D2"/>
                </a:solidFill>
                <a:latin typeface="Calibri" pitchFamily="34" charset="0"/>
                <a:ea typeface="Calibri" pitchFamily="34" charset="-122"/>
                <a:cs typeface="Calibri" pitchFamily="34" charset="-120"/>
              </a:rPr>
              <a:t>1</a:t>
            </a:r>
            <a:endParaRPr lang="en-US" sz="1450" dirty="0"/>
          </a:p>
        </p:txBody>
      </p:sp>
      <p:sp>
        <p:nvSpPr>
          <p:cNvPr id="11" name="Text 8"/>
          <p:cNvSpPr txBox="1"/>
          <p:nvPr/>
        </p:nvSpPr>
        <p:spPr>
          <a:xfrm>
            <a:off x="859536" y="2980944"/>
            <a:ext cx="2110664" cy="237744"/>
          </a:xfrm>
          <a:prstGeom prst="rect">
            <a:avLst/>
          </a:prstGeom>
          <a:noFill/>
          <a:ln/>
        </p:spPr>
        <p:txBody>
          <a:bodyPr wrap="square" lIns="0" tIns="0" rIns="0" bIns="0" rtlCol="0" anchor="ctr"/>
          <a:lstStyle/>
          <a:p>
            <a:pPr marL="0" indent="0">
              <a:buNone/>
            </a:pPr>
            <a:r>
              <a:rPr lang="en-US" sz="1050" b="1" kern="0" spc="120" dirty="0">
                <a:solidFill>
                  <a:srgbClr val="62708A"/>
                </a:solidFill>
                <a:latin typeface="Calibri" pitchFamily="34" charset="0"/>
                <a:ea typeface="Calibri" pitchFamily="34" charset="-122"/>
                <a:cs typeface="Calibri" pitchFamily="34" charset="-120"/>
              </a:rPr>
              <a:t>LAYER 1 · LIBRARY</a:t>
            </a:r>
            <a:endParaRPr lang="en-US" sz="1050" dirty="0"/>
          </a:p>
        </p:txBody>
      </p:sp>
      <p:sp>
        <p:nvSpPr>
          <p:cNvPr id="12" name="Text 9"/>
          <p:cNvSpPr txBox="1"/>
          <p:nvPr/>
        </p:nvSpPr>
        <p:spPr>
          <a:xfrm>
            <a:off x="859536" y="3227832"/>
            <a:ext cx="2110664" cy="384048"/>
          </a:xfrm>
          <a:prstGeom prst="rect">
            <a:avLst/>
          </a:prstGeom>
          <a:noFill/>
          <a:ln/>
        </p:spPr>
        <p:txBody>
          <a:bodyPr wrap="square" lIns="0" tIns="0" rIns="0" bIns="0" rtlCol="0" anchor="ctr"/>
          <a:lstStyle/>
          <a:p>
            <a:pPr marL="0" indent="0">
              <a:buNone/>
            </a:pPr>
            <a:r>
              <a:rPr lang="en-US" sz="1950" b="1" dirty="0">
                <a:solidFill>
                  <a:srgbClr val="F3F6FA"/>
                </a:solidFill>
                <a:latin typeface="Cambria" pitchFamily="34" charset="0"/>
                <a:ea typeface="Cambria" pitchFamily="34" charset="-122"/>
                <a:cs typeface="Cambria" pitchFamily="34" charset="-120"/>
              </a:rPr>
              <a:t>mri_sim/</a:t>
            </a:r>
            <a:endParaRPr lang="en-US" sz="1950" dirty="0"/>
          </a:p>
        </p:txBody>
      </p:sp>
      <p:sp>
        <p:nvSpPr>
          <p:cNvPr id="13" name="Text 10"/>
          <p:cNvSpPr txBox="1"/>
          <p:nvPr/>
        </p:nvSpPr>
        <p:spPr>
          <a:xfrm>
            <a:off x="859536" y="3730752"/>
            <a:ext cx="2110664" cy="1417320"/>
          </a:xfrm>
          <a:prstGeom prst="rect">
            <a:avLst/>
          </a:prstGeom>
          <a:noFill/>
          <a:ln/>
        </p:spPr>
        <p:txBody>
          <a:bodyPr wrap="square" lIns="0" tIns="0" rIns="0" bIns="0" rtlCol="0" anchor="ctr"/>
          <a:lstStyle/>
          <a:p>
            <a:pPr marL="0" indent="0">
              <a:lnSpc>
                <a:spcPts val="1600"/>
              </a:lnSpc>
              <a:buNone/>
            </a:pPr>
            <a:r>
              <a:rPr lang="en-US" sz="1200" dirty="0">
                <a:solidFill>
                  <a:srgbClr val="8C9AB2"/>
                </a:solidFill>
                <a:latin typeface="Calibri" pitchFamily="34" charset="0"/>
                <a:ea typeface="Calibri" pitchFamily="34" charset="-122"/>
                <a:cs typeface="Calibri" pitchFamily="34" charset="-120"/>
              </a:rPr>
              <a:t>Pure-NumPy simulator — kspace, noise, denoise, cs, motion, motion_correction, roi, metrics, visualize.</a:t>
            </a:r>
            <a:endParaRPr lang="en-US" sz="1200" dirty="0"/>
          </a:p>
        </p:txBody>
      </p:sp>
      <p:sp>
        <p:nvSpPr>
          <p:cNvPr id="14" name="Shape 11"/>
          <p:cNvSpPr/>
          <p:nvPr/>
        </p:nvSpPr>
        <p:spPr>
          <a:xfrm>
            <a:off x="3445688" y="2286000"/>
            <a:ext cx="2513000" cy="2971800"/>
          </a:xfrm>
          <a:prstGeom prst="roundRect">
            <a:avLst>
              <a:gd name="adj" fmla="val 3639"/>
            </a:avLst>
          </a:prstGeom>
          <a:solidFill>
            <a:srgbClr val="121A28"/>
          </a:solidFill>
          <a:ln w="12700">
            <a:solidFill>
              <a:srgbClr val="263349"/>
            </a:solidFill>
            <a:prstDash val="solid"/>
          </a:ln>
        </p:spPr>
      </p:sp>
      <p:sp>
        <p:nvSpPr>
          <p:cNvPr id="15" name="Shape 12"/>
          <p:cNvSpPr/>
          <p:nvPr/>
        </p:nvSpPr>
        <p:spPr>
          <a:xfrm>
            <a:off x="3646856" y="2505456"/>
            <a:ext cx="365760" cy="365760"/>
          </a:xfrm>
          <a:prstGeom prst="roundRect">
            <a:avLst>
              <a:gd name="adj" fmla="val 20000"/>
            </a:avLst>
          </a:prstGeom>
          <a:solidFill>
            <a:srgbClr val="182234"/>
          </a:solidFill>
          <a:ln w="12700">
            <a:solidFill>
              <a:srgbClr val="4FE0D2"/>
            </a:solidFill>
            <a:prstDash val="solid"/>
          </a:ln>
        </p:spPr>
      </p:sp>
      <p:sp>
        <p:nvSpPr>
          <p:cNvPr id="16" name="Text 13"/>
          <p:cNvSpPr txBox="1"/>
          <p:nvPr/>
        </p:nvSpPr>
        <p:spPr>
          <a:xfrm>
            <a:off x="3646856" y="2505456"/>
            <a:ext cx="365760" cy="365760"/>
          </a:xfrm>
          <a:prstGeom prst="rect">
            <a:avLst/>
          </a:prstGeom>
          <a:noFill/>
          <a:ln/>
        </p:spPr>
        <p:txBody>
          <a:bodyPr wrap="square" lIns="0" tIns="0" rIns="0" bIns="0" rtlCol="0" anchor="ctr"/>
          <a:lstStyle/>
          <a:p>
            <a:pPr marL="0" indent="0" algn="ctr">
              <a:buNone/>
            </a:pPr>
            <a:r>
              <a:rPr lang="en-US" sz="1450" b="1" dirty="0">
                <a:solidFill>
                  <a:srgbClr val="4FE0D2"/>
                </a:solidFill>
                <a:latin typeface="Calibri" pitchFamily="34" charset="0"/>
                <a:ea typeface="Calibri" pitchFamily="34" charset="-122"/>
                <a:cs typeface="Calibri" pitchFamily="34" charset="-120"/>
              </a:rPr>
              <a:t>2</a:t>
            </a:r>
            <a:endParaRPr lang="en-US" sz="1450" dirty="0"/>
          </a:p>
        </p:txBody>
      </p:sp>
      <p:sp>
        <p:nvSpPr>
          <p:cNvPr id="17" name="Text 14"/>
          <p:cNvSpPr txBox="1"/>
          <p:nvPr/>
        </p:nvSpPr>
        <p:spPr>
          <a:xfrm>
            <a:off x="3646856" y="2980944"/>
            <a:ext cx="2110664" cy="237744"/>
          </a:xfrm>
          <a:prstGeom prst="rect">
            <a:avLst/>
          </a:prstGeom>
          <a:noFill/>
          <a:ln/>
        </p:spPr>
        <p:txBody>
          <a:bodyPr wrap="square" lIns="0" tIns="0" rIns="0" bIns="0" rtlCol="0" anchor="ctr"/>
          <a:lstStyle/>
          <a:p>
            <a:pPr marL="0" indent="0">
              <a:buNone/>
            </a:pPr>
            <a:r>
              <a:rPr lang="en-US" sz="1050" b="1" kern="0" spc="120" dirty="0">
                <a:solidFill>
                  <a:srgbClr val="62708A"/>
                </a:solidFill>
                <a:latin typeface="Calibri" pitchFamily="34" charset="0"/>
                <a:ea typeface="Calibri" pitchFamily="34" charset="-122"/>
                <a:cs typeface="Calibri" pitchFamily="34" charset="-120"/>
              </a:rPr>
              <a:t>LAYER 2 · DATA</a:t>
            </a:r>
            <a:endParaRPr lang="en-US" sz="1050" dirty="0"/>
          </a:p>
        </p:txBody>
      </p:sp>
      <p:sp>
        <p:nvSpPr>
          <p:cNvPr id="18" name="Text 15"/>
          <p:cNvSpPr txBox="1"/>
          <p:nvPr/>
        </p:nvSpPr>
        <p:spPr>
          <a:xfrm>
            <a:off x="3646856" y="3227832"/>
            <a:ext cx="2110664" cy="384048"/>
          </a:xfrm>
          <a:prstGeom prst="rect">
            <a:avLst/>
          </a:prstGeom>
          <a:noFill/>
          <a:ln/>
        </p:spPr>
        <p:txBody>
          <a:bodyPr wrap="square" lIns="0" tIns="0" rIns="0" bIns="0" rtlCol="0" anchor="ctr"/>
          <a:lstStyle/>
          <a:p>
            <a:pPr marL="0" indent="0">
              <a:buNone/>
            </a:pPr>
            <a:r>
              <a:rPr lang="en-US" sz="1950" b="1" dirty="0">
                <a:solidFill>
                  <a:srgbClr val="F3F6FA"/>
                </a:solidFill>
                <a:latin typeface="Cambria" pitchFamily="34" charset="0"/>
                <a:ea typeface="Cambria" pitchFamily="34" charset="-122"/>
                <a:cs typeface="Cambria" pitchFamily="34" charset="-120"/>
              </a:rPr>
              <a:t>kspace_store/</a:t>
            </a:r>
            <a:endParaRPr lang="en-US" sz="1950" dirty="0"/>
          </a:p>
        </p:txBody>
      </p:sp>
      <p:sp>
        <p:nvSpPr>
          <p:cNvPr id="19" name="Text 16"/>
          <p:cNvSpPr txBox="1"/>
          <p:nvPr/>
        </p:nvSpPr>
        <p:spPr>
          <a:xfrm>
            <a:off x="3646856" y="3730752"/>
            <a:ext cx="2110664" cy="1417320"/>
          </a:xfrm>
          <a:prstGeom prst="rect">
            <a:avLst/>
          </a:prstGeom>
          <a:noFill/>
          <a:ln/>
        </p:spPr>
        <p:txBody>
          <a:bodyPr wrap="square" lIns="0" tIns="0" rIns="0" bIns="0" rtlCol="0" anchor="ctr"/>
          <a:lstStyle/>
          <a:p>
            <a:pPr marL="0" indent="0">
              <a:lnSpc>
                <a:spcPts val="1600"/>
              </a:lnSpc>
              <a:buNone/>
            </a:pPr>
            <a:r>
              <a:rPr lang="en-US" sz="1200" dirty="0">
                <a:solidFill>
                  <a:srgbClr val="8C9AB2"/>
                </a:solidFill>
                <a:latin typeface="Calibri" pitchFamily="34" charset="0"/>
                <a:ea typeface="Calibri" pitchFamily="34" charset="-122"/>
                <a:cs typeface="Calibri" pitchFamily="34" charset="-120"/>
              </a:rPr>
              <a:t>40 curated clinical samples as centred k-space, ground truth, phase and tumour mask, with full provenance.</a:t>
            </a:r>
            <a:endParaRPr lang="en-US" sz="1200" dirty="0"/>
          </a:p>
        </p:txBody>
      </p:sp>
      <p:sp>
        <p:nvSpPr>
          <p:cNvPr id="20" name="Shape 17"/>
          <p:cNvSpPr/>
          <p:nvPr/>
        </p:nvSpPr>
        <p:spPr>
          <a:xfrm>
            <a:off x="6233008" y="2286000"/>
            <a:ext cx="2513000" cy="2971800"/>
          </a:xfrm>
          <a:prstGeom prst="roundRect">
            <a:avLst>
              <a:gd name="adj" fmla="val 3639"/>
            </a:avLst>
          </a:prstGeom>
          <a:solidFill>
            <a:srgbClr val="121A28"/>
          </a:solidFill>
          <a:ln w="12700">
            <a:solidFill>
              <a:srgbClr val="263349"/>
            </a:solidFill>
            <a:prstDash val="solid"/>
          </a:ln>
        </p:spPr>
      </p:sp>
      <p:sp>
        <p:nvSpPr>
          <p:cNvPr id="21" name="Shape 18"/>
          <p:cNvSpPr/>
          <p:nvPr/>
        </p:nvSpPr>
        <p:spPr>
          <a:xfrm>
            <a:off x="6434176" y="2505456"/>
            <a:ext cx="365760" cy="365760"/>
          </a:xfrm>
          <a:prstGeom prst="roundRect">
            <a:avLst>
              <a:gd name="adj" fmla="val 20000"/>
            </a:avLst>
          </a:prstGeom>
          <a:solidFill>
            <a:srgbClr val="182234"/>
          </a:solidFill>
          <a:ln w="12700">
            <a:solidFill>
              <a:srgbClr val="4FE0D2"/>
            </a:solidFill>
            <a:prstDash val="solid"/>
          </a:ln>
        </p:spPr>
      </p:sp>
      <p:sp>
        <p:nvSpPr>
          <p:cNvPr id="22" name="Text 19"/>
          <p:cNvSpPr txBox="1"/>
          <p:nvPr/>
        </p:nvSpPr>
        <p:spPr>
          <a:xfrm>
            <a:off x="6434176" y="2505456"/>
            <a:ext cx="365760" cy="365760"/>
          </a:xfrm>
          <a:prstGeom prst="rect">
            <a:avLst/>
          </a:prstGeom>
          <a:noFill/>
          <a:ln/>
        </p:spPr>
        <p:txBody>
          <a:bodyPr wrap="square" lIns="0" tIns="0" rIns="0" bIns="0" rtlCol="0" anchor="ctr"/>
          <a:lstStyle/>
          <a:p>
            <a:pPr marL="0" indent="0" algn="ctr">
              <a:buNone/>
            </a:pPr>
            <a:r>
              <a:rPr lang="en-US" sz="1450" b="1" dirty="0">
                <a:solidFill>
                  <a:srgbClr val="4FE0D2"/>
                </a:solidFill>
                <a:latin typeface="Calibri" pitchFamily="34" charset="0"/>
                <a:ea typeface="Calibri" pitchFamily="34" charset="-122"/>
                <a:cs typeface="Calibri" pitchFamily="34" charset="-120"/>
              </a:rPr>
              <a:t>3</a:t>
            </a:r>
            <a:endParaRPr lang="en-US" sz="1450" dirty="0"/>
          </a:p>
        </p:txBody>
      </p:sp>
      <p:sp>
        <p:nvSpPr>
          <p:cNvPr id="23" name="Text 20"/>
          <p:cNvSpPr txBox="1"/>
          <p:nvPr/>
        </p:nvSpPr>
        <p:spPr>
          <a:xfrm>
            <a:off x="6434176" y="2980944"/>
            <a:ext cx="2110664" cy="237744"/>
          </a:xfrm>
          <a:prstGeom prst="rect">
            <a:avLst/>
          </a:prstGeom>
          <a:noFill/>
          <a:ln/>
        </p:spPr>
        <p:txBody>
          <a:bodyPr wrap="square" lIns="0" tIns="0" rIns="0" bIns="0" rtlCol="0" anchor="ctr"/>
          <a:lstStyle/>
          <a:p>
            <a:pPr marL="0" indent="0">
              <a:buNone/>
            </a:pPr>
            <a:r>
              <a:rPr lang="en-US" sz="1050" b="1" kern="0" spc="120" dirty="0">
                <a:solidFill>
                  <a:srgbClr val="62708A"/>
                </a:solidFill>
                <a:latin typeface="Calibri" pitchFamily="34" charset="0"/>
                <a:ea typeface="Calibri" pitchFamily="34" charset="-122"/>
                <a:cs typeface="Calibri" pitchFamily="34" charset="-120"/>
              </a:rPr>
              <a:t>LAYER 3 · INTERFACE</a:t>
            </a:r>
            <a:endParaRPr lang="en-US" sz="1050" dirty="0"/>
          </a:p>
        </p:txBody>
      </p:sp>
      <p:sp>
        <p:nvSpPr>
          <p:cNvPr id="24" name="Text 21"/>
          <p:cNvSpPr txBox="1"/>
          <p:nvPr/>
        </p:nvSpPr>
        <p:spPr>
          <a:xfrm>
            <a:off x="6434176" y="3227832"/>
            <a:ext cx="2110664" cy="384048"/>
          </a:xfrm>
          <a:prstGeom prst="rect">
            <a:avLst/>
          </a:prstGeom>
          <a:noFill/>
          <a:ln/>
        </p:spPr>
        <p:txBody>
          <a:bodyPr wrap="square" lIns="0" tIns="0" rIns="0" bIns="0" rtlCol="0" anchor="ctr"/>
          <a:lstStyle/>
          <a:p>
            <a:pPr marL="0" indent="0">
              <a:buNone/>
            </a:pPr>
            <a:r>
              <a:rPr lang="en-US" sz="1950" b="1" dirty="0">
                <a:solidFill>
                  <a:srgbClr val="F3F6FA"/>
                </a:solidFill>
                <a:latin typeface="Cambria" pitchFamily="34" charset="0"/>
                <a:ea typeface="Cambria" pitchFamily="34" charset="-122"/>
                <a:cs typeface="Cambria" pitchFamily="34" charset="-120"/>
              </a:rPr>
              <a:t>app/</a:t>
            </a:r>
            <a:endParaRPr lang="en-US" sz="1950" dirty="0"/>
          </a:p>
        </p:txBody>
      </p:sp>
      <p:sp>
        <p:nvSpPr>
          <p:cNvPr id="25" name="Text 22"/>
          <p:cNvSpPr txBox="1"/>
          <p:nvPr/>
        </p:nvSpPr>
        <p:spPr>
          <a:xfrm>
            <a:off x="6434176" y="3730752"/>
            <a:ext cx="2110664" cy="1417320"/>
          </a:xfrm>
          <a:prstGeom prst="rect">
            <a:avLst/>
          </a:prstGeom>
          <a:noFill/>
          <a:ln/>
        </p:spPr>
        <p:txBody>
          <a:bodyPr wrap="square" lIns="0" tIns="0" rIns="0" bIns="0" rtlCol="0" anchor="ctr"/>
          <a:lstStyle/>
          <a:p>
            <a:pPr marL="0" indent="0">
              <a:lnSpc>
                <a:spcPts val="1600"/>
              </a:lnSpc>
              <a:buNone/>
            </a:pPr>
            <a:r>
              <a:rPr lang="en-US" sz="1200" dirty="0">
                <a:solidFill>
                  <a:srgbClr val="8C9AB2"/>
                </a:solidFill>
                <a:latin typeface="Calibri" pitchFamily="34" charset="0"/>
                <a:ea typeface="Calibri" pitchFamily="34" charset="-122"/>
                <a:cs typeface="Calibri" pitchFamily="34" charset="-120"/>
              </a:rPr>
              <a:t>Streamlit app, 8 tabs, shared sidebar: subject, strategy, ratio, SNR, seed. Heavy steps are cached.</a:t>
            </a:r>
            <a:endParaRPr lang="en-US" sz="1200" dirty="0"/>
          </a:p>
        </p:txBody>
      </p:sp>
      <p:sp>
        <p:nvSpPr>
          <p:cNvPr id="26" name="Shape 23"/>
          <p:cNvSpPr/>
          <p:nvPr/>
        </p:nvSpPr>
        <p:spPr>
          <a:xfrm>
            <a:off x="9020327" y="2286000"/>
            <a:ext cx="2513000" cy="2971800"/>
          </a:xfrm>
          <a:prstGeom prst="roundRect">
            <a:avLst>
              <a:gd name="adj" fmla="val 3639"/>
            </a:avLst>
          </a:prstGeom>
          <a:solidFill>
            <a:srgbClr val="121A28"/>
          </a:solidFill>
          <a:ln w="12700">
            <a:solidFill>
              <a:srgbClr val="263349"/>
            </a:solidFill>
            <a:prstDash val="solid"/>
          </a:ln>
        </p:spPr>
      </p:sp>
      <p:sp>
        <p:nvSpPr>
          <p:cNvPr id="27" name="Shape 24"/>
          <p:cNvSpPr/>
          <p:nvPr/>
        </p:nvSpPr>
        <p:spPr>
          <a:xfrm>
            <a:off x="9221495" y="2505456"/>
            <a:ext cx="365760" cy="365760"/>
          </a:xfrm>
          <a:prstGeom prst="roundRect">
            <a:avLst>
              <a:gd name="adj" fmla="val 20000"/>
            </a:avLst>
          </a:prstGeom>
          <a:solidFill>
            <a:srgbClr val="182234"/>
          </a:solidFill>
          <a:ln w="12700">
            <a:solidFill>
              <a:srgbClr val="4FE0D2"/>
            </a:solidFill>
            <a:prstDash val="solid"/>
          </a:ln>
        </p:spPr>
      </p:sp>
      <p:sp>
        <p:nvSpPr>
          <p:cNvPr id="28" name="Text 25"/>
          <p:cNvSpPr txBox="1"/>
          <p:nvPr/>
        </p:nvSpPr>
        <p:spPr>
          <a:xfrm>
            <a:off x="9221495" y="2505456"/>
            <a:ext cx="365760" cy="365760"/>
          </a:xfrm>
          <a:prstGeom prst="rect">
            <a:avLst/>
          </a:prstGeom>
          <a:noFill/>
          <a:ln/>
        </p:spPr>
        <p:txBody>
          <a:bodyPr wrap="square" lIns="0" tIns="0" rIns="0" bIns="0" rtlCol="0" anchor="ctr"/>
          <a:lstStyle/>
          <a:p>
            <a:pPr marL="0" indent="0" algn="ctr">
              <a:buNone/>
            </a:pPr>
            <a:r>
              <a:rPr lang="en-US" sz="1450" b="1" dirty="0">
                <a:solidFill>
                  <a:srgbClr val="4FE0D2"/>
                </a:solidFill>
                <a:latin typeface="Calibri" pitchFamily="34" charset="0"/>
                <a:ea typeface="Calibri" pitchFamily="34" charset="-122"/>
                <a:cs typeface="Calibri" pitchFamily="34" charset="-120"/>
              </a:rPr>
              <a:t>4</a:t>
            </a:r>
            <a:endParaRPr lang="en-US" sz="1450" dirty="0"/>
          </a:p>
        </p:txBody>
      </p:sp>
      <p:sp>
        <p:nvSpPr>
          <p:cNvPr id="29" name="Text 26"/>
          <p:cNvSpPr txBox="1"/>
          <p:nvPr/>
        </p:nvSpPr>
        <p:spPr>
          <a:xfrm>
            <a:off x="9221495" y="2980944"/>
            <a:ext cx="2110664" cy="237744"/>
          </a:xfrm>
          <a:prstGeom prst="rect">
            <a:avLst/>
          </a:prstGeom>
          <a:noFill/>
          <a:ln/>
        </p:spPr>
        <p:txBody>
          <a:bodyPr wrap="square" lIns="0" tIns="0" rIns="0" bIns="0" rtlCol="0" anchor="ctr"/>
          <a:lstStyle/>
          <a:p>
            <a:pPr marL="0" indent="0">
              <a:buNone/>
            </a:pPr>
            <a:r>
              <a:rPr lang="en-US" sz="1050" b="1" kern="0" spc="120" dirty="0">
                <a:solidFill>
                  <a:srgbClr val="62708A"/>
                </a:solidFill>
                <a:latin typeface="Calibri" pitchFamily="34" charset="0"/>
                <a:ea typeface="Calibri" pitchFamily="34" charset="-122"/>
                <a:cs typeface="Calibri" pitchFamily="34" charset="-120"/>
              </a:rPr>
              <a:t>BATCH · CLI</a:t>
            </a:r>
            <a:endParaRPr lang="en-US" sz="1050" dirty="0"/>
          </a:p>
        </p:txBody>
      </p:sp>
      <p:sp>
        <p:nvSpPr>
          <p:cNvPr id="30" name="Text 27"/>
          <p:cNvSpPr txBox="1"/>
          <p:nvPr/>
        </p:nvSpPr>
        <p:spPr>
          <a:xfrm>
            <a:off x="9221495" y="3227832"/>
            <a:ext cx="2110664" cy="384048"/>
          </a:xfrm>
          <a:prstGeom prst="rect">
            <a:avLst/>
          </a:prstGeom>
          <a:noFill/>
          <a:ln/>
        </p:spPr>
        <p:txBody>
          <a:bodyPr wrap="square" lIns="0" tIns="0" rIns="0" bIns="0" rtlCol="0" anchor="ctr"/>
          <a:lstStyle/>
          <a:p>
            <a:pPr marL="0" indent="0">
              <a:buNone/>
            </a:pPr>
            <a:r>
              <a:rPr lang="en-US" sz="1950" b="1" dirty="0">
                <a:solidFill>
                  <a:srgbClr val="F3F6FA"/>
                </a:solidFill>
                <a:latin typeface="Cambria" pitchFamily="34" charset="0"/>
                <a:ea typeface="Cambria" pitchFamily="34" charset="-122"/>
                <a:cs typeface="Cambria" pitchFamily="34" charset="-120"/>
              </a:rPr>
              <a:t>main.py</a:t>
            </a:r>
            <a:endParaRPr lang="en-US" sz="1950" dirty="0"/>
          </a:p>
        </p:txBody>
      </p:sp>
      <p:sp>
        <p:nvSpPr>
          <p:cNvPr id="31" name="Text 28"/>
          <p:cNvSpPr txBox="1"/>
          <p:nvPr/>
        </p:nvSpPr>
        <p:spPr>
          <a:xfrm>
            <a:off x="9221495" y="3730752"/>
            <a:ext cx="2110664" cy="1417320"/>
          </a:xfrm>
          <a:prstGeom prst="rect">
            <a:avLst/>
          </a:prstGeom>
          <a:noFill/>
          <a:ln/>
        </p:spPr>
        <p:txBody>
          <a:bodyPr wrap="square" lIns="0" tIns="0" rIns="0" bIns="0" rtlCol="0" anchor="ctr"/>
          <a:lstStyle/>
          <a:p>
            <a:pPr marL="0" indent="0">
              <a:lnSpc>
                <a:spcPts val="1600"/>
              </a:lnSpc>
              <a:buNone/>
            </a:pPr>
            <a:r>
              <a:rPr lang="en-US" sz="1200" dirty="0">
                <a:solidFill>
                  <a:srgbClr val="8C9AB2"/>
                </a:solidFill>
                <a:latin typeface="Calibri" pitchFamily="34" charset="0"/>
                <a:ea typeface="Calibri" pitchFamily="34" charset="-122"/>
                <a:cs typeface="Calibri" pitchFamily="34" charset="-120"/>
              </a:rPr>
              <a:t>Runs the full sweep of strategies and ratios; writes figures and metrics.csv to outputs/.</a:t>
            </a:r>
            <a:endParaRPr lang="en-US" sz="1200" dirty="0"/>
          </a:p>
        </p:txBody>
      </p:sp>
      <p:sp>
        <p:nvSpPr>
          <p:cNvPr id="32" name="Text 29"/>
          <p:cNvSpPr txBox="1"/>
          <p:nvPr/>
        </p:nvSpPr>
        <p:spPr>
          <a:xfrm>
            <a:off x="658368" y="5477256"/>
            <a:ext cx="10874959" cy="365760"/>
          </a:xfrm>
          <a:prstGeom prst="rect">
            <a:avLst/>
          </a:prstGeom>
          <a:noFill/>
          <a:ln/>
        </p:spPr>
        <p:txBody>
          <a:bodyPr wrap="square" lIns="0" tIns="0" rIns="0" bIns="0" rtlCol="0" anchor="ctr"/>
          <a:lstStyle/>
          <a:p>
            <a:pPr marL="0" indent="0">
              <a:lnSpc>
                <a:spcPts val="1600"/>
              </a:lnSpc>
              <a:buNone/>
            </a:pPr>
            <a:r>
              <a:rPr lang="en-US" sz="1250" i="1" dirty="0">
                <a:solidFill>
                  <a:srgbClr val="62708A"/>
                </a:solidFill>
                <a:latin typeface="Calibri" pitchFamily="34" charset="0"/>
                <a:ea typeface="Calibri" pitchFamily="34" charset="-122"/>
                <a:cs typeface="Calibri" pitchFamily="34" charset="-120"/>
              </a:rPr>
              <a:t>Invariant: every k-space array is fftshift-centred, DC at [N/2, N/2]. Inversion uses ifftshift, which differs from fftshift for odd sizes.</a:t>
            </a:r>
            <a:endParaRPr lang="en-US" sz="125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80B12"/>
        </a:solidFill>
        <a:effectLst/>
      </p:bgPr>
    </p:bg>
    <p:spTree>
      <p:nvGrpSpPr>
        <p:cNvPr id="1" name=""/>
        <p:cNvGrpSpPr/>
        <p:nvPr/>
      </p:nvGrpSpPr>
      <p:grpSpPr>
        <a:xfrm>
          <a:off x="0" y="0"/>
          <a:ext cx="0" cy="0"/>
          <a:chOff x="0" y="0"/>
          <a:chExt cx="0" cy="0"/>
        </a:xfrm>
      </p:grpSpPr>
      <p:sp>
        <p:nvSpPr>
          <p:cNvPr id="2" name="Text 0"/>
          <p:cNvSpPr txBox="1"/>
          <p:nvPr/>
        </p:nvSpPr>
        <p:spPr>
          <a:xfrm>
            <a:off x="658368" y="457200"/>
            <a:ext cx="7948879" cy="310896"/>
          </a:xfrm>
          <a:prstGeom prst="rect">
            <a:avLst/>
          </a:prstGeom>
          <a:noFill/>
          <a:ln/>
        </p:spPr>
        <p:txBody>
          <a:bodyPr wrap="square" lIns="0" tIns="0" rIns="0" bIns="0" rtlCol="0" anchor="ctr"/>
          <a:lstStyle/>
          <a:p>
            <a:pPr marL="0" indent="0" algn="l">
              <a:buNone/>
            </a:pPr>
            <a:r>
              <a:rPr lang="en-US" sz="1400" b="1" kern="0" spc="300" dirty="0">
                <a:solidFill>
                  <a:srgbClr val="4FE0D2"/>
                </a:solidFill>
                <a:latin typeface="Calibri" pitchFamily="34" charset="0"/>
                <a:ea typeface="Calibri" pitchFamily="34" charset="-122"/>
                <a:cs typeface="Calibri" pitchFamily="34" charset="-120"/>
              </a:rPr>
              <a:t>TRY IT — 8 TABS, ONE SHARED SIDEBAR</a:t>
            </a:r>
            <a:endParaRPr lang="en-US" sz="1400" dirty="0"/>
          </a:p>
        </p:txBody>
      </p:sp>
      <p:sp>
        <p:nvSpPr>
          <p:cNvPr id="3" name="Text 1"/>
          <p:cNvSpPr txBox="1"/>
          <p:nvPr/>
        </p:nvSpPr>
        <p:spPr>
          <a:xfrm>
            <a:off x="8332927" y="457200"/>
            <a:ext cx="3200400" cy="310896"/>
          </a:xfrm>
          <a:prstGeom prst="rect">
            <a:avLst/>
          </a:prstGeom>
          <a:noFill/>
          <a:ln/>
        </p:spPr>
        <p:txBody>
          <a:bodyPr wrap="square" lIns="0" tIns="0" rIns="0" bIns="0" rtlCol="0" anchor="ctr"/>
          <a:lstStyle/>
          <a:p>
            <a:pPr marL="0" indent="0" algn="r">
              <a:buNone/>
            </a:pPr>
            <a:r>
              <a:rPr lang="en-US" sz="1050" b="1" kern="0" spc="150" dirty="0">
                <a:solidFill>
                  <a:srgbClr val="62708A"/>
                </a:solidFill>
                <a:latin typeface="Calibri" pitchFamily="34" charset="0"/>
                <a:ea typeface="Calibri" pitchFamily="34" charset="-122"/>
                <a:cs typeface="Calibri" pitchFamily="34" charset="-120"/>
              </a:rPr>
              <a:t>SHAFNAN WASIF · 2305126</a:t>
            </a:r>
            <a:endParaRPr lang="en-US" sz="1050" dirty="0"/>
          </a:p>
        </p:txBody>
      </p:sp>
      <p:sp>
        <p:nvSpPr>
          <p:cNvPr id="4" name="Text 2"/>
          <p:cNvSpPr txBox="1"/>
          <p:nvPr/>
        </p:nvSpPr>
        <p:spPr>
          <a:xfrm>
            <a:off x="658368" y="896112"/>
            <a:ext cx="10874959" cy="1005840"/>
          </a:xfrm>
          <a:prstGeom prst="rect">
            <a:avLst/>
          </a:prstGeom>
          <a:noFill/>
          <a:ln/>
        </p:spPr>
        <p:txBody>
          <a:bodyPr wrap="square" lIns="0" tIns="0" rIns="0" bIns="0" rtlCol="0" anchor="ctr"/>
          <a:lstStyle/>
          <a:p>
            <a:pPr marL="0" indent="0" algn="l">
              <a:lnSpc>
                <a:spcPts val="3024"/>
              </a:lnSpc>
              <a:buNone/>
            </a:pPr>
            <a:r>
              <a:rPr lang="en-US" sz="2700" b="1" dirty="0">
                <a:solidFill>
                  <a:srgbClr val="F3F6FA"/>
                </a:solidFill>
                <a:latin typeface="Cambria" pitchFamily="34" charset="0"/>
                <a:ea typeface="Cambria" pitchFamily="34" charset="-122"/>
                <a:cs typeface="Cambria" pitchFamily="34" charset="-120"/>
              </a:rPr>
              <a:t>Everything on this deck, you can drive live.</a:t>
            </a:r>
            <a:endParaRPr lang="en-US" sz="2700" dirty="0"/>
          </a:p>
        </p:txBody>
      </p:sp>
      <p:sp>
        <p:nvSpPr>
          <p:cNvPr id="5" name="Text 3"/>
          <p:cNvSpPr txBox="1"/>
          <p:nvPr/>
        </p:nvSpPr>
        <p:spPr>
          <a:xfrm>
            <a:off x="658368" y="6455664"/>
            <a:ext cx="7772400" cy="274320"/>
          </a:xfrm>
          <a:prstGeom prst="rect">
            <a:avLst/>
          </a:prstGeom>
          <a:noFill/>
          <a:ln/>
        </p:spPr>
        <p:txBody>
          <a:bodyPr wrap="square" lIns="0" tIns="0" rIns="0" bIns="0" rtlCol="0" anchor="ctr"/>
          <a:lstStyle/>
          <a:p>
            <a:pPr marL="0" indent="0" algn="l">
              <a:buNone/>
            </a:pPr>
            <a:r>
              <a:rPr lang="en-US" sz="1050" kern="0" spc="100" dirty="0">
                <a:solidFill>
                  <a:srgbClr val="62708A"/>
                </a:solidFill>
                <a:latin typeface="Calibri" pitchFamily="34" charset="0"/>
                <a:ea typeface="Calibri" pitchFamily="34" charset="-122"/>
                <a:cs typeface="Calibri" pitchFamily="34" charset="-120"/>
              </a:rPr>
              <a:t>MRI k-SPACE RECONSTRUCTION SIMULATOR   ·   CSE 220</a:t>
            </a:r>
            <a:endParaRPr lang="en-US" sz="1050" dirty="0"/>
          </a:p>
        </p:txBody>
      </p:sp>
      <p:sp>
        <p:nvSpPr>
          <p:cNvPr id="6" name="Text 4"/>
          <p:cNvSpPr txBox="1"/>
          <p:nvPr/>
        </p:nvSpPr>
        <p:spPr>
          <a:xfrm>
            <a:off x="10344607" y="6455664"/>
            <a:ext cx="1188720" cy="274320"/>
          </a:xfrm>
          <a:prstGeom prst="rect">
            <a:avLst/>
          </a:prstGeom>
          <a:noFill/>
          <a:ln/>
        </p:spPr>
        <p:txBody>
          <a:bodyPr wrap="square" lIns="0" tIns="0" rIns="0" bIns="0" rtlCol="0" anchor="ctr"/>
          <a:lstStyle/>
          <a:p>
            <a:pPr marL="0" indent="0" algn="r">
              <a:buNone/>
            </a:pPr>
            <a:r>
              <a:rPr lang="en-US" sz="1050" dirty="0">
                <a:solidFill>
                  <a:srgbClr val="62708A"/>
                </a:solidFill>
                <a:latin typeface="Calibri" pitchFamily="34" charset="0"/>
                <a:ea typeface="Calibri" pitchFamily="34" charset="-122"/>
                <a:cs typeface="Calibri" pitchFamily="34" charset="-120"/>
              </a:rPr>
              <a:t>17 / 18</a:t>
            </a:r>
            <a:endParaRPr lang="en-US" sz="1050" dirty="0"/>
          </a:p>
        </p:txBody>
      </p:sp>
      <p:pic>
        <p:nvPicPr>
          <p:cNvPr id="7" name="Image 0" descr="/home/claude/deck/assets/motif_ring.png"/>
          <p:cNvPicPr>
            <a:picLocks noChangeAspect="1"/>
          </p:cNvPicPr>
          <p:nvPr/>
        </p:nvPicPr>
        <p:blipFill>
          <a:blip r:embed="rId3">
            <a:alphaModFix amt="90000"/>
          </a:blip>
          <a:stretch>
            <a:fillRect/>
          </a:stretch>
        </p:blipFill>
        <p:spPr>
          <a:xfrm>
            <a:off x="11222431" y="6428232"/>
            <a:ext cx="219456" cy="219456"/>
          </a:xfrm>
          <a:prstGeom prst="rect">
            <a:avLst/>
          </a:prstGeom>
        </p:spPr>
      </p:pic>
      <p:sp>
        <p:nvSpPr>
          <p:cNvPr id="8" name="Shape 5"/>
          <p:cNvSpPr/>
          <p:nvPr/>
        </p:nvSpPr>
        <p:spPr>
          <a:xfrm>
            <a:off x="658368" y="2194560"/>
            <a:ext cx="2554148" cy="1783080"/>
          </a:xfrm>
          <a:prstGeom prst="roundRect">
            <a:avLst>
              <a:gd name="adj" fmla="val 5128"/>
            </a:avLst>
          </a:prstGeom>
          <a:solidFill>
            <a:srgbClr val="121A28"/>
          </a:solidFill>
          <a:ln w="12700">
            <a:solidFill>
              <a:srgbClr val="263349"/>
            </a:solidFill>
            <a:prstDash val="solid"/>
          </a:ln>
        </p:spPr>
      </p:sp>
      <p:sp>
        <p:nvSpPr>
          <p:cNvPr id="9" name="Shape 6"/>
          <p:cNvSpPr/>
          <p:nvPr/>
        </p:nvSpPr>
        <p:spPr>
          <a:xfrm>
            <a:off x="841248" y="2377440"/>
            <a:ext cx="347472" cy="347472"/>
          </a:xfrm>
          <a:prstGeom prst="ellipse">
            <a:avLst/>
          </a:prstGeom>
          <a:solidFill>
            <a:srgbClr val="182234"/>
          </a:solidFill>
          <a:ln w="12700">
            <a:solidFill>
              <a:srgbClr val="4FE0D2"/>
            </a:solidFill>
            <a:prstDash val="solid"/>
          </a:ln>
        </p:spPr>
      </p:sp>
      <p:sp>
        <p:nvSpPr>
          <p:cNvPr id="10" name="Text 7"/>
          <p:cNvSpPr txBox="1"/>
          <p:nvPr/>
        </p:nvSpPr>
        <p:spPr>
          <a:xfrm>
            <a:off x="841248" y="2377440"/>
            <a:ext cx="347472" cy="347472"/>
          </a:xfrm>
          <a:prstGeom prst="rect">
            <a:avLst/>
          </a:prstGeom>
          <a:noFill/>
          <a:ln/>
        </p:spPr>
        <p:txBody>
          <a:bodyPr wrap="square" lIns="0" tIns="0" rIns="0" bIns="0" rtlCol="0" anchor="ctr"/>
          <a:lstStyle/>
          <a:p>
            <a:pPr marL="0" indent="0" algn="ctr">
              <a:buNone/>
            </a:pPr>
            <a:r>
              <a:rPr lang="en-US" sz="1350" b="1" dirty="0">
                <a:solidFill>
                  <a:srgbClr val="4FE0D2"/>
                </a:solidFill>
                <a:latin typeface="Calibri" pitchFamily="34" charset="0"/>
                <a:ea typeface="Calibri" pitchFamily="34" charset="-122"/>
                <a:cs typeface="Calibri" pitchFamily="34" charset="-120"/>
              </a:rPr>
              <a:t>1</a:t>
            </a:r>
            <a:endParaRPr lang="en-US" sz="1350" dirty="0"/>
          </a:p>
        </p:txBody>
      </p:sp>
      <p:sp>
        <p:nvSpPr>
          <p:cNvPr id="11" name="Text 8"/>
          <p:cNvSpPr txBox="1"/>
          <p:nvPr/>
        </p:nvSpPr>
        <p:spPr>
          <a:xfrm>
            <a:off x="859536" y="2816352"/>
            <a:ext cx="2151812" cy="502920"/>
          </a:xfrm>
          <a:prstGeom prst="rect">
            <a:avLst/>
          </a:prstGeom>
          <a:noFill/>
          <a:ln/>
        </p:spPr>
        <p:txBody>
          <a:bodyPr wrap="square" lIns="0" tIns="0" rIns="0" bIns="0" rtlCol="0" anchor="ctr"/>
          <a:lstStyle/>
          <a:p>
            <a:pPr marL="0" indent="0">
              <a:lnSpc>
                <a:spcPts val="1650"/>
              </a:lnSpc>
              <a:buNone/>
            </a:pPr>
            <a:r>
              <a:rPr lang="en-US" sz="1450" b="1" dirty="0">
                <a:solidFill>
                  <a:srgbClr val="F3F6FA"/>
                </a:solidFill>
                <a:latin typeface="Calibri" pitchFamily="34" charset="0"/>
                <a:ea typeface="Calibri" pitchFamily="34" charset="-122"/>
                <a:cs typeface="Calibri" pitchFamily="34" charset="-120"/>
              </a:rPr>
              <a:t>Acquire</a:t>
            </a:r>
            <a:endParaRPr lang="en-US" sz="1450" dirty="0"/>
          </a:p>
        </p:txBody>
      </p:sp>
      <p:sp>
        <p:nvSpPr>
          <p:cNvPr id="12" name="Text 9"/>
          <p:cNvSpPr txBox="1"/>
          <p:nvPr/>
        </p:nvSpPr>
        <p:spPr>
          <a:xfrm>
            <a:off x="859536" y="3182112"/>
            <a:ext cx="2151812" cy="731520"/>
          </a:xfrm>
          <a:prstGeom prst="rect">
            <a:avLst/>
          </a:prstGeom>
          <a:noFill/>
          <a:ln/>
        </p:spPr>
        <p:txBody>
          <a:bodyPr wrap="square" lIns="0" tIns="0" rIns="0" bIns="0" rtlCol="0" anchor="ctr"/>
          <a:lstStyle/>
          <a:p>
            <a:pPr marL="0" indent="0">
              <a:lnSpc>
                <a:spcPts val="1400"/>
              </a:lnSpc>
              <a:buNone/>
            </a:pPr>
            <a:r>
              <a:rPr lang="en-US" sz="1100" dirty="0">
                <a:solidFill>
                  <a:srgbClr val="8C9AB2"/>
                </a:solidFill>
                <a:latin typeface="Calibri" pitchFamily="34" charset="0"/>
                <a:ea typeface="Calibri" pitchFamily="34" charset="-122"/>
                <a:cs typeface="Calibri" pitchFamily="34" charset="-120"/>
              </a:rPr>
              <a:t>Drag the ratio 100%→5%; switch strategy at a fixed ratio.</a:t>
            </a:r>
            <a:endParaRPr lang="en-US" sz="1100" dirty="0"/>
          </a:p>
        </p:txBody>
      </p:sp>
      <p:sp>
        <p:nvSpPr>
          <p:cNvPr id="13" name="Shape 10"/>
          <p:cNvSpPr/>
          <p:nvPr/>
        </p:nvSpPr>
        <p:spPr>
          <a:xfrm>
            <a:off x="3431972" y="2194560"/>
            <a:ext cx="2554148" cy="1783080"/>
          </a:xfrm>
          <a:prstGeom prst="roundRect">
            <a:avLst>
              <a:gd name="adj" fmla="val 5128"/>
            </a:avLst>
          </a:prstGeom>
          <a:solidFill>
            <a:srgbClr val="121A28"/>
          </a:solidFill>
          <a:ln w="12700">
            <a:solidFill>
              <a:srgbClr val="263349"/>
            </a:solidFill>
            <a:prstDash val="solid"/>
          </a:ln>
        </p:spPr>
      </p:sp>
      <p:sp>
        <p:nvSpPr>
          <p:cNvPr id="14" name="Shape 11"/>
          <p:cNvSpPr/>
          <p:nvPr/>
        </p:nvSpPr>
        <p:spPr>
          <a:xfrm>
            <a:off x="3614852" y="2377440"/>
            <a:ext cx="347472" cy="347472"/>
          </a:xfrm>
          <a:prstGeom prst="ellipse">
            <a:avLst/>
          </a:prstGeom>
          <a:solidFill>
            <a:srgbClr val="182234"/>
          </a:solidFill>
          <a:ln w="12700">
            <a:solidFill>
              <a:srgbClr val="4FE0D2"/>
            </a:solidFill>
            <a:prstDash val="solid"/>
          </a:ln>
        </p:spPr>
      </p:sp>
      <p:sp>
        <p:nvSpPr>
          <p:cNvPr id="15" name="Text 12"/>
          <p:cNvSpPr txBox="1"/>
          <p:nvPr/>
        </p:nvSpPr>
        <p:spPr>
          <a:xfrm>
            <a:off x="3614852" y="2377440"/>
            <a:ext cx="347472" cy="347472"/>
          </a:xfrm>
          <a:prstGeom prst="rect">
            <a:avLst/>
          </a:prstGeom>
          <a:noFill/>
          <a:ln/>
        </p:spPr>
        <p:txBody>
          <a:bodyPr wrap="square" lIns="0" tIns="0" rIns="0" bIns="0" rtlCol="0" anchor="ctr"/>
          <a:lstStyle/>
          <a:p>
            <a:pPr marL="0" indent="0" algn="ctr">
              <a:buNone/>
            </a:pPr>
            <a:r>
              <a:rPr lang="en-US" sz="1350" b="1" dirty="0">
                <a:solidFill>
                  <a:srgbClr val="4FE0D2"/>
                </a:solidFill>
                <a:latin typeface="Calibri" pitchFamily="34" charset="0"/>
                <a:ea typeface="Calibri" pitchFamily="34" charset="-122"/>
                <a:cs typeface="Calibri" pitchFamily="34" charset="-120"/>
              </a:rPr>
              <a:t>2</a:t>
            </a:r>
            <a:endParaRPr lang="en-US" sz="1350" dirty="0"/>
          </a:p>
        </p:txBody>
      </p:sp>
      <p:sp>
        <p:nvSpPr>
          <p:cNvPr id="16" name="Text 13"/>
          <p:cNvSpPr txBox="1"/>
          <p:nvPr/>
        </p:nvSpPr>
        <p:spPr>
          <a:xfrm>
            <a:off x="3633140" y="2816352"/>
            <a:ext cx="2151812" cy="502920"/>
          </a:xfrm>
          <a:prstGeom prst="rect">
            <a:avLst/>
          </a:prstGeom>
          <a:noFill/>
          <a:ln/>
        </p:spPr>
        <p:txBody>
          <a:bodyPr wrap="square" lIns="0" tIns="0" rIns="0" bIns="0" rtlCol="0" anchor="ctr"/>
          <a:lstStyle/>
          <a:p>
            <a:pPr marL="0" indent="0">
              <a:lnSpc>
                <a:spcPts val="1650"/>
              </a:lnSpc>
              <a:buNone/>
            </a:pPr>
            <a:r>
              <a:rPr lang="en-US" sz="1450" b="1" dirty="0">
                <a:solidFill>
                  <a:srgbClr val="F3F6FA"/>
                </a:solidFill>
                <a:latin typeface="Calibri" pitchFamily="34" charset="0"/>
                <a:ea typeface="Calibri" pitchFamily="34" charset="-122"/>
                <a:cs typeface="Calibri" pitchFamily="34" charset="-120"/>
              </a:rPr>
              <a:t>Centre vs Edges</a:t>
            </a:r>
            <a:endParaRPr lang="en-US" sz="1450" dirty="0"/>
          </a:p>
        </p:txBody>
      </p:sp>
      <p:sp>
        <p:nvSpPr>
          <p:cNvPr id="17" name="Text 14"/>
          <p:cNvSpPr txBox="1"/>
          <p:nvPr/>
        </p:nvSpPr>
        <p:spPr>
          <a:xfrm>
            <a:off x="3633140" y="3328416"/>
            <a:ext cx="2151812" cy="731520"/>
          </a:xfrm>
          <a:prstGeom prst="rect">
            <a:avLst/>
          </a:prstGeom>
          <a:noFill/>
          <a:ln/>
        </p:spPr>
        <p:txBody>
          <a:bodyPr wrap="square" lIns="0" tIns="0" rIns="0" bIns="0" rtlCol="0" anchor="ctr"/>
          <a:lstStyle/>
          <a:p>
            <a:pPr marL="0" indent="0">
              <a:lnSpc>
                <a:spcPts val="1400"/>
              </a:lnSpc>
              <a:buNone/>
            </a:pPr>
            <a:r>
              <a:rPr lang="en-US" sz="1100" dirty="0">
                <a:solidFill>
                  <a:srgbClr val="8C9AB2"/>
                </a:solidFill>
                <a:latin typeface="Calibri" pitchFamily="34" charset="0"/>
                <a:ea typeface="Calibri" pitchFamily="34" charset="-122"/>
                <a:cs typeface="Calibri" pitchFamily="34" charset="-120"/>
              </a:rPr>
              <a:t>Low-pass vs high-pass on one budget; compare mean brightness.</a:t>
            </a:r>
            <a:endParaRPr lang="en-US" sz="1100" dirty="0"/>
          </a:p>
        </p:txBody>
      </p:sp>
      <p:sp>
        <p:nvSpPr>
          <p:cNvPr id="18" name="Shape 15"/>
          <p:cNvSpPr/>
          <p:nvPr/>
        </p:nvSpPr>
        <p:spPr>
          <a:xfrm>
            <a:off x="6205576" y="2194560"/>
            <a:ext cx="2554148" cy="1783080"/>
          </a:xfrm>
          <a:prstGeom prst="roundRect">
            <a:avLst>
              <a:gd name="adj" fmla="val 5128"/>
            </a:avLst>
          </a:prstGeom>
          <a:solidFill>
            <a:srgbClr val="121A28"/>
          </a:solidFill>
          <a:ln w="12700">
            <a:solidFill>
              <a:srgbClr val="263349"/>
            </a:solidFill>
            <a:prstDash val="solid"/>
          </a:ln>
        </p:spPr>
      </p:sp>
      <p:sp>
        <p:nvSpPr>
          <p:cNvPr id="19" name="Shape 16"/>
          <p:cNvSpPr/>
          <p:nvPr/>
        </p:nvSpPr>
        <p:spPr>
          <a:xfrm>
            <a:off x="6388456" y="2377440"/>
            <a:ext cx="347472" cy="347472"/>
          </a:xfrm>
          <a:prstGeom prst="ellipse">
            <a:avLst/>
          </a:prstGeom>
          <a:solidFill>
            <a:srgbClr val="182234"/>
          </a:solidFill>
          <a:ln w="12700">
            <a:solidFill>
              <a:srgbClr val="4FE0D2"/>
            </a:solidFill>
            <a:prstDash val="solid"/>
          </a:ln>
        </p:spPr>
      </p:sp>
      <p:sp>
        <p:nvSpPr>
          <p:cNvPr id="20" name="Text 17"/>
          <p:cNvSpPr txBox="1"/>
          <p:nvPr/>
        </p:nvSpPr>
        <p:spPr>
          <a:xfrm>
            <a:off x="6388456" y="2377440"/>
            <a:ext cx="347472" cy="347472"/>
          </a:xfrm>
          <a:prstGeom prst="rect">
            <a:avLst/>
          </a:prstGeom>
          <a:noFill/>
          <a:ln/>
        </p:spPr>
        <p:txBody>
          <a:bodyPr wrap="square" lIns="0" tIns="0" rIns="0" bIns="0" rtlCol="0" anchor="ctr"/>
          <a:lstStyle/>
          <a:p>
            <a:pPr marL="0" indent="0" algn="ctr">
              <a:buNone/>
            </a:pPr>
            <a:r>
              <a:rPr lang="en-US" sz="1350" b="1" dirty="0">
                <a:solidFill>
                  <a:srgbClr val="4FE0D2"/>
                </a:solidFill>
                <a:latin typeface="Calibri" pitchFamily="34" charset="0"/>
                <a:ea typeface="Calibri" pitchFamily="34" charset="-122"/>
                <a:cs typeface="Calibri" pitchFamily="34" charset="-120"/>
              </a:rPr>
              <a:t>3</a:t>
            </a:r>
            <a:endParaRPr lang="en-US" sz="1350" dirty="0"/>
          </a:p>
        </p:txBody>
      </p:sp>
      <p:sp>
        <p:nvSpPr>
          <p:cNvPr id="21" name="Text 18"/>
          <p:cNvSpPr txBox="1"/>
          <p:nvPr/>
        </p:nvSpPr>
        <p:spPr>
          <a:xfrm>
            <a:off x="6406744" y="2816352"/>
            <a:ext cx="2151812" cy="502920"/>
          </a:xfrm>
          <a:prstGeom prst="rect">
            <a:avLst/>
          </a:prstGeom>
          <a:noFill/>
          <a:ln/>
        </p:spPr>
        <p:txBody>
          <a:bodyPr wrap="square" lIns="0" tIns="0" rIns="0" bIns="0" rtlCol="0" anchor="ctr"/>
          <a:lstStyle/>
          <a:p>
            <a:pPr marL="0" indent="0">
              <a:lnSpc>
                <a:spcPts val="1650"/>
              </a:lnSpc>
              <a:buNone/>
            </a:pPr>
            <a:r>
              <a:rPr lang="en-US" sz="1450" b="1" dirty="0">
                <a:solidFill>
                  <a:srgbClr val="F3F6FA"/>
                </a:solidFill>
                <a:latin typeface="Calibri" pitchFamily="34" charset="0"/>
                <a:ea typeface="Calibri" pitchFamily="34" charset="-122"/>
                <a:cs typeface="Calibri" pitchFamily="34" charset="-120"/>
              </a:rPr>
              <a:t>Noise</a:t>
            </a:r>
            <a:endParaRPr lang="en-US" sz="1450" dirty="0"/>
          </a:p>
        </p:txBody>
      </p:sp>
      <p:sp>
        <p:nvSpPr>
          <p:cNvPr id="22" name="Text 19"/>
          <p:cNvSpPr txBox="1"/>
          <p:nvPr/>
        </p:nvSpPr>
        <p:spPr>
          <a:xfrm>
            <a:off x="6406744" y="3182112"/>
            <a:ext cx="2151812" cy="731520"/>
          </a:xfrm>
          <a:prstGeom prst="rect">
            <a:avLst/>
          </a:prstGeom>
          <a:noFill/>
          <a:ln/>
        </p:spPr>
        <p:txBody>
          <a:bodyPr wrap="square" lIns="0" tIns="0" rIns="0" bIns="0" rtlCol="0" anchor="ctr"/>
          <a:lstStyle/>
          <a:p>
            <a:pPr marL="0" indent="0">
              <a:lnSpc>
                <a:spcPts val="1400"/>
              </a:lnSpc>
              <a:buNone/>
            </a:pPr>
            <a:r>
              <a:rPr lang="en-US" sz="1100" dirty="0">
                <a:solidFill>
                  <a:srgbClr val="8C9AB2"/>
                </a:solidFill>
                <a:latin typeface="Calibri" pitchFamily="34" charset="0"/>
                <a:ea typeface="Calibri" pitchFamily="34" charset="-122"/>
                <a:cs typeface="Calibri" pitchFamily="34" charset="-120"/>
              </a:rPr>
              <a:t>Noise vs undersampling, SNR read back; wavelet denoiser + residual.</a:t>
            </a:r>
            <a:endParaRPr lang="en-US" sz="1100" dirty="0"/>
          </a:p>
        </p:txBody>
      </p:sp>
      <p:sp>
        <p:nvSpPr>
          <p:cNvPr id="23" name="Shape 20"/>
          <p:cNvSpPr/>
          <p:nvPr/>
        </p:nvSpPr>
        <p:spPr>
          <a:xfrm>
            <a:off x="8979179" y="2194560"/>
            <a:ext cx="2554148" cy="1783080"/>
          </a:xfrm>
          <a:prstGeom prst="roundRect">
            <a:avLst>
              <a:gd name="adj" fmla="val 5128"/>
            </a:avLst>
          </a:prstGeom>
          <a:solidFill>
            <a:srgbClr val="121A28"/>
          </a:solidFill>
          <a:ln w="12700">
            <a:solidFill>
              <a:srgbClr val="263349"/>
            </a:solidFill>
            <a:prstDash val="solid"/>
          </a:ln>
        </p:spPr>
      </p:sp>
      <p:sp>
        <p:nvSpPr>
          <p:cNvPr id="24" name="Shape 21"/>
          <p:cNvSpPr/>
          <p:nvPr/>
        </p:nvSpPr>
        <p:spPr>
          <a:xfrm>
            <a:off x="9162059" y="2377440"/>
            <a:ext cx="347472" cy="347472"/>
          </a:xfrm>
          <a:prstGeom prst="ellipse">
            <a:avLst/>
          </a:prstGeom>
          <a:solidFill>
            <a:srgbClr val="182234"/>
          </a:solidFill>
          <a:ln w="12700">
            <a:solidFill>
              <a:srgbClr val="4FE0D2"/>
            </a:solidFill>
            <a:prstDash val="solid"/>
          </a:ln>
        </p:spPr>
      </p:sp>
      <p:sp>
        <p:nvSpPr>
          <p:cNvPr id="25" name="Text 22"/>
          <p:cNvSpPr txBox="1"/>
          <p:nvPr/>
        </p:nvSpPr>
        <p:spPr>
          <a:xfrm>
            <a:off x="9162059" y="2377440"/>
            <a:ext cx="347472" cy="347472"/>
          </a:xfrm>
          <a:prstGeom prst="rect">
            <a:avLst/>
          </a:prstGeom>
          <a:noFill/>
          <a:ln/>
        </p:spPr>
        <p:txBody>
          <a:bodyPr wrap="square" lIns="0" tIns="0" rIns="0" bIns="0" rtlCol="0" anchor="ctr"/>
          <a:lstStyle/>
          <a:p>
            <a:pPr marL="0" indent="0" algn="ctr">
              <a:buNone/>
            </a:pPr>
            <a:r>
              <a:rPr lang="en-US" sz="1350" b="1" dirty="0">
                <a:solidFill>
                  <a:srgbClr val="4FE0D2"/>
                </a:solidFill>
                <a:latin typeface="Calibri" pitchFamily="34" charset="0"/>
                <a:ea typeface="Calibri" pitchFamily="34" charset="-122"/>
                <a:cs typeface="Calibri" pitchFamily="34" charset="-120"/>
              </a:rPr>
              <a:t>4</a:t>
            </a:r>
            <a:endParaRPr lang="en-US" sz="1350" dirty="0"/>
          </a:p>
        </p:txBody>
      </p:sp>
      <p:sp>
        <p:nvSpPr>
          <p:cNvPr id="26" name="Text 23"/>
          <p:cNvSpPr txBox="1"/>
          <p:nvPr/>
        </p:nvSpPr>
        <p:spPr>
          <a:xfrm>
            <a:off x="9180347" y="2816352"/>
            <a:ext cx="2151812" cy="502920"/>
          </a:xfrm>
          <a:prstGeom prst="rect">
            <a:avLst/>
          </a:prstGeom>
          <a:noFill/>
          <a:ln/>
        </p:spPr>
        <p:txBody>
          <a:bodyPr wrap="square" lIns="0" tIns="0" rIns="0" bIns="0" rtlCol="0" anchor="ctr"/>
          <a:lstStyle/>
          <a:p>
            <a:pPr marL="0" indent="0">
              <a:lnSpc>
                <a:spcPts val="1650"/>
              </a:lnSpc>
              <a:buNone/>
            </a:pPr>
            <a:r>
              <a:rPr lang="en-US" sz="1450" b="1" dirty="0">
                <a:solidFill>
                  <a:srgbClr val="F3F6FA"/>
                </a:solidFill>
                <a:latin typeface="Calibri" pitchFamily="34" charset="0"/>
                <a:ea typeface="Calibri" pitchFamily="34" charset="-122"/>
                <a:cs typeface="Calibri" pitchFamily="34" charset="-120"/>
              </a:rPr>
              <a:t>Compressed Sensing</a:t>
            </a:r>
            <a:endParaRPr lang="en-US" sz="1450" dirty="0"/>
          </a:p>
        </p:txBody>
      </p:sp>
      <p:sp>
        <p:nvSpPr>
          <p:cNvPr id="27" name="Text 24"/>
          <p:cNvSpPr txBox="1"/>
          <p:nvPr/>
        </p:nvSpPr>
        <p:spPr>
          <a:xfrm>
            <a:off x="9180347" y="3328416"/>
            <a:ext cx="2151812" cy="731520"/>
          </a:xfrm>
          <a:prstGeom prst="rect">
            <a:avLst/>
          </a:prstGeom>
          <a:noFill/>
          <a:ln/>
        </p:spPr>
        <p:txBody>
          <a:bodyPr wrap="square" lIns="0" tIns="0" rIns="0" bIns="0" rtlCol="0" anchor="ctr"/>
          <a:lstStyle/>
          <a:p>
            <a:pPr marL="0" indent="0">
              <a:lnSpc>
                <a:spcPts val="1400"/>
              </a:lnSpc>
              <a:buNone/>
            </a:pPr>
            <a:r>
              <a:rPr lang="en-US" sz="1100" dirty="0">
                <a:solidFill>
                  <a:srgbClr val="8C9AB2"/>
                </a:solidFill>
                <a:latin typeface="Calibri" pitchFamily="34" charset="0"/>
                <a:ea typeface="Calibri" pitchFamily="34" charset="-122"/>
                <a:cs typeface="Calibri" pitchFamily="34" charset="-120"/>
              </a:rPr>
              <a:t>Push to 16×; FISTA vs zero-fill with the convergence curve.</a:t>
            </a:r>
            <a:endParaRPr lang="en-US" sz="1100" dirty="0"/>
          </a:p>
        </p:txBody>
      </p:sp>
      <p:sp>
        <p:nvSpPr>
          <p:cNvPr id="28" name="Shape 25"/>
          <p:cNvSpPr/>
          <p:nvPr/>
        </p:nvSpPr>
        <p:spPr>
          <a:xfrm>
            <a:off x="658368" y="4178808"/>
            <a:ext cx="2554148" cy="1783080"/>
          </a:xfrm>
          <a:prstGeom prst="roundRect">
            <a:avLst>
              <a:gd name="adj" fmla="val 5128"/>
            </a:avLst>
          </a:prstGeom>
          <a:solidFill>
            <a:srgbClr val="121A28"/>
          </a:solidFill>
          <a:ln w="12700">
            <a:solidFill>
              <a:srgbClr val="263349"/>
            </a:solidFill>
            <a:prstDash val="solid"/>
          </a:ln>
        </p:spPr>
      </p:sp>
      <p:sp>
        <p:nvSpPr>
          <p:cNvPr id="29" name="Shape 26"/>
          <p:cNvSpPr/>
          <p:nvPr/>
        </p:nvSpPr>
        <p:spPr>
          <a:xfrm>
            <a:off x="841248" y="4361688"/>
            <a:ext cx="347472" cy="347472"/>
          </a:xfrm>
          <a:prstGeom prst="ellipse">
            <a:avLst/>
          </a:prstGeom>
          <a:solidFill>
            <a:srgbClr val="182234"/>
          </a:solidFill>
          <a:ln w="12700">
            <a:solidFill>
              <a:srgbClr val="4FE0D2"/>
            </a:solidFill>
            <a:prstDash val="solid"/>
          </a:ln>
        </p:spPr>
      </p:sp>
      <p:sp>
        <p:nvSpPr>
          <p:cNvPr id="30" name="Text 27"/>
          <p:cNvSpPr txBox="1"/>
          <p:nvPr/>
        </p:nvSpPr>
        <p:spPr>
          <a:xfrm>
            <a:off x="841248" y="4361688"/>
            <a:ext cx="347472" cy="347472"/>
          </a:xfrm>
          <a:prstGeom prst="rect">
            <a:avLst/>
          </a:prstGeom>
          <a:noFill/>
          <a:ln/>
        </p:spPr>
        <p:txBody>
          <a:bodyPr wrap="square" lIns="0" tIns="0" rIns="0" bIns="0" rtlCol="0" anchor="ctr"/>
          <a:lstStyle/>
          <a:p>
            <a:pPr marL="0" indent="0" algn="ctr">
              <a:buNone/>
            </a:pPr>
            <a:r>
              <a:rPr lang="en-US" sz="1350" b="1" dirty="0">
                <a:solidFill>
                  <a:srgbClr val="4FE0D2"/>
                </a:solidFill>
                <a:latin typeface="Calibri" pitchFamily="34" charset="0"/>
                <a:ea typeface="Calibri" pitchFamily="34" charset="-122"/>
                <a:cs typeface="Calibri" pitchFamily="34" charset="-120"/>
              </a:rPr>
              <a:t>5</a:t>
            </a:r>
            <a:endParaRPr lang="en-US" sz="1350" dirty="0"/>
          </a:p>
        </p:txBody>
      </p:sp>
      <p:sp>
        <p:nvSpPr>
          <p:cNvPr id="31" name="Text 28"/>
          <p:cNvSpPr txBox="1"/>
          <p:nvPr/>
        </p:nvSpPr>
        <p:spPr>
          <a:xfrm>
            <a:off x="859536" y="4800600"/>
            <a:ext cx="2151812" cy="502920"/>
          </a:xfrm>
          <a:prstGeom prst="rect">
            <a:avLst/>
          </a:prstGeom>
          <a:noFill/>
          <a:ln/>
        </p:spPr>
        <p:txBody>
          <a:bodyPr wrap="square" lIns="0" tIns="0" rIns="0" bIns="0" rtlCol="0" anchor="ctr"/>
          <a:lstStyle/>
          <a:p>
            <a:pPr marL="0" indent="0">
              <a:lnSpc>
                <a:spcPts val="1650"/>
              </a:lnSpc>
              <a:buNone/>
            </a:pPr>
            <a:r>
              <a:rPr lang="en-US" sz="1450" b="1" dirty="0">
                <a:solidFill>
                  <a:srgbClr val="F3F6FA"/>
                </a:solidFill>
                <a:latin typeface="Calibri" pitchFamily="34" charset="0"/>
                <a:ea typeface="Calibri" pitchFamily="34" charset="-122"/>
                <a:cs typeface="Calibri" pitchFamily="34" charset="-120"/>
              </a:rPr>
              <a:t>Sweep</a:t>
            </a:r>
            <a:endParaRPr lang="en-US" sz="1450" dirty="0"/>
          </a:p>
        </p:txBody>
      </p:sp>
      <p:sp>
        <p:nvSpPr>
          <p:cNvPr id="32" name="Text 29"/>
          <p:cNvSpPr txBox="1"/>
          <p:nvPr/>
        </p:nvSpPr>
        <p:spPr>
          <a:xfrm>
            <a:off x="859536" y="5166360"/>
            <a:ext cx="2151812" cy="731520"/>
          </a:xfrm>
          <a:prstGeom prst="rect">
            <a:avLst/>
          </a:prstGeom>
          <a:noFill/>
          <a:ln/>
        </p:spPr>
        <p:txBody>
          <a:bodyPr wrap="square" lIns="0" tIns="0" rIns="0" bIns="0" rtlCol="0" anchor="ctr"/>
          <a:lstStyle/>
          <a:p>
            <a:pPr marL="0" indent="0">
              <a:lnSpc>
                <a:spcPts val="1400"/>
              </a:lnSpc>
              <a:buNone/>
            </a:pPr>
            <a:r>
              <a:rPr lang="en-US" sz="1100" dirty="0">
                <a:solidFill>
                  <a:srgbClr val="8C9AB2"/>
                </a:solidFill>
                <a:latin typeface="Calibri" pitchFamily="34" charset="0"/>
                <a:ea typeface="Calibri" pitchFamily="34" charset="-122"/>
                <a:cs typeface="Calibri" pitchFamily="34" charset="-120"/>
              </a:rPr>
              <a:t>PSNR/SSIM vs sampling for every strategy; CSV download.</a:t>
            </a:r>
            <a:endParaRPr lang="en-US" sz="1100" dirty="0"/>
          </a:p>
        </p:txBody>
      </p:sp>
      <p:sp>
        <p:nvSpPr>
          <p:cNvPr id="33" name="Shape 30"/>
          <p:cNvSpPr/>
          <p:nvPr/>
        </p:nvSpPr>
        <p:spPr>
          <a:xfrm>
            <a:off x="3431972" y="4178808"/>
            <a:ext cx="2554148" cy="1783080"/>
          </a:xfrm>
          <a:prstGeom prst="roundRect">
            <a:avLst>
              <a:gd name="adj" fmla="val 5128"/>
            </a:avLst>
          </a:prstGeom>
          <a:solidFill>
            <a:srgbClr val="121A28"/>
          </a:solidFill>
          <a:ln w="12700">
            <a:solidFill>
              <a:srgbClr val="263349"/>
            </a:solidFill>
            <a:prstDash val="solid"/>
          </a:ln>
        </p:spPr>
      </p:sp>
      <p:sp>
        <p:nvSpPr>
          <p:cNvPr id="34" name="Shape 31"/>
          <p:cNvSpPr/>
          <p:nvPr/>
        </p:nvSpPr>
        <p:spPr>
          <a:xfrm>
            <a:off x="3614852" y="4361688"/>
            <a:ext cx="347472" cy="347472"/>
          </a:xfrm>
          <a:prstGeom prst="ellipse">
            <a:avLst/>
          </a:prstGeom>
          <a:solidFill>
            <a:srgbClr val="182234"/>
          </a:solidFill>
          <a:ln w="12700">
            <a:solidFill>
              <a:srgbClr val="4FE0D2"/>
            </a:solidFill>
            <a:prstDash val="solid"/>
          </a:ln>
        </p:spPr>
      </p:sp>
      <p:sp>
        <p:nvSpPr>
          <p:cNvPr id="35" name="Text 32"/>
          <p:cNvSpPr txBox="1"/>
          <p:nvPr/>
        </p:nvSpPr>
        <p:spPr>
          <a:xfrm>
            <a:off x="3614852" y="4361688"/>
            <a:ext cx="347472" cy="347472"/>
          </a:xfrm>
          <a:prstGeom prst="rect">
            <a:avLst/>
          </a:prstGeom>
          <a:noFill/>
          <a:ln/>
        </p:spPr>
        <p:txBody>
          <a:bodyPr wrap="square" lIns="0" tIns="0" rIns="0" bIns="0" rtlCol="0" anchor="ctr"/>
          <a:lstStyle/>
          <a:p>
            <a:pPr marL="0" indent="0" algn="ctr">
              <a:buNone/>
            </a:pPr>
            <a:r>
              <a:rPr lang="en-US" sz="1350" b="1" dirty="0">
                <a:solidFill>
                  <a:srgbClr val="4FE0D2"/>
                </a:solidFill>
                <a:latin typeface="Calibri" pitchFamily="34" charset="0"/>
                <a:ea typeface="Calibri" pitchFamily="34" charset="-122"/>
                <a:cs typeface="Calibri" pitchFamily="34" charset="-120"/>
              </a:rPr>
              <a:t>6</a:t>
            </a:r>
            <a:endParaRPr lang="en-US" sz="1350" dirty="0"/>
          </a:p>
        </p:txBody>
      </p:sp>
      <p:sp>
        <p:nvSpPr>
          <p:cNvPr id="36" name="Text 33"/>
          <p:cNvSpPr txBox="1"/>
          <p:nvPr/>
        </p:nvSpPr>
        <p:spPr>
          <a:xfrm>
            <a:off x="3633140" y="4800600"/>
            <a:ext cx="2151812" cy="502920"/>
          </a:xfrm>
          <a:prstGeom prst="rect">
            <a:avLst/>
          </a:prstGeom>
          <a:noFill/>
          <a:ln/>
        </p:spPr>
        <p:txBody>
          <a:bodyPr wrap="square" lIns="0" tIns="0" rIns="0" bIns="0" rtlCol="0" anchor="ctr"/>
          <a:lstStyle/>
          <a:p>
            <a:pPr marL="0" indent="0">
              <a:lnSpc>
                <a:spcPts val="1650"/>
              </a:lnSpc>
              <a:buNone/>
            </a:pPr>
            <a:r>
              <a:rPr lang="en-US" sz="1450" b="1" dirty="0">
                <a:solidFill>
                  <a:srgbClr val="F3F6FA"/>
                </a:solidFill>
                <a:latin typeface="Calibri" pitchFamily="34" charset="0"/>
                <a:ea typeface="Calibri" pitchFamily="34" charset="-122"/>
                <a:cs typeface="Calibri" pitchFamily="34" charset="-120"/>
              </a:rPr>
              <a:t>Motion</a:t>
            </a:r>
            <a:endParaRPr lang="en-US" sz="1450" dirty="0"/>
          </a:p>
        </p:txBody>
      </p:sp>
      <p:sp>
        <p:nvSpPr>
          <p:cNvPr id="37" name="Text 34"/>
          <p:cNvSpPr txBox="1"/>
          <p:nvPr/>
        </p:nvSpPr>
        <p:spPr>
          <a:xfrm>
            <a:off x="3633140" y="5166360"/>
            <a:ext cx="2151812" cy="731520"/>
          </a:xfrm>
          <a:prstGeom prst="rect">
            <a:avLst/>
          </a:prstGeom>
          <a:noFill/>
          <a:ln/>
        </p:spPr>
        <p:txBody>
          <a:bodyPr wrap="square" lIns="0" tIns="0" rIns="0" bIns="0" rtlCol="0" anchor="ctr"/>
          <a:lstStyle/>
          <a:p>
            <a:pPr marL="0" indent="0">
              <a:lnSpc>
                <a:spcPts val="1400"/>
              </a:lnSpc>
              <a:buNone/>
            </a:pPr>
            <a:r>
              <a:rPr lang="en-US" sz="1100" dirty="0">
                <a:solidFill>
                  <a:srgbClr val="8C9AB2"/>
                </a:solidFill>
                <a:latin typeface="Calibri" pitchFamily="34" charset="0"/>
                <a:ea typeface="Calibri" pitchFamily="34" charset="-122"/>
                <a:cs typeface="Calibri" pitchFamily="34" charset="-120"/>
              </a:rPr>
              <a:t>Jerk, drift, breathing; oracle and autofocus correction.</a:t>
            </a:r>
            <a:endParaRPr lang="en-US" sz="1100" dirty="0"/>
          </a:p>
        </p:txBody>
      </p:sp>
      <p:sp>
        <p:nvSpPr>
          <p:cNvPr id="38" name="Shape 35"/>
          <p:cNvSpPr/>
          <p:nvPr/>
        </p:nvSpPr>
        <p:spPr>
          <a:xfrm>
            <a:off x="6205576" y="4178808"/>
            <a:ext cx="2554148" cy="1783080"/>
          </a:xfrm>
          <a:prstGeom prst="roundRect">
            <a:avLst>
              <a:gd name="adj" fmla="val 5128"/>
            </a:avLst>
          </a:prstGeom>
          <a:solidFill>
            <a:srgbClr val="121A28"/>
          </a:solidFill>
          <a:ln w="12700">
            <a:solidFill>
              <a:srgbClr val="263349"/>
            </a:solidFill>
            <a:prstDash val="solid"/>
          </a:ln>
        </p:spPr>
      </p:sp>
      <p:sp>
        <p:nvSpPr>
          <p:cNvPr id="39" name="Shape 36"/>
          <p:cNvSpPr/>
          <p:nvPr/>
        </p:nvSpPr>
        <p:spPr>
          <a:xfrm>
            <a:off x="6388456" y="4361688"/>
            <a:ext cx="347472" cy="347472"/>
          </a:xfrm>
          <a:prstGeom prst="ellipse">
            <a:avLst/>
          </a:prstGeom>
          <a:solidFill>
            <a:srgbClr val="182234"/>
          </a:solidFill>
          <a:ln w="12700">
            <a:solidFill>
              <a:srgbClr val="4FE0D2"/>
            </a:solidFill>
            <a:prstDash val="solid"/>
          </a:ln>
        </p:spPr>
      </p:sp>
      <p:sp>
        <p:nvSpPr>
          <p:cNvPr id="40" name="Text 37"/>
          <p:cNvSpPr txBox="1"/>
          <p:nvPr/>
        </p:nvSpPr>
        <p:spPr>
          <a:xfrm>
            <a:off x="6388456" y="4361688"/>
            <a:ext cx="347472" cy="347472"/>
          </a:xfrm>
          <a:prstGeom prst="rect">
            <a:avLst/>
          </a:prstGeom>
          <a:noFill/>
          <a:ln/>
        </p:spPr>
        <p:txBody>
          <a:bodyPr wrap="square" lIns="0" tIns="0" rIns="0" bIns="0" rtlCol="0" anchor="ctr"/>
          <a:lstStyle/>
          <a:p>
            <a:pPr marL="0" indent="0" algn="ctr">
              <a:buNone/>
            </a:pPr>
            <a:r>
              <a:rPr lang="en-US" sz="1350" b="1" dirty="0">
                <a:solidFill>
                  <a:srgbClr val="4FE0D2"/>
                </a:solidFill>
                <a:latin typeface="Calibri" pitchFamily="34" charset="0"/>
                <a:ea typeface="Calibri" pitchFamily="34" charset="-122"/>
                <a:cs typeface="Calibri" pitchFamily="34" charset="-120"/>
              </a:rPr>
              <a:t>7</a:t>
            </a:r>
            <a:endParaRPr lang="en-US" sz="1350" dirty="0"/>
          </a:p>
        </p:txBody>
      </p:sp>
      <p:sp>
        <p:nvSpPr>
          <p:cNvPr id="41" name="Text 38"/>
          <p:cNvSpPr txBox="1"/>
          <p:nvPr/>
        </p:nvSpPr>
        <p:spPr>
          <a:xfrm>
            <a:off x="6406744" y="4800600"/>
            <a:ext cx="2151812" cy="502920"/>
          </a:xfrm>
          <a:prstGeom prst="rect">
            <a:avLst/>
          </a:prstGeom>
          <a:noFill/>
          <a:ln/>
        </p:spPr>
        <p:txBody>
          <a:bodyPr wrap="square" lIns="0" tIns="0" rIns="0" bIns="0" rtlCol="0" anchor="ctr"/>
          <a:lstStyle/>
          <a:p>
            <a:pPr marL="0" indent="0">
              <a:lnSpc>
                <a:spcPts val="1650"/>
              </a:lnSpc>
              <a:buNone/>
            </a:pPr>
            <a:r>
              <a:rPr lang="en-US" sz="1450" b="1" dirty="0">
                <a:solidFill>
                  <a:srgbClr val="F3F6FA"/>
                </a:solidFill>
                <a:latin typeface="Calibri" pitchFamily="34" charset="0"/>
                <a:ea typeface="Calibri" pitchFamily="34" charset="-122"/>
                <a:cs typeface="Calibri" pitchFamily="34" charset="-120"/>
              </a:rPr>
              <a:t>Reduced FOV</a:t>
            </a:r>
            <a:endParaRPr lang="en-US" sz="1450" dirty="0"/>
          </a:p>
        </p:txBody>
      </p:sp>
      <p:sp>
        <p:nvSpPr>
          <p:cNvPr id="42" name="Text 39"/>
          <p:cNvSpPr txBox="1"/>
          <p:nvPr/>
        </p:nvSpPr>
        <p:spPr>
          <a:xfrm>
            <a:off x="6406744" y="5166360"/>
            <a:ext cx="2151812" cy="731520"/>
          </a:xfrm>
          <a:prstGeom prst="rect">
            <a:avLst/>
          </a:prstGeom>
          <a:noFill/>
          <a:ln/>
        </p:spPr>
        <p:txBody>
          <a:bodyPr wrap="square" lIns="0" tIns="0" rIns="0" bIns="0" rtlCol="0" anchor="ctr"/>
          <a:lstStyle/>
          <a:p>
            <a:pPr marL="0" indent="0">
              <a:lnSpc>
                <a:spcPts val="1400"/>
              </a:lnSpc>
              <a:buNone/>
            </a:pPr>
            <a:r>
              <a:rPr lang="en-US" sz="1100" dirty="0">
                <a:solidFill>
                  <a:srgbClr val="8C9AB2"/>
                </a:solidFill>
                <a:latin typeface="Calibri" pitchFamily="34" charset="0"/>
                <a:ea typeface="Calibri" pitchFamily="34" charset="-122"/>
                <a:cs typeface="Calibri" pitchFamily="34" charset="-120"/>
              </a:rPr>
              <a:t>Delete a k-space quadrant, then excite the ROI and decimate.</a:t>
            </a:r>
            <a:endParaRPr lang="en-US" sz="1100" dirty="0"/>
          </a:p>
        </p:txBody>
      </p:sp>
      <p:sp>
        <p:nvSpPr>
          <p:cNvPr id="43" name="Shape 40"/>
          <p:cNvSpPr/>
          <p:nvPr/>
        </p:nvSpPr>
        <p:spPr>
          <a:xfrm>
            <a:off x="8979179" y="4178808"/>
            <a:ext cx="2554148" cy="1783080"/>
          </a:xfrm>
          <a:prstGeom prst="roundRect">
            <a:avLst>
              <a:gd name="adj" fmla="val 5128"/>
            </a:avLst>
          </a:prstGeom>
          <a:solidFill>
            <a:srgbClr val="121A28"/>
          </a:solidFill>
          <a:ln w="12700">
            <a:solidFill>
              <a:srgbClr val="263349"/>
            </a:solidFill>
            <a:prstDash val="solid"/>
          </a:ln>
        </p:spPr>
      </p:sp>
      <p:sp>
        <p:nvSpPr>
          <p:cNvPr id="44" name="Shape 41"/>
          <p:cNvSpPr/>
          <p:nvPr/>
        </p:nvSpPr>
        <p:spPr>
          <a:xfrm>
            <a:off x="9162059" y="4361688"/>
            <a:ext cx="347472" cy="347472"/>
          </a:xfrm>
          <a:prstGeom prst="ellipse">
            <a:avLst/>
          </a:prstGeom>
          <a:solidFill>
            <a:srgbClr val="182234"/>
          </a:solidFill>
          <a:ln w="12700">
            <a:solidFill>
              <a:srgbClr val="4FE0D2"/>
            </a:solidFill>
            <a:prstDash val="solid"/>
          </a:ln>
        </p:spPr>
      </p:sp>
      <p:sp>
        <p:nvSpPr>
          <p:cNvPr id="45" name="Text 42"/>
          <p:cNvSpPr txBox="1"/>
          <p:nvPr/>
        </p:nvSpPr>
        <p:spPr>
          <a:xfrm>
            <a:off x="9162059" y="4361688"/>
            <a:ext cx="347472" cy="347472"/>
          </a:xfrm>
          <a:prstGeom prst="rect">
            <a:avLst/>
          </a:prstGeom>
          <a:noFill/>
          <a:ln/>
        </p:spPr>
        <p:txBody>
          <a:bodyPr wrap="square" lIns="0" tIns="0" rIns="0" bIns="0" rtlCol="0" anchor="ctr"/>
          <a:lstStyle/>
          <a:p>
            <a:pPr marL="0" indent="0" algn="ctr">
              <a:buNone/>
            </a:pPr>
            <a:r>
              <a:rPr lang="en-US" sz="1350" b="1" dirty="0">
                <a:solidFill>
                  <a:srgbClr val="4FE0D2"/>
                </a:solidFill>
                <a:latin typeface="Calibri" pitchFamily="34" charset="0"/>
                <a:ea typeface="Calibri" pitchFamily="34" charset="-122"/>
                <a:cs typeface="Calibri" pitchFamily="34" charset="-120"/>
              </a:rPr>
              <a:t>8</a:t>
            </a:r>
            <a:endParaRPr lang="en-US" sz="1350" dirty="0"/>
          </a:p>
        </p:txBody>
      </p:sp>
      <p:sp>
        <p:nvSpPr>
          <p:cNvPr id="46" name="Text 43"/>
          <p:cNvSpPr txBox="1"/>
          <p:nvPr/>
        </p:nvSpPr>
        <p:spPr>
          <a:xfrm>
            <a:off x="9180347" y="4800600"/>
            <a:ext cx="2151812" cy="502920"/>
          </a:xfrm>
          <a:prstGeom prst="rect">
            <a:avLst/>
          </a:prstGeom>
          <a:noFill/>
          <a:ln/>
        </p:spPr>
        <p:txBody>
          <a:bodyPr wrap="square" lIns="0" tIns="0" rIns="0" bIns="0" rtlCol="0" anchor="ctr"/>
          <a:lstStyle/>
          <a:p>
            <a:pPr marL="0" indent="0">
              <a:lnSpc>
                <a:spcPts val="1650"/>
              </a:lnSpc>
              <a:buNone/>
            </a:pPr>
            <a:r>
              <a:rPr lang="en-US" sz="1450" b="1" dirty="0">
                <a:solidFill>
                  <a:srgbClr val="F3F6FA"/>
                </a:solidFill>
                <a:latin typeface="Calibri" pitchFamily="34" charset="0"/>
                <a:ea typeface="Calibri" pitchFamily="34" charset="-122"/>
                <a:cs typeface="Calibri" pitchFamily="34" charset="-120"/>
              </a:rPr>
              <a:t>Sample</a:t>
            </a:r>
            <a:endParaRPr lang="en-US" sz="1450" dirty="0"/>
          </a:p>
        </p:txBody>
      </p:sp>
      <p:sp>
        <p:nvSpPr>
          <p:cNvPr id="47" name="Text 44"/>
          <p:cNvSpPr txBox="1"/>
          <p:nvPr/>
        </p:nvSpPr>
        <p:spPr>
          <a:xfrm>
            <a:off x="9180347" y="5166360"/>
            <a:ext cx="2151812" cy="731520"/>
          </a:xfrm>
          <a:prstGeom prst="rect">
            <a:avLst/>
          </a:prstGeom>
          <a:noFill/>
          <a:ln/>
        </p:spPr>
        <p:txBody>
          <a:bodyPr wrap="square" lIns="0" tIns="0" rIns="0" bIns="0" rtlCol="0" anchor="ctr"/>
          <a:lstStyle/>
          <a:p>
            <a:pPr marL="0" indent="0">
              <a:lnSpc>
                <a:spcPts val="1400"/>
              </a:lnSpc>
              <a:buNone/>
            </a:pPr>
            <a:r>
              <a:rPr lang="en-US" sz="1100" dirty="0">
                <a:solidFill>
                  <a:srgbClr val="8C9AB2"/>
                </a:solidFill>
                <a:latin typeface="Calibri" pitchFamily="34" charset="0"/>
                <a:ea typeface="Calibri" pitchFamily="34" charset="-122"/>
                <a:cs typeface="Calibri" pitchFamily="34" charset="-120"/>
              </a:rPr>
              <a:t>Provenance, acquisition metadata, expert tumour mask.</a:t>
            </a:r>
            <a:endParaRPr lang="en-US" sz="1100" dirty="0"/>
          </a:p>
        </p:txBody>
      </p:sp>
      <p:sp>
        <p:nvSpPr>
          <p:cNvPr id="48" name="Text 45"/>
          <p:cNvSpPr txBox="1"/>
          <p:nvPr/>
        </p:nvSpPr>
        <p:spPr>
          <a:xfrm>
            <a:off x="658368" y="6071616"/>
            <a:ext cx="10874959" cy="274320"/>
          </a:xfrm>
          <a:prstGeom prst="rect">
            <a:avLst/>
          </a:prstGeom>
          <a:noFill/>
          <a:ln/>
        </p:spPr>
        <p:txBody>
          <a:bodyPr wrap="square" lIns="0" tIns="0" rIns="0" bIns="0" rtlCol="0" anchor="ctr"/>
          <a:lstStyle/>
          <a:p>
            <a:pPr marL="0" indent="0">
              <a:buNone/>
            </a:pPr>
            <a:r>
              <a:rPr lang="en-US" sz="1250" dirty="0">
                <a:solidFill>
                  <a:srgbClr val="2C8079"/>
                </a:solidFill>
                <a:latin typeface="Consolas" pitchFamily="34" charset="0"/>
                <a:ea typeface="Consolas" pitchFamily="34" charset="-122"/>
                <a:cs typeface="Consolas" pitchFamily="34" charset="-120"/>
              </a:rPr>
              <a:t>streamlit run app/streamlit_app.py   →   localhost:8501</a:t>
            </a:r>
            <a:endParaRPr lang="en-US" sz="1250" dirty="0"/>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80B12"/>
        </a:solidFill>
        <a:effectLst/>
      </p:bgPr>
    </p:bg>
    <p:spTree>
      <p:nvGrpSpPr>
        <p:cNvPr id="1" name=""/>
        <p:cNvGrpSpPr/>
        <p:nvPr/>
      </p:nvGrpSpPr>
      <p:grpSpPr>
        <a:xfrm>
          <a:off x="0" y="0"/>
          <a:ext cx="0" cy="0"/>
          <a:chOff x="0" y="0"/>
          <a:chExt cx="0" cy="0"/>
        </a:xfrm>
      </p:grpSpPr>
      <p:pic>
        <p:nvPicPr>
          <p:cNvPr id="2" name="Image 0" descr="/home/claude/deck/assets/bg_close.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58368" y="731520"/>
            <a:ext cx="10874959" cy="310896"/>
          </a:xfrm>
          <a:prstGeom prst="rect">
            <a:avLst/>
          </a:prstGeom>
          <a:noFill/>
          <a:ln/>
        </p:spPr>
        <p:txBody>
          <a:bodyPr wrap="square" lIns="0" tIns="0" rIns="0" bIns="0" rtlCol="0" anchor="ctr"/>
          <a:lstStyle/>
          <a:p>
            <a:pPr marL="0" indent="0">
              <a:buNone/>
            </a:pPr>
            <a:r>
              <a:rPr lang="en-US" sz="1400" b="1" kern="0" spc="300" dirty="0">
                <a:solidFill>
                  <a:srgbClr val="4FE0D2"/>
                </a:solidFill>
                <a:latin typeface="Calibri" pitchFamily="34" charset="0"/>
                <a:ea typeface="Calibri" pitchFamily="34" charset="-122"/>
                <a:cs typeface="Calibri" pitchFamily="34" charset="-120"/>
              </a:rPr>
              <a:t>CONCLUSION</a:t>
            </a:r>
            <a:endParaRPr lang="en-US" sz="1400" dirty="0"/>
          </a:p>
        </p:txBody>
      </p:sp>
      <p:sp>
        <p:nvSpPr>
          <p:cNvPr id="4" name="Text 1"/>
          <p:cNvSpPr txBox="1"/>
          <p:nvPr/>
        </p:nvSpPr>
        <p:spPr>
          <a:xfrm>
            <a:off x="658368" y="1097280"/>
            <a:ext cx="9960559" cy="1417320"/>
          </a:xfrm>
          <a:prstGeom prst="rect">
            <a:avLst/>
          </a:prstGeom>
          <a:noFill/>
          <a:ln/>
        </p:spPr>
        <p:txBody>
          <a:bodyPr wrap="square" lIns="0" tIns="0" rIns="0" bIns="0" rtlCol="0" anchor="ctr"/>
          <a:lstStyle/>
          <a:p>
            <a:pPr marL="0" indent="0">
              <a:lnSpc>
                <a:spcPts val="3900"/>
              </a:lnSpc>
              <a:buNone/>
            </a:pPr>
            <a:r>
              <a:rPr lang="en-US" sz="3300" b="1" dirty="0">
                <a:solidFill>
                  <a:srgbClr val="F3F6FA"/>
                </a:solidFill>
                <a:latin typeface="Cambria" pitchFamily="34" charset="0"/>
                <a:ea typeface="Cambria" pitchFamily="34" charset="-122"/>
                <a:cs typeface="Cambria" pitchFamily="34" charset="-120"/>
              </a:rPr>
              <a:t>Which part of k-space you skip matters</a:t>
            </a:r>
            <a:endParaRPr lang="en-US" sz="3300" dirty="0"/>
          </a:p>
          <a:p>
            <a:pPr marL="0" indent="0">
              <a:lnSpc>
                <a:spcPts val="3900"/>
              </a:lnSpc>
              <a:buNone/>
            </a:pPr>
            <a:r>
              <a:rPr lang="en-US" sz="3300" b="1" dirty="0">
                <a:solidFill>
                  <a:srgbClr val="F3F6FA"/>
                </a:solidFill>
                <a:latin typeface="Cambria" pitchFamily="34" charset="0"/>
                <a:ea typeface="Cambria" pitchFamily="34" charset="-122"/>
                <a:cs typeface="Cambria" pitchFamily="34" charset="-120"/>
              </a:rPr>
              <a:t>as much as how much you skip.</a:t>
            </a:r>
            <a:endParaRPr lang="en-US" sz="3300" dirty="0"/>
          </a:p>
        </p:txBody>
      </p:sp>
      <p:sp>
        <p:nvSpPr>
          <p:cNvPr id="5" name="Shape 2"/>
          <p:cNvSpPr/>
          <p:nvPr/>
        </p:nvSpPr>
        <p:spPr>
          <a:xfrm>
            <a:off x="658368" y="2788920"/>
            <a:ext cx="3429914" cy="1920240"/>
          </a:xfrm>
          <a:prstGeom prst="roundRect">
            <a:avLst>
              <a:gd name="adj" fmla="val 4762"/>
            </a:avLst>
          </a:prstGeom>
          <a:solidFill>
            <a:srgbClr val="0E141F"/>
          </a:solidFill>
          <a:ln w="12700">
            <a:solidFill>
              <a:srgbClr val="263349"/>
            </a:solidFill>
            <a:prstDash val="solid"/>
          </a:ln>
        </p:spPr>
      </p:sp>
      <p:sp>
        <p:nvSpPr>
          <p:cNvPr id="6" name="Text 3"/>
          <p:cNvSpPr txBox="1"/>
          <p:nvPr/>
        </p:nvSpPr>
        <p:spPr>
          <a:xfrm>
            <a:off x="877824" y="2971800"/>
            <a:ext cx="2991002" cy="502920"/>
          </a:xfrm>
          <a:prstGeom prst="rect">
            <a:avLst/>
          </a:prstGeom>
          <a:noFill/>
          <a:ln/>
        </p:spPr>
        <p:txBody>
          <a:bodyPr wrap="square" lIns="0" tIns="0" rIns="0" bIns="0" rtlCol="0" anchor="ctr"/>
          <a:lstStyle/>
          <a:p>
            <a:pPr marL="0" indent="0">
              <a:buNone/>
            </a:pPr>
            <a:r>
              <a:rPr lang="en-US" sz="2700" b="1" dirty="0">
                <a:solidFill>
                  <a:srgbClr val="4FE0D2"/>
                </a:solidFill>
                <a:latin typeface="Cambria" pitchFamily="34" charset="0"/>
                <a:ea typeface="Cambria" pitchFamily="34" charset="-122"/>
                <a:cs typeface="Cambria" pitchFamily="34" charset="-120"/>
              </a:rPr>
              <a:t>92.6%</a:t>
            </a:r>
            <a:endParaRPr lang="en-US" sz="2700" dirty="0"/>
          </a:p>
        </p:txBody>
      </p:sp>
      <p:sp>
        <p:nvSpPr>
          <p:cNvPr id="7" name="Text 4"/>
          <p:cNvSpPr txBox="1"/>
          <p:nvPr/>
        </p:nvSpPr>
        <p:spPr>
          <a:xfrm>
            <a:off x="877824" y="3502152"/>
            <a:ext cx="2991002" cy="320040"/>
          </a:xfrm>
          <a:prstGeom prst="rect">
            <a:avLst/>
          </a:prstGeom>
          <a:noFill/>
          <a:ln/>
        </p:spPr>
        <p:txBody>
          <a:bodyPr wrap="square" lIns="0" tIns="0" rIns="0" bIns="0" rtlCol="0" anchor="ctr"/>
          <a:lstStyle/>
          <a:p>
            <a:pPr marL="0" indent="0">
              <a:buNone/>
            </a:pPr>
            <a:r>
              <a:rPr lang="en-US" sz="1500" b="1" dirty="0">
                <a:solidFill>
                  <a:srgbClr val="F3F6FA"/>
                </a:solidFill>
                <a:latin typeface="Calibri" pitchFamily="34" charset="0"/>
                <a:ea typeface="Calibri" pitchFamily="34" charset="-122"/>
                <a:cs typeface="Calibri" pitchFamily="34" charset="-120"/>
              </a:rPr>
              <a:t>Protect the centre.</a:t>
            </a:r>
            <a:endParaRPr lang="en-US" sz="1500" dirty="0"/>
          </a:p>
        </p:txBody>
      </p:sp>
      <p:sp>
        <p:nvSpPr>
          <p:cNvPr id="8" name="Text 5"/>
          <p:cNvSpPr txBox="1"/>
          <p:nvPr/>
        </p:nvSpPr>
        <p:spPr>
          <a:xfrm>
            <a:off x="877824" y="3849624"/>
            <a:ext cx="2991002" cy="777240"/>
          </a:xfrm>
          <a:prstGeom prst="rect">
            <a:avLst/>
          </a:prstGeom>
          <a:noFill/>
          <a:ln/>
        </p:spPr>
        <p:txBody>
          <a:bodyPr wrap="square" lIns="0" tIns="0" rIns="0" bIns="0" rtlCol="0" anchor="ctr"/>
          <a:lstStyle/>
          <a:p>
            <a:pPr marL="0" indent="0">
              <a:lnSpc>
                <a:spcPts val="1600"/>
              </a:lnSpc>
              <a:buNone/>
            </a:pPr>
            <a:r>
              <a:rPr lang="en-US" sz="1250" dirty="0">
                <a:solidFill>
                  <a:srgbClr val="8C9AB2"/>
                </a:solidFill>
                <a:latin typeface="Calibri" pitchFamily="34" charset="0"/>
                <a:ea typeface="Calibri" pitchFamily="34" charset="-122"/>
                <a:cs typeface="Calibri" pitchFamily="34" charset="-120"/>
              </a:rPr>
              <a:t>That much energy lives there — random sampling beats regular skipping.</a:t>
            </a:r>
            <a:endParaRPr lang="en-US" sz="1250" dirty="0"/>
          </a:p>
        </p:txBody>
      </p:sp>
      <p:sp>
        <p:nvSpPr>
          <p:cNvPr id="9" name="Shape 6"/>
          <p:cNvSpPr/>
          <p:nvPr/>
        </p:nvSpPr>
        <p:spPr>
          <a:xfrm>
            <a:off x="4380890" y="2788920"/>
            <a:ext cx="3429914" cy="1920240"/>
          </a:xfrm>
          <a:prstGeom prst="roundRect">
            <a:avLst>
              <a:gd name="adj" fmla="val 4762"/>
            </a:avLst>
          </a:prstGeom>
          <a:solidFill>
            <a:srgbClr val="0E141F"/>
          </a:solidFill>
          <a:ln w="12700">
            <a:solidFill>
              <a:srgbClr val="263349"/>
            </a:solidFill>
            <a:prstDash val="solid"/>
          </a:ln>
        </p:spPr>
      </p:sp>
      <p:sp>
        <p:nvSpPr>
          <p:cNvPr id="10" name="Text 7"/>
          <p:cNvSpPr txBox="1"/>
          <p:nvPr/>
        </p:nvSpPr>
        <p:spPr>
          <a:xfrm>
            <a:off x="4600346" y="2971800"/>
            <a:ext cx="2991002" cy="502920"/>
          </a:xfrm>
          <a:prstGeom prst="rect">
            <a:avLst/>
          </a:prstGeom>
          <a:noFill/>
          <a:ln/>
        </p:spPr>
        <p:txBody>
          <a:bodyPr wrap="square" lIns="0" tIns="0" rIns="0" bIns="0" rtlCol="0" anchor="ctr"/>
          <a:lstStyle/>
          <a:p>
            <a:pPr marL="0" indent="0">
              <a:buNone/>
            </a:pPr>
            <a:r>
              <a:rPr lang="en-US" sz="2700" b="1" dirty="0">
                <a:solidFill>
                  <a:srgbClr val="4FE0D2"/>
                </a:solidFill>
                <a:latin typeface="Cambria" pitchFamily="34" charset="0"/>
                <a:ea typeface="Cambria" pitchFamily="34" charset="-122"/>
                <a:cs typeface="Cambria" pitchFamily="34" charset="-120"/>
              </a:rPr>
              <a:t>+2.00 dB</a:t>
            </a:r>
            <a:endParaRPr lang="en-US" sz="2700" dirty="0"/>
          </a:p>
        </p:txBody>
      </p:sp>
      <p:sp>
        <p:nvSpPr>
          <p:cNvPr id="11" name="Text 8"/>
          <p:cNvSpPr txBox="1"/>
          <p:nvPr/>
        </p:nvSpPr>
        <p:spPr>
          <a:xfrm>
            <a:off x="4600346" y="3502152"/>
            <a:ext cx="2991002" cy="320040"/>
          </a:xfrm>
          <a:prstGeom prst="rect">
            <a:avLst/>
          </a:prstGeom>
          <a:noFill/>
          <a:ln/>
        </p:spPr>
        <p:txBody>
          <a:bodyPr wrap="square" lIns="0" tIns="0" rIns="0" bIns="0" rtlCol="0" anchor="ctr"/>
          <a:lstStyle/>
          <a:p>
            <a:pPr marL="0" indent="0">
              <a:buNone/>
            </a:pPr>
            <a:r>
              <a:rPr lang="en-US" sz="1500" b="1" dirty="0">
                <a:solidFill>
                  <a:srgbClr val="F3F6FA"/>
                </a:solidFill>
                <a:latin typeface="Calibri" pitchFamily="34" charset="0"/>
                <a:ea typeface="Calibri" pitchFamily="34" charset="-122"/>
                <a:cs typeface="Calibri" pitchFamily="34" charset="-120"/>
              </a:rPr>
              <a:t>Guess better.</a:t>
            </a:r>
            <a:endParaRPr lang="en-US" sz="1500" dirty="0"/>
          </a:p>
        </p:txBody>
      </p:sp>
      <p:sp>
        <p:nvSpPr>
          <p:cNvPr id="12" name="Text 9"/>
          <p:cNvSpPr txBox="1"/>
          <p:nvPr/>
        </p:nvSpPr>
        <p:spPr>
          <a:xfrm>
            <a:off x="4600346" y="3849624"/>
            <a:ext cx="2991002" cy="777240"/>
          </a:xfrm>
          <a:prstGeom prst="rect">
            <a:avLst/>
          </a:prstGeom>
          <a:noFill/>
          <a:ln/>
        </p:spPr>
        <p:txBody>
          <a:bodyPr wrap="square" lIns="0" tIns="0" rIns="0" bIns="0" rtlCol="0" anchor="ctr"/>
          <a:lstStyle/>
          <a:p>
            <a:pPr marL="0" indent="0">
              <a:lnSpc>
                <a:spcPts val="1600"/>
              </a:lnSpc>
              <a:buNone/>
            </a:pPr>
            <a:r>
              <a:rPr lang="en-US" sz="1250" dirty="0">
                <a:solidFill>
                  <a:srgbClr val="8C9AB2"/>
                </a:solidFill>
                <a:latin typeface="Calibri" pitchFamily="34" charset="0"/>
                <a:ea typeface="Calibri" pitchFamily="34" charset="-122"/>
                <a:cs typeface="Calibri" pitchFamily="34" charset="-120"/>
              </a:rPr>
              <a:t>Compressed sensing recovers it at 16× from the exact same measurements.</a:t>
            </a:r>
            <a:endParaRPr lang="en-US" sz="1250" dirty="0"/>
          </a:p>
        </p:txBody>
      </p:sp>
      <p:sp>
        <p:nvSpPr>
          <p:cNvPr id="13" name="Shape 10"/>
          <p:cNvSpPr/>
          <p:nvPr/>
        </p:nvSpPr>
        <p:spPr>
          <a:xfrm>
            <a:off x="8103413" y="2788920"/>
            <a:ext cx="3429914" cy="1920240"/>
          </a:xfrm>
          <a:prstGeom prst="roundRect">
            <a:avLst>
              <a:gd name="adj" fmla="val 4762"/>
            </a:avLst>
          </a:prstGeom>
          <a:solidFill>
            <a:srgbClr val="0E141F"/>
          </a:solidFill>
          <a:ln w="12700">
            <a:solidFill>
              <a:srgbClr val="263349"/>
            </a:solidFill>
            <a:prstDash val="solid"/>
          </a:ln>
        </p:spPr>
      </p:sp>
      <p:sp>
        <p:nvSpPr>
          <p:cNvPr id="14" name="Text 11"/>
          <p:cNvSpPr txBox="1"/>
          <p:nvPr/>
        </p:nvSpPr>
        <p:spPr>
          <a:xfrm>
            <a:off x="8322869" y="2971800"/>
            <a:ext cx="2991002" cy="502920"/>
          </a:xfrm>
          <a:prstGeom prst="rect">
            <a:avLst/>
          </a:prstGeom>
          <a:noFill/>
          <a:ln/>
        </p:spPr>
        <p:txBody>
          <a:bodyPr wrap="square" lIns="0" tIns="0" rIns="0" bIns="0" rtlCol="0" anchor="ctr"/>
          <a:lstStyle/>
          <a:p>
            <a:pPr marL="0" indent="0">
              <a:buNone/>
            </a:pPr>
            <a:r>
              <a:rPr lang="en-US" sz="2700" b="1" dirty="0">
                <a:solidFill>
                  <a:srgbClr val="4FE0D2"/>
                </a:solidFill>
                <a:latin typeface="Cambria" pitchFamily="34" charset="0"/>
                <a:ea typeface="Cambria" pitchFamily="34" charset="-122"/>
                <a:cs typeface="Cambria" pitchFamily="34" charset="-120"/>
              </a:rPr>
              <a:t>Exact</a:t>
            </a:r>
            <a:endParaRPr lang="en-US" sz="2700" dirty="0"/>
          </a:p>
        </p:txBody>
      </p:sp>
      <p:sp>
        <p:nvSpPr>
          <p:cNvPr id="15" name="Text 12"/>
          <p:cNvSpPr txBox="1"/>
          <p:nvPr/>
        </p:nvSpPr>
        <p:spPr>
          <a:xfrm>
            <a:off x="8322869" y="3502152"/>
            <a:ext cx="2991002" cy="320040"/>
          </a:xfrm>
          <a:prstGeom prst="rect">
            <a:avLst/>
          </a:prstGeom>
          <a:noFill/>
          <a:ln/>
        </p:spPr>
        <p:txBody>
          <a:bodyPr wrap="square" lIns="0" tIns="0" rIns="0" bIns="0" rtlCol="0" anchor="ctr"/>
          <a:lstStyle/>
          <a:p>
            <a:pPr marL="0" indent="0">
              <a:buNone/>
            </a:pPr>
            <a:r>
              <a:rPr lang="en-US" sz="1500" b="1" dirty="0">
                <a:solidFill>
                  <a:srgbClr val="F3F6FA"/>
                </a:solidFill>
                <a:latin typeface="Calibri" pitchFamily="34" charset="0"/>
                <a:ea typeface="Calibri" pitchFamily="34" charset="-122"/>
                <a:cs typeface="Calibri" pitchFamily="34" charset="-120"/>
              </a:rPr>
              <a:t>Respect the physics.</a:t>
            </a:r>
            <a:endParaRPr lang="en-US" sz="1500" dirty="0"/>
          </a:p>
        </p:txBody>
      </p:sp>
      <p:sp>
        <p:nvSpPr>
          <p:cNvPr id="16" name="Text 13"/>
          <p:cNvSpPr txBox="1"/>
          <p:nvPr/>
        </p:nvSpPr>
        <p:spPr>
          <a:xfrm>
            <a:off x="8322869" y="3849624"/>
            <a:ext cx="2991002" cy="777240"/>
          </a:xfrm>
          <a:prstGeom prst="rect">
            <a:avLst/>
          </a:prstGeom>
          <a:noFill/>
          <a:ln/>
        </p:spPr>
        <p:txBody>
          <a:bodyPr wrap="square" lIns="0" tIns="0" rIns="0" bIns="0" rtlCol="0" anchor="ctr"/>
          <a:lstStyle/>
          <a:p>
            <a:pPr marL="0" indent="0">
              <a:lnSpc>
                <a:spcPts val="1600"/>
              </a:lnSpc>
              <a:buNone/>
            </a:pPr>
            <a:r>
              <a:rPr lang="en-US" sz="1250" dirty="0">
                <a:solidFill>
                  <a:srgbClr val="8C9AB2"/>
                </a:solidFill>
                <a:latin typeface="Calibri" pitchFamily="34" charset="0"/>
                <a:ea typeface="Calibri" pitchFamily="34" charset="-122"/>
                <a:cs typeface="Calibri" pitchFamily="34" charset="-120"/>
              </a:rPr>
              <a:t>Reduced FOV is exact; without RF suppression, it collapses.</a:t>
            </a:r>
            <a:endParaRPr lang="en-US" sz="1250" dirty="0"/>
          </a:p>
        </p:txBody>
      </p:sp>
      <p:sp>
        <p:nvSpPr>
          <p:cNvPr id="17" name="Shape 14"/>
          <p:cNvSpPr/>
          <p:nvPr/>
        </p:nvSpPr>
        <p:spPr>
          <a:xfrm>
            <a:off x="658368" y="5230368"/>
            <a:ext cx="10874959" cy="0"/>
          </a:xfrm>
          <a:prstGeom prst="line">
            <a:avLst/>
          </a:prstGeom>
          <a:noFill/>
          <a:ln w="12700">
            <a:solidFill>
              <a:srgbClr val="263349"/>
            </a:solidFill>
            <a:prstDash val="solid"/>
          </a:ln>
        </p:spPr>
      </p:sp>
      <p:sp>
        <p:nvSpPr>
          <p:cNvPr id="18" name="Text 15"/>
          <p:cNvSpPr txBox="1"/>
          <p:nvPr/>
        </p:nvSpPr>
        <p:spPr>
          <a:xfrm>
            <a:off x="658368" y="5394960"/>
            <a:ext cx="5029200" cy="365760"/>
          </a:xfrm>
          <a:prstGeom prst="rect">
            <a:avLst/>
          </a:prstGeom>
          <a:noFill/>
          <a:ln/>
        </p:spPr>
        <p:txBody>
          <a:bodyPr wrap="square" lIns="0" tIns="0" rIns="0" bIns="0" rtlCol="0" anchor="ctr"/>
          <a:lstStyle/>
          <a:p>
            <a:pPr marL="0" indent="0">
              <a:buNone/>
            </a:pPr>
            <a:r>
              <a:rPr lang="en-US" sz="1900" b="1" dirty="0">
                <a:solidFill>
                  <a:srgbClr val="F3F6FA"/>
                </a:solidFill>
                <a:latin typeface="Cambria" pitchFamily="34" charset="0"/>
                <a:ea typeface="Cambria" pitchFamily="34" charset="-122"/>
                <a:cs typeface="Cambria" pitchFamily="34" charset="-120"/>
              </a:rPr>
              <a:t>Thank you. Questions?</a:t>
            </a:r>
            <a:endParaRPr lang="en-US" sz="1900" dirty="0"/>
          </a:p>
        </p:txBody>
      </p:sp>
      <p:sp>
        <p:nvSpPr>
          <p:cNvPr id="19" name="Text 16"/>
          <p:cNvSpPr txBox="1"/>
          <p:nvPr/>
        </p:nvSpPr>
        <p:spPr>
          <a:xfrm>
            <a:off x="658368" y="5852160"/>
            <a:ext cx="5029200" cy="274320"/>
          </a:xfrm>
          <a:prstGeom prst="rect">
            <a:avLst/>
          </a:prstGeom>
          <a:noFill/>
          <a:ln/>
        </p:spPr>
        <p:txBody>
          <a:bodyPr wrap="square" lIns="0" tIns="0" rIns="0" bIns="0" rtlCol="0" anchor="ctr"/>
          <a:lstStyle/>
          <a:p>
            <a:pPr marL="0" indent="0">
              <a:buNone/>
            </a:pPr>
            <a:r>
              <a:rPr lang="en-US" sz="1300" dirty="0">
                <a:solidFill>
                  <a:srgbClr val="8C9AB2"/>
                </a:solidFill>
                <a:latin typeface="Calibri" pitchFamily="34" charset="0"/>
                <a:ea typeface="Calibri" pitchFamily="34" charset="-122"/>
                <a:cs typeface="Calibri" pitchFamily="34" charset="-120"/>
              </a:rPr>
              <a:t>github.com/Rohan15035/Signal_Project</a:t>
            </a:r>
            <a:endParaRPr lang="en-US" sz="1300" dirty="0"/>
          </a:p>
        </p:txBody>
      </p:sp>
      <p:sp>
        <p:nvSpPr>
          <p:cNvPr id="20" name="Text 17"/>
          <p:cNvSpPr txBox="1"/>
          <p:nvPr/>
        </p:nvSpPr>
        <p:spPr>
          <a:xfrm>
            <a:off x="7327087" y="5394960"/>
            <a:ext cx="4206240" cy="274320"/>
          </a:xfrm>
          <a:prstGeom prst="rect">
            <a:avLst/>
          </a:prstGeom>
          <a:noFill/>
          <a:ln/>
        </p:spPr>
        <p:txBody>
          <a:bodyPr wrap="square" lIns="0" tIns="0" rIns="0" bIns="0" rtlCol="0" anchor="ctr"/>
          <a:lstStyle/>
          <a:p>
            <a:pPr marL="0" indent="0" algn="r">
              <a:buNone/>
            </a:pPr>
            <a:r>
              <a:rPr lang="en-US" sz="1250" dirty="0">
                <a:solidFill>
                  <a:srgbClr val="8C9AB2"/>
                </a:solidFill>
                <a:latin typeface="Calibri" pitchFamily="34" charset="0"/>
                <a:ea typeface="Calibri" pitchFamily="34" charset="-122"/>
                <a:cs typeface="Calibri" pitchFamily="34" charset="-120"/>
              </a:rPr>
              <a:t>Part One — Afif Siddique · 2305123</a:t>
            </a:r>
            <a:endParaRPr lang="en-US" sz="1250" dirty="0"/>
          </a:p>
        </p:txBody>
      </p:sp>
      <p:sp>
        <p:nvSpPr>
          <p:cNvPr id="21" name="Text 18"/>
          <p:cNvSpPr txBox="1"/>
          <p:nvPr/>
        </p:nvSpPr>
        <p:spPr>
          <a:xfrm>
            <a:off x="7327087" y="5687568"/>
            <a:ext cx="4206240" cy="274320"/>
          </a:xfrm>
          <a:prstGeom prst="rect">
            <a:avLst/>
          </a:prstGeom>
          <a:noFill/>
          <a:ln/>
        </p:spPr>
        <p:txBody>
          <a:bodyPr wrap="square" lIns="0" tIns="0" rIns="0" bIns="0" rtlCol="0" anchor="ctr"/>
          <a:lstStyle/>
          <a:p>
            <a:pPr marL="0" indent="0" algn="r">
              <a:buNone/>
            </a:pPr>
            <a:r>
              <a:rPr lang="en-US" sz="1250" dirty="0">
                <a:solidFill>
                  <a:srgbClr val="8C9AB2"/>
                </a:solidFill>
                <a:latin typeface="Calibri" pitchFamily="34" charset="0"/>
                <a:ea typeface="Calibri" pitchFamily="34" charset="-122"/>
                <a:cs typeface="Calibri" pitchFamily="34" charset="-120"/>
              </a:rPr>
              <a:t>Part Two — Shafnan Wasif · 2305126</a:t>
            </a:r>
            <a:endParaRPr lang="en-US" sz="1250" dirty="0"/>
          </a:p>
        </p:txBody>
      </p:sp>
      <p:sp>
        <p:nvSpPr>
          <p:cNvPr id="22" name="Text 19"/>
          <p:cNvSpPr txBox="1"/>
          <p:nvPr/>
        </p:nvSpPr>
        <p:spPr>
          <a:xfrm>
            <a:off x="7327087" y="5980176"/>
            <a:ext cx="4206240" cy="274320"/>
          </a:xfrm>
          <a:prstGeom prst="rect">
            <a:avLst/>
          </a:prstGeom>
          <a:noFill/>
          <a:ln/>
        </p:spPr>
        <p:txBody>
          <a:bodyPr wrap="square" lIns="0" tIns="0" rIns="0" bIns="0" rtlCol="0" anchor="ctr"/>
          <a:lstStyle/>
          <a:p>
            <a:pPr marL="0" indent="0" algn="r">
              <a:buNone/>
            </a:pPr>
            <a:r>
              <a:rPr lang="en-US" sz="1150" dirty="0">
                <a:solidFill>
                  <a:srgbClr val="62708A"/>
                </a:solidFill>
                <a:latin typeface="Calibri" pitchFamily="34" charset="0"/>
                <a:ea typeface="Calibri" pitchFamily="34" charset="-122"/>
                <a:cs typeface="Calibri" pitchFamily="34" charset="-120"/>
              </a:rPr>
              <a:t>CSE 220 · Signals and Systems · 2026</a:t>
            </a:r>
            <a:endParaRPr lang="en-US" sz="1150" dirty="0"/>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3513</Words>
  <Application>Microsoft Office PowerPoint</Application>
  <PresentationFormat>Widescreen</PresentationFormat>
  <Paragraphs>329</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2305123 - Afif Siddique</cp:lastModifiedBy>
  <cp:revision>2</cp:revision>
  <dcterms:created xsi:type="dcterms:W3CDTF">2026-09-25T18:18:49Z</dcterms:created>
  <dcterms:modified xsi:type="dcterms:W3CDTF">2026-09-27T19:12:56Z</dcterms:modified>
</cp:coreProperties>
</file>